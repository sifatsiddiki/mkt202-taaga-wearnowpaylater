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06" r:id="rId3"/>
    <p:sldId id="280" r:id="rId4"/>
    <p:sldId id="288" r:id="rId5"/>
    <p:sldId id="289" r:id="rId6"/>
    <p:sldId id="307" r:id="rId7"/>
    <p:sldId id="309" r:id="rId8"/>
    <p:sldId id="304" r:id="rId9"/>
    <p:sldId id="305" r:id="rId10"/>
    <p:sldId id="330" r:id="rId11"/>
    <p:sldId id="308" r:id="rId12"/>
    <p:sldId id="336" r:id="rId13"/>
    <p:sldId id="335" r:id="rId14"/>
    <p:sldId id="328" r:id="rId15"/>
    <p:sldId id="332" r:id="rId16"/>
    <p:sldId id="313" r:id="rId17"/>
    <p:sldId id="333" r:id="rId18"/>
    <p:sldId id="317" r:id="rId19"/>
    <p:sldId id="316" r:id="rId20"/>
    <p:sldId id="314" r:id="rId21"/>
    <p:sldId id="319" r:id="rId22"/>
    <p:sldId id="320" r:id="rId23"/>
    <p:sldId id="321" r:id="rId24"/>
    <p:sldId id="322" r:id="rId25"/>
    <p:sldId id="323" r:id="rId26"/>
    <p:sldId id="324" r:id="rId27"/>
    <p:sldId id="329" r:id="rId28"/>
    <p:sldId id="326" r:id="rId29"/>
    <p:sldId id="325" r:id="rId30"/>
    <p:sldId id="327" r:id="rId31"/>
    <p:sldId id="33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759"/>
    <a:srgbClr val="F28E2A"/>
    <a:srgbClr val="FCD474"/>
    <a:srgbClr val="F9D171"/>
    <a:srgbClr val="FBD67B"/>
    <a:srgbClr val="7A6647"/>
    <a:srgbClr val="FABCBC"/>
    <a:srgbClr val="F78D8D"/>
    <a:srgbClr val="C081FF"/>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4F042-2118-419A-836D-1855B6A599B4}" v="3" dt="2023-06-09T08:36:28.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629" autoAdjust="0"/>
    <p:restoredTop sz="94660"/>
  </p:normalViewPr>
  <p:slideViewPr>
    <p:cSldViewPr snapToGrid="0">
      <p:cViewPr>
        <p:scale>
          <a:sx n="50" d="100"/>
          <a:sy n="50" d="100"/>
        </p:scale>
        <p:origin x="96"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D89181-5508-4226-9903-1206EE3E8BF4}" type="datetimeFigureOut">
              <a:rPr lang="en-US" smtClean="0"/>
              <a:t>6/9/2023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401C61-582E-42C8-BAE0-6697B0121402}" type="slidenum">
              <a:rPr lang="en-US" smtClean="0"/>
              <a:t>‹#›</a:t>
            </a:fld>
            <a:endParaRPr lang="en-US"/>
          </a:p>
        </p:txBody>
      </p:sp>
    </p:spTree>
    <p:extLst>
      <p:ext uri="{BB962C8B-B14F-4D97-AF65-F5344CB8AC3E}">
        <p14:creationId xmlns:p14="http://schemas.microsoft.com/office/powerpoint/2010/main" val="3522943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13C5-009B-4EC3-9813-67ABFF0E6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642392-C984-476A-BD6A-307CEB2AD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4FF4A2-69BC-4BFA-A91D-F2C5EAE0FBB0}"/>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88FE1A50-4F90-4527-8D75-011CCFFA5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30E85-9F99-4D7D-81E4-B847D3A98A31}"/>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374126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DA81-967A-4E7C-A18B-4B0A84F5B0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5723C2-2691-4939-9E2E-460F5E5666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69A9F-0E64-42A0-8FAF-24DD65DCE272}"/>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6D4CBEC3-C4AA-4012-9D54-456CCB6B36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AA5A3-3A6E-4A64-B4CD-C533BC608F1C}"/>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2543218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5000-36DC-45E9-9665-0D0BBD651C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7576EB-A932-4BF1-AAE6-8BD5B7F2B1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C1E02C-9720-4407-8485-12D4B6C38FDC}"/>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8D60F2A9-FEF3-49C8-A281-7D740A7D84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EA63C-86A2-4954-AC57-45AFA97C7FB3}"/>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397283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41002-6D78-4F3D-9D09-01525F0454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AC0252-9467-4B73-9B76-FB3A61873E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F456DC-C321-4B5B-8DFC-D7017A9346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BA2A0E-0CF6-4B3D-BFFA-CD1B487EDC17}"/>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6" name="Footer Placeholder 5">
            <a:extLst>
              <a:ext uri="{FF2B5EF4-FFF2-40B4-BE49-F238E27FC236}">
                <a16:creationId xmlns:a16="http://schemas.microsoft.com/office/drawing/2014/main" id="{B6A6185A-6A89-4AA3-A4DF-B34343950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6B3AA1-1AB3-46C7-A014-9D6EADBD1C58}"/>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355693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A80C-A0A0-483E-B3EB-6022A6FDF7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20AC8A-3015-47DA-AD35-A56160879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8D4084-78F3-4E24-B9DD-1B97C90EAC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79228B-D43C-4276-A8D7-D691849F79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14719C-E6C8-45C6-B348-C96FD46665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6A5BE2-3DDC-4E3D-B041-8233DDDE603B}"/>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8" name="Footer Placeholder 7">
            <a:extLst>
              <a:ext uri="{FF2B5EF4-FFF2-40B4-BE49-F238E27FC236}">
                <a16:creationId xmlns:a16="http://schemas.microsoft.com/office/drawing/2014/main" id="{376B6815-6306-4E8C-B159-3AEF93DCCB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B2A054-3A7A-42DE-AF5C-571D09616A1D}"/>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2694144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7B3E-81CF-4541-A6A0-4833F7577E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455A13-7F3F-40F4-BCD1-EA14443ED6F8}"/>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4" name="Footer Placeholder 3">
            <a:extLst>
              <a:ext uri="{FF2B5EF4-FFF2-40B4-BE49-F238E27FC236}">
                <a16:creationId xmlns:a16="http://schemas.microsoft.com/office/drawing/2014/main" id="{C4348582-3737-468F-B058-2C30B0248D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61EFA1-CA34-4B7A-BAE7-ACF17FA3C85B}"/>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2221330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33499F-1A06-420C-B3EF-96C2DBB48725}"/>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3" name="Footer Placeholder 2">
            <a:extLst>
              <a:ext uri="{FF2B5EF4-FFF2-40B4-BE49-F238E27FC236}">
                <a16:creationId xmlns:a16="http://schemas.microsoft.com/office/drawing/2014/main" id="{9822F228-53E9-4EAE-9C8D-6A49488ED4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16819C-6406-451B-B8C7-991446D09EBC}"/>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3636439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47EA2-0FCB-42C8-B579-6BA54116E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391648-98AD-4731-B0B9-01B988541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675C41-3096-4199-8B2A-BAFB7B64D7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457E5B-931E-4CF7-8DB2-AF27BBD6FC2A}"/>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6" name="Footer Placeholder 5">
            <a:extLst>
              <a:ext uri="{FF2B5EF4-FFF2-40B4-BE49-F238E27FC236}">
                <a16:creationId xmlns:a16="http://schemas.microsoft.com/office/drawing/2014/main" id="{495E71D1-B799-4BAC-A190-4E29F7028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0A5C8-B6B0-48DE-BE45-2571D9FF480D}"/>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698163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84A6-3DA6-4A46-99BE-FDD900575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46D524-A24F-4213-BC6A-D384FD9BB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E1B8A5-C005-411B-B6FA-B4BBD984F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B54A-43A3-4E3D-A99A-9BF4115CFE7C}"/>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6" name="Footer Placeholder 5">
            <a:extLst>
              <a:ext uri="{FF2B5EF4-FFF2-40B4-BE49-F238E27FC236}">
                <a16:creationId xmlns:a16="http://schemas.microsoft.com/office/drawing/2014/main" id="{69FE6ABA-CE4C-42C4-9424-7BD74B88F2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489FEF-6CF3-468C-8851-72D14CB11DBE}"/>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95892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44EB-6DCF-4C88-9811-1B73131CB1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EB7D2-549C-40E7-94A8-BF9D064B8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940FF5-0D45-4728-BFD7-4188D7E575C8}"/>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446E9FA8-1192-4AAB-939C-22773E0FC3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A507E-F8F8-434E-A7E2-2D593974274D}"/>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528599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4CF21E-D154-468B-A356-0B919901BB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E941C5-E653-4E57-9578-1C46FFB66B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68C8F-E337-4C56-8C3E-61088ACC11EC}"/>
              </a:ext>
            </a:extLst>
          </p:cNvPr>
          <p:cNvSpPr>
            <a:spLocks noGrp="1"/>
          </p:cNvSpPr>
          <p:nvPr>
            <p:ph type="dt" sz="half" idx="10"/>
          </p:nvPr>
        </p:nvSpPr>
        <p:spPr/>
        <p:txBody>
          <a:body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3483B5D8-33F7-4CB8-A0A1-0D28D36A0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112F43-6257-4760-80B8-BBAF68599DBD}"/>
              </a:ext>
            </a:extLst>
          </p:cNvPr>
          <p:cNvSpPr>
            <a:spLocks noGrp="1"/>
          </p:cNvSpPr>
          <p:nvPr>
            <p:ph type="sldNum" sz="quarter" idx="12"/>
          </p:nvPr>
        </p:nvSpPr>
        <p:spPr/>
        <p:txBody>
          <a:bodyPr/>
          <a:lstStyle/>
          <a:p>
            <a:fld id="{C9CD8F1B-AA81-4C23-919B-779391EC6E08}" type="slidenum">
              <a:rPr lang="en-US" smtClean="0"/>
              <a:t>‹#›</a:t>
            </a:fld>
            <a:endParaRPr lang="en-US"/>
          </a:p>
        </p:txBody>
      </p:sp>
    </p:spTree>
    <p:extLst>
      <p:ext uri="{BB962C8B-B14F-4D97-AF65-F5344CB8AC3E}">
        <p14:creationId xmlns:p14="http://schemas.microsoft.com/office/powerpoint/2010/main" val="38101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17720D-701A-4205-B23E-833BD76F7D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C4414A-C0D5-432B-A7A9-8539BC9878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9DD60F-D3E5-41D7-AB70-D891C9AC43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8F154-7729-4070-8069-99C93A8B4370}" type="datetimeFigureOut">
              <a:rPr lang="en-US" smtClean="0"/>
              <a:t>6/9/2023</a:t>
            </a:fld>
            <a:endParaRPr lang="en-US"/>
          </a:p>
        </p:txBody>
      </p:sp>
      <p:sp>
        <p:nvSpPr>
          <p:cNvPr id="5" name="Footer Placeholder 4">
            <a:extLst>
              <a:ext uri="{FF2B5EF4-FFF2-40B4-BE49-F238E27FC236}">
                <a16:creationId xmlns:a16="http://schemas.microsoft.com/office/drawing/2014/main" id="{1D22EECB-F464-49DC-99E1-8CB169DB6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56F0CE8-DBFC-48D5-94E9-76606FA4F7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CD8F1B-AA81-4C23-919B-779391EC6E08}" type="slidenum">
              <a:rPr lang="en-US" smtClean="0"/>
              <a:t>‹#›</a:t>
            </a:fld>
            <a:endParaRPr lang="en-US"/>
          </a:p>
        </p:txBody>
      </p:sp>
    </p:spTree>
    <p:extLst>
      <p:ext uri="{BB962C8B-B14F-4D97-AF65-F5344CB8AC3E}">
        <p14:creationId xmlns:p14="http://schemas.microsoft.com/office/powerpoint/2010/main" val="1339842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7.png"/><Relationship Id="rId7"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1.svg"/><Relationship Id="rId4" Type="http://schemas.openxmlformats.org/officeDocument/2006/relationships/image" Target="../media/image18.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7.svg"/><Relationship Id="rId4" Type="http://schemas.openxmlformats.org/officeDocument/2006/relationships/image" Target="../media/image25.png"/><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344152"/>
            </a:gs>
            <a:gs pos="55000">
              <a:srgbClr val="15212A"/>
            </a:gs>
            <a:gs pos="32000">
              <a:srgbClr val="09141A"/>
            </a:gs>
          </a:gsLst>
          <a:lin ang="18000000" scaled="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C91FF16-E39E-413B-9858-F2B35749D806}"/>
              </a:ext>
            </a:extLst>
          </p:cNvPr>
          <p:cNvPicPr>
            <a:picLocks noChangeAspect="1"/>
          </p:cNvPicPr>
          <p:nvPr/>
        </p:nvPicPr>
        <p:blipFill rotWithShape="1">
          <a:blip r:embed="rId2">
            <a:extLst>
              <a:ext uri="{28A0092B-C50C-407E-A947-70E740481C1C}">
                <a14:useLocalDpi xmlns:a14="http://schemas.microsoft.com/office/drawing/2010/main" val="0"/>
              </a:ext>
            </a:extLst>
          </a:blip>
          <a:srcRect t="2083" b="41667"/>
          <a:stretch/>
        </p:blipFill>
        <p:spPr>
          <a:xfrm>
            <a:off x="0" y="0"/>
            <a:ext cx="12192000" cy="6858000"/>
          </a:xfrm>
          <a:prstGeom prst="rect">
            <a:avLst/>
          </a:prstGeom>
        </p:spPr>
      </p:pic>
      <p:sp>
        <p:nvSpPr>
          <p:cNvPr id="2" name="Right Triangle 1">
            <a:extLst>
              <a:ext uri="{FF2B5EF4-FFF2-40B4-BE49-F238E27FC236}">
                <a16:creationId xmlns:a16="http://schemas.microsoft.com/office/drawing/2014/main" id="{190FC929-699D-9DE4-EF62-4376190D7765}"/>
              </a:ext>
            </a:extLst>
          </p:cNvPr>
          <p:cNvSpPr/>
          <p:nvPr/>
        </p:nvSpPr>
        <p:spPr>
          <a:xfrm>
            <a:off x="0" y="0"/>
            <a:ext cx="10274300" cy="6858000"/>
          </a:xfrm>
          <a:prstGeom prst="rtTriangle">
            <a:avLst/>
          </a:prstGeom>
          <a:solidFill>
            <a:schemeClr val="tx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C62E6D0-5C5D-4246-AF90-6C4F16319853}"/>
              </a:ext>
            </a:extLst>
          </p:cNvPr>
          <p:cNvPicPr>
            <a:picLocks noChangeAspect="1"/>
          </p:cNvPicPr>
          <p:nvPr/>
        </p:nvPicPr>
        <p:blipFill rotWithShape="1">
          <a:blip r:embed="rId3">
            <a:extLst>
              <a:ext uri="{28A0092B-C50C-407E-A947-70E740481C1C}">
                <a14:useLocalDpi xmlns:a14="http://schemas.microsoft.com/office/drawing/2010/main" val="0"/>
              </a:ext>
            </a:extLst>
          </a:blip>
          <a:srcRect t="41391" r="37565" b="44696"/>
          <a:stretch/>
        </p:blipFill>
        <p:spPr>
          <a:xfrm>
            <a:off x="139700" y="5562600"/>
            <a:ext cx="4610100" cy="1027320"/>
          </a:xfrm>
          <a:prstGeom prst="rect">
            <a:avLst/>
          </a:prstGeom>
          <a:effectLst>
            <a:outerShdw blurRad="50800" dist="76200" dir="2700000" algn="tl" rotWithShape="0">
              <a:prstClr val="black"/>
            </a:outerShdw>
          </a:effectLst>
        </p:spPr>
      </p:pic>
    </p:spTree>
    <p:extLst>
      <p:ext uri="{BB962C8B-B14F-4D97-AF65-F5344CB8AC3E}">
        <p14:creationId xmlns:p14="http://schemas.microsoft.com/office/powerpoint/2010/main" val="4046185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21F936-F0CA-468D-9E09-FEEB6A5EBB61}"/>
              </a:ext>
            </a:extLst>
          </p:cNvPr>
          <p:cNvSpPr/>
          <p:nvPr/>
        </p:nvSpPr>
        <p:spPr>
          <a:xfrm>
            <a:off x="0" y="-2"/>
            <a:ext cx="12192000" cy="6858001"/>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8" name="Freeform: Shape 7">
            <a:extLst>
              <a:ext uri="{FF2B5EF4-FFF2-40B4-BE49-F238E27FC236}">
                <a16:creationId xmlns:a16="http://schemas.microsoft.com/office/drawing/2014/main" id="{D9E02117-7C3E-4E79-BD90-380EDCF22FDA}"/>
              </a:ext>
            </a:extLst>
          </p:cNvPr>
          <p:cNvSpPr/>
          <p:nvPr/>
        </p:nvSpPr>
        <p:spPr>
          <a:xfrm>
            <a:off x="7154946" y="380690"/>
            <a:ext cx="5009241" cy="6076981"/>
          </a:xfrm>
          <a:custGeom>
            <a:avLst/>
            <a:gdLst>
              <a:gd name="connsiteX0" fmla="*/ 2910434 w 5583895"/>
              <a:gd name="connsiteY0" fmla="*/ 0 h 6858000"/>
              <a:gd name="connsiteX1" fmla="*/ 5583895 w 5583895"/>
              <a:gd name="connsiteY1" fmla="*/ 0 h 6858000"/>
              <a:gd name="connsiteX2" fmla="*/ 5583895 w 5583895"/>
              <a:gd name="connsiteY2" fmla="*/ 6858000 h 6858000"/>
              <a:gd name="connsiteX3" fmla="*/ 3665082 w 5583895"/>
              <a:gd name="connsiteY3" fmla="*/ 6858000 h 6858000"/>
              <a:gd name="connsiteX4" fmla="*/ 0 w 5583895"/>
              <a:gd name="connsiteY4" fmla="*/ 238446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895" h="6858000">
                <a:moveTo>
                  <a:pt x="2910434" y="0"/>
                </a:moveTo>
                <a:lnTo>
                  <a:pt x="5583895" y="0"/>
                </a:lnTo>
                <a:lnTo>
                  <a:pt x="5583895" y="6858000"/>
                </a:lnTo>
                <a:lnTo>
                  <a:pt x="3665082" y="6858000"/>
                </a:lnTo>
                <a:lnTo>
                  <a:pt x="0" y="2384463"/>
                </a:lnTo>
                <a:close/>
              </a:path>
            </a:pathLst>
          </a:custGeom>
          <a:pattFill prst="ltDnDiag">
            <a:fgClr>
              <a:schemeClr val="bg1">
                <a:lumMod val="85000"/>
              </a:schemeClr>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27813" y="-1"/>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TextBox 17">
            <a:extLst>
              <a:ext uri="{FF2B5EF4-FFF2-40B4-BE49-F238E27FC236}">
                <a16:creationId xmlns:a16="http://schemas.microsoft.com/office/drawing/2014/main" id="{148D42BE-D3A7-4B36-AAF3-17EEBF386D1D}"/>
              </a:ext>
            </a:extLst>
          </p:cNvPr>
          <p:cNvSpPr txBox="1"/>
          <p:nvPr/>
        </p:nvSpPr>
        <p:spPr>
          <a:xfrm>
            <a:off x="254756" y="493412"/>
            <a:ext cx="6096000" cy="769441"/>
          </a:xfrm>
          <a:prstGeom prst="rect">
            <a:avLst/>
          </a:prstGeom>
          <a:noFill/>
        </p:spPr>
        <p:txBody>
          <a:bodyPr wrap="square" rtlCol="0">
            <a:spAutoFit/>
          </a:bodyPr>
          <a:lstStyle/>
          <a:p>
            <a:r>
              <a:rPr lang="en-IN" sz="4400" b="1" dirty="0">
                <a:solidFill>
                  <a:schemeClr val="tx1">
                    <a:lumMod val="65000"/>
                    <a:lumOff val="35000"/>
                  </a:schemeClr>
                </a:solidFill>
                <a:latin typeface="Montserrat" panose="00000500000000000000" pitchFamily="2" charset="0"/>
              </a:rPr>
              <a:t>COMPANY PROFILE</a:t>
            </a:r>
          </a:p>
        </p:txBody>
      </p:sp>
      <p:cxnSp>
        <p:nvCxnSpPr>
          <p:cNvPr id="44" name="Straight Connector 43">
            <a:extLst>
              <a:ext uri="{FF2B5EF4-FFF2-40B4-BE49-F238E27FC236}">
                <a16:creationId xmlns:a16="http://schemas.microsoft.com/office/drawing/2014/main" id="{7954C86F-2CE6-403B-98E7-39ED56B91575}"/>
              </a:ext>
            </a:extLst>
          </p:cNvPr>
          <p:cNvCxnSpPr>
            <a:cxnSpLocks/>
          </p:cNvCxnSpPr>
          <p:nvPr/>
        </p:nvCxnSpPr>
        <p:spPr>
          <a:xfrm>
            <a:off x="6261100" y="6758980"/>
            <a:ext cx="5930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57D0E3-8406-446D-A3FF-A9210D1A810A}"/>
              </a:ext>
            </a:extLst>
          </p:cNvPr>
          <p:cNvCxnSpPr>
            <a:cxnSpLocks/>
          </p:cNvCxnSpPr>
          <p:nvPr/>
        </p:nvCxnSpPr>
        <p:spPr>
          <a:xfrm>
            <a:off x="27813" y="1262853"/>
            <a:ext cx="41758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9BE8B6A-0927-488B-AA91-88BC81535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5244" y="1132302"/>
            <a:ext cx="4768644" cy="3942079"/>
          </a:xfrm>
          <a:prstGeom prst="rect">
            <a:avLst/>
          </a:prstGeom>
        </p:spPr>
      </p:pic>
      <p:sp>
        <p:nvSpPr>
          <p:cNvPr id="19" name="TextBox 18">
            <a:extLst>
              <a:ext uri="{FF2B5EF4-FFF2-40B4-BE49-F238E27FC236}">
                <a16:creationId xmlns:a16="http://schemas.microsoft.com/office/drawing/2014/main" id="{92162393-FDC6-4976-B9B4-20E0008E176A}"/>
              </a:ext>
            </a:extLst>
          </p:cNvPr>
          <p:cNvSpPr txBox="1"/>
          <p:nvPr/>
        </p:nvSpPr>
        <p:spPr>
          <a:xfrm>
            <a:off x="345818" y="3185654"/>
            <a:ext cx="4557733" cy="2308324"/>
          </a:xfrm>
          <a:prstGeom prst="rect">
            <a:avLst/>
          </a:prstGeom>
          <a:noFill/>
        </p:spPr>
        <p:txBody>
          <a:bodyPr wrap="square" rtlCol="0">
            <a:spAutoFit/>
          </a:bodyPr>
          <a:lstStyle/>
          <a:p>
            <a:pPr marL="285750" indent="-285750">
              <a:buFont typeface="Wingdings" panose="05000000000000000000" pitchFamily="2" charset="2"/>
              <a:buChar char="ü"/>
            </a:pPr>
            <a:r>
              <a:rPr lang="en-US" b="1">
                <a:latin typeface="Open Sans" panose="020B0606030504020204" pitchFamily="34" charset="0"/>
                <a:ea typeface="Open Sans" panose="020B0606030504020204" pitchFamily="34" charset="0"/>
                <a:cs typeface="Open Sans" panose="020B0606030504020204" pitchFamily="34" charset="0"/>
              </a:rPr>
              <a:t>Subbrand of Aarong</a:t>
            </a:r>
          </a:p>
          <a:p>
            <a:pPr marL="285750" indent="-285750">
              <a:buFont typeface="Wingdings" panose="05000000000000000000" pitchFamily="2" charset="2"/>
              <a:buChar char="ü"/>
            </a:pPr>
            <a:endParaRPr lang="en-US" b="1">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ü"/>
            </a:pPr>
            <a:r>
              <a:rPr lang="en-US" b="1">
                <a:latin typeface="Open Sans" panose="020B0606030504020204" pitchFamily="34" charset="0"/>
                <a:ea typeface="Open Sans" panose="020B0606030504020204" pitchFamily="34" charset="0"/>
                <a:cs typeface="Open Sans" panose="020B0606030504020204" pitchFamily="34" charset="0"/>
              </a:rPr>
              <a:t>Launched in 2003 </a:t>
            </a:r>
          </a:p>
          <a:p>
            <a:pPr marL="285750" indent="-285750">
              <a:buFont typeface="Wingdings" panose="05000000000000000000" pitchFamily="2" charset="2"/>
              <a:buChar char="ü"/>
            </a:pPr>
            <a:endParaRPr lang="en-US" b="1">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ü"/>
            </a:pPr>
            <a:r>
              <a:rPr lang="en-US" b="1">
                <a:latin typeface="Open Sans" panose="020B0606030504020204" pitchFamily="34" charset="0"/>
                <a:ea typeface="Open Sans" panose="020B0606030504020204" pitchFamily="34" charset="0"/>
                <a:cs typeface="Open Sans" panose="020B0606030504020204" pitchFamily="34" charset="0"/>
              </a:rPr>
              <a:t>In Somali, Taaga means ‘To Standup’</a:t>
            </a:r>
          </a:p>
          <a:p>
            <a:pPr marL="285750" indent="-285750">
              <a:buFont typeface="Wingdings" panose="05000000000000000000" pitchFamily="2" charset="2"/>
              <a:buChar char="ü"/>
            </a:pPr>
            <a:endParaRPr lang="en-US" b="1">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Wingdings" panose="05000000000000000000" pitchFamily="2" charset="2"/>
              <a:buChar char="ü"/>
            </a:pPr>
            <a:r>
              <a:rPr lang="en-US" b="1">
                <a:latin typeface="Open Sans" panose="020B0606030504020204" pitchFamily="34" charset="0"/>
                <a:ea typeface="Open Sans" panose="020B0606030504020204" pitchFamily="34" charset="0"/>
                <a:cs typeface="Open Sans" panose="020B0606030504020204" pitchFamily="34" charset="0"/>
              </a:rPr>
              <a:t>To create modern and comfortable products with an ethnic touch.</a:t>
            </a:r>
            <a:endParaRPr lang="en-US" b="1" dirty="0">
              <a:latin typeface="Open Sans" panose="020B0606030504020204" pitchFamily="34" charset="0"/>
              <a:ea typeface="Open Sans" panose="020B0606030504020204" pitchFamily="34" charset="0"/>
              <a:cs typeface="Open Sans" panose="020B0606030504020204" pitchFamily="34" charset="0"/>
            </a:endParaRPr>
          </a:p>
        </p:txBody>
      </p:sp>
      <p:pic>
        <p:nvPicPr>
          <p:cNvPr id="21" name="Picture 20">
            <a:extLst>
              <a:ext uri="{FF2B5EF4-FFF2-40B4-BE49-F238E27FC236}">
                <a16:creationId xmlns:a16="http://schemas.microsoft.com/office/drawing/2014/main" id="{FE96B285-54AC-4DB4-9A41-F916E736C15A}"/>
              </a:ext>
            </a:extLst>
          </p:cNvPr>
          <p:cNvPicPr>
            <a:picLocks noChangeAspect="1"/>
          </p:cNvPicPr>
          <p:nvPr/>
        </p:nvPicPr>
        <p:blipFill rotWithShape="1">
          <a:blip r:embed="rId3">
            <a:extLst>
              <a:ext uri="{28A0092B-C50C-407E-A947-70E740481C1C}">
                <a14:useLocalDpi xmlns:a14="http://schemas.microsoft.com/office/drawing/2010/main" val="0"/>
              </a:ext>
            </a:extLst>
          </a:blip>
          <a:srcRect t="33542" b="35528"/>
          <a:stretch/>
        </p:blipFill>
        <p:spPr>
          <a:xfrm>
            <a:off x="345818" y="1594707"/>
            <a:ext cx="2829560" cy="875174"/>
          </a:xfrm>
          <a:prstGeom prst="rect">
            <a:avLst/>
          </a:prstGeom>
        </p:spPr>
      </p:pic>
      <p:sp>
        <p:nvSpPr>
          <p:cNvPr id="22" name="TextBox 21">
            <a:extLst>
              <a:ext uri="{FF2B5EF4-FFF2-40B4-BE49-F238E27FC236}">
                <a16:creationId xmlns:a16="http://schemas.microsoft.com/office/drawing/2014/main" id="{BE976C99-5DFB-4B24-B8A9-6A0D6EA7E9AB}"/>
              </a:ext>
            </a:extLst>
          </p:cNvPr>
          <p:cNvSpPr txBox="1"/>
          <p:nvPr/>
        </p:nvSpPr>
        <p:spPr>
          <a:xfrm>
            <a:off x="8382755" y="5217812"/>
            <a:ext cx="3554490" cy="430887"/>
          </a:xfrm>
          <a:prstGeom prst="rect">
            <a:avLst/>
          </a:prstGeom>
          <a:noFill/>
        </p:spPr>
        <p:txBody>
          <a:bodyPr wrap="square" rtlCol="0">
            <a:spAutoFit/>
          </a:bodyPr>
          <a:lstStyle/>
          <a:p>
            <a:r>
              <a:rPr lang="en-IN" sz="2200" b="1">
                <a:solidFill>
                  <a:schemeClr val="tx1">
                    <a:lumMod val="65000"/>
                    <a:lumOff val="35000"/>
                  </a:schemeClr>
                </a:solidFill>
                <a:latin typeface="Montserrat" panose="00000500000000000000" pitchFamily="2" charset="0"/>
              </a:rPr>
              <a:t>Tamara Hasan Abed</a:t>
            </a:r>
            <a:endParaRPr lang="en-IN" sz="2200" b="1" dirty="0">
              <a:solidFill>
                <a:schemeClr val="tx1">
                  <a:lumMod val="65000"/>
                  <a:lumOff val="35000"/>
                </a:schemeClr>
              </a:solidFill>
              <a:latin typeface="Montserrat" panose="00000500000000000000" pitchFamily="2" charset="0"/>
            </a:endParaRPr>
          </a:p>
        </p:txBody>
      </p:sp>
      <p:sp>
        <p:nvSpPr>
          <p:cNvPr id="23" name="TextBox 22">
            <a:extLst>
              <a:ext uri="{FF2B5EF4-FFF2-40B4-BE49-F238E27FC236}">
                <a16:creationId xmlns:a16="http://schemas.microsoft.com/office/drawing/2014/main" id="{5E82D983-894D-48B6-BCF8-79F9F7D71B6C}"/>
              </a:ext>
            </a:extLst>
          </p:cNvPr>
          <p:cNvSpPr txBox="1"/>
          <p:nvPr/>
        </p:nvSpPr>
        <p:spPr>
          <a:xfrm>
            <a:off x="9322555" y="5611512"/>
            <a:ext cx="1485145" cy="369332"/>
          </a:xfrm>
          <a:prstGeom prst="rect">
            <a:avLst/>
          </a:prstGeom>
          <a:noFill/>
        </p:spPr>
        <p:txBody>
          <a:bodyPr wrap="square" rtlCol="0">
            <a:spAutoFit/>
          </a:bodyPr>
          <a:lstStyle/>
          <a:p>
            <a:r>
              <a:rPr lang="en-IN" b="1">
                <a:solidFill>
                  <a:schemeClr val="tx1">
                    <a:lumMod val="65000"/>
                    <a:lumOff val="35000"/>
                  </a:schemeClr>
                </a:solidFill>
                <a:latin typeface="Candara" panose="020E0502030303020204" pitchFamily="34" charset="0"/>
              </a:rPr>
              <a:t>MD, Taaga</a:t>
            </a:r>
            <a:endParaRPr lang="en-IN" b="1" dirty="0">
              <a:solidFill>
                <a:schemeClr val="tx1">
                  <a:lumMod val="65000"/>
                  <a:lumOff val="35000"/>
                </a:schemeClr>
              </a:solidFill>
              <a:latin typeface="Candara" panose="020E0502030303020204" pitchFamily="34" charset="0"/>
            </a:endParaRPr>
          </a:p>
        </p:txBody>
      </p:sp>
    </p:spTree>
    <p:extLst>
      <p:ext uri="{BB962C8B-B14F-4D97-AF65-F5344CB8AC3E}">
        <p14:creationId xmlns:p14="http://schemas.microsoft.com/office/powerpoint/2010/main" val="2365517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D25EE0C-354D-450A-88DE-1D8F7CEB100F}"/>
              </a:ext>
            </a:extLst>
          </p:cNvPr>
          <p:cNvGrpSpPr/>
          <p:nvPr/>
        </p:nvGrpSpPr>
        <p:grpSpPr>
          <a:xfrm>
            <a:off x="199010" y="1274391"/>
            <a:ext cx="6376934" cy="5400788"/>
            <a:chOff x="1676289" y="123608"/>
            <a:chExt cx="9448657" cy="7498767"/>
          </a:xfrm>
        </p:grpSpPr>
        <p:pic>
          <p:nvPicPr>
            <p:cNvPr id="4" name="Picture 3">
              <a:extLst>
                <a:ext uri="{FF2B5EF4-FFF2-40B4-BE49-F238E27FC236}">
                  <a16:creationId xmlns:a16="http://schemas.microsoft.com/office/drawing/2014/main" id="{201C7E05-A4AF-427C-9E78-81C21E9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8850" y="404025"/>
              <a:ext cx="6175700" cy="7218350"/>
            </a:xfrm>
            <a:prstGeom prst="rect">
              <a:avLst/>
            </a:prstGeom>
          </p:spPr>
        </p:pic>
        <p:grpSp>
          <p:nvGrpSpPr>
            <p:cNvPr id="24" name="Group 23">
              <a:extLst>
                <a:ext uri="{FF2B5EF4-FFF2-40B4-BE49-F238E27FC236}">
                  <a16:creationId xmlns:a16="http://schemas.microsoft.com/office/drawing/2014/main" id="{D984080F-3D2A-418C-B6B0-A8997DF8C227}"/>
                </a:ext>
              </a:extLst>
            </p:cNvPr>
            <p:cNvGrpSpPr/>
            <p:nvPr/>
          </p:nvGrpSpPr>
          <p:grpSpPr>
            <a:xfrm>
              <a:off x="1676289" y="123608"/>
              <a:ext cx="1236871" cy="1086758"/>
              <a:chOff x="1434989" y="123608"/>
              <a:chExt cx="1236871" cy="1086758"/>
            </a:xfrm>
          </p:grpSpPr>
          <p:pic>
            <p:nvPicPr>
              <p:cNvPr id="90" name="Picture 89">
                <a:extLst>
                  <a:ext uri="{FF2B5EF4-FFF2-40B4-BE49-F238E27FC236}">
                    <a16:creationId xmlns:a16="http://schemas.microsoft.com/office/drawing/2014/main" id="{8EB013CD-0C5E-44C7-8F51-70ACA761EE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149" y="123608"/>
                <a:ext cx="1086758" cy="1086758"/>
              </a:xfrm>
              <a:prstGeom prst="rect">
                <a:avLst/>
              </a:prstGeom>
            </p:spPr>
          </p:pic>
          <p:sp>
            <p:nvSpPr>
              <p:cNvPr id="23" name="TextBox 22">
                <a:extLst>
                  <a:ext uri="{FF2B5EF4-FFF2-40B4-BE49-F238E27FC236}">
                    <a16:creationId xmlns:a16="http://schemas.microsoft.com/office/drawing/2014/main" id="{4763B345-A446-4B3A-A00C-ECD4CD6AE5C9}"/>
                  </a:ext>
                </a:extLst>
              </p:cNvPr>
              <p:cNvSpPr txBox="1"/>
              <p:nvPr/>
            </p:nvSpPr>
            <p:spPr>
              <a:xfrm>
                <a:off x="1434989" y="810296"/>
                <a:ext cx="1236871" cy="320500"/>
              </a:xfrm>
              <a:prstGeom prst="rect">
                <a:avLst/>
              </a:prstGeom>
              <a:noFill/>
            </p:spPr>
            <p:txBody>
              <a:bodyPr wrap="square" rtlCol="0">
                <a:spAutoFit/>
              </a:bodyPr>
              <a:lstStyle/>
              <a:p>
                <a:r>
                  <a:rPr lang="en-US" sz="900">
                    <a:latin typeface="Montserrat" panose="00000500000000000000" pitchFamily="2" charset="0"/>
                  </a:rPr>
                  <a:t>RANGPUR</a:t>
                </a:r>
              </a:p>
            </p:txBody>
          </p:sp>
        </p:grpSp>
        <p:grpSp>
          <p:nvGrpSpPr>
            <p:cNvPr id="66" name="Group 65">
              <a:extLst>
                <a:ext uri="{FF2B5EF4-FFF2-40B4-BE49-F238E27FC236}">
                  <a16:creationId xmlns:a16="http://schemas.microsoft.com/office/drawing/2014/main" id="{F1C8394C-FFCF-3D00-BC25-D87DCA087B9C}"/>
                </a:ext>
              </a:extLst>
            </p:cNvPr>
            <p:cNvGrpSpPr/>
            <p:nvPr/>
          </p:nvGrpSpPr>
          <p:grpSpPr>
            <a:xfrm flipH="1">
              <a:off x="2744960" y="832628"/>
              <a:ext cx="2141144" cy="375329"/>
              <a:chOff x="7347258" y="1453216"/>
              <a:chExt cx="1785119" cy="742774"/>
            </a:xfrm>
            <a:solidFill>
              <a:schemeClr val="bg1">
                <a:lumMod val="95000"/>
              </a:schemeClr>
            </a:solidFill>
          </p:grpSpPr>
          <p:cxnSp>
            <p:nvCxnSpPr>
              <p:cNvPr id="73" name="Straight Connector 72">
                <a:extLst>
                  <a:ext uri="{FF2B5EF4-FFF2-40B4-BE49-F238E27FC236}">
                    <a16:creationId xmlns:a16="http://schemas.microsoft.com/office/drawing/2014/main" id="{9781E1F9-0856-EF1E-FD23-187206A7D891}"/>
                  </a:ext>
                </a:extLst>
              </p:cNvPr>
              <p:cNvCxnSpPr>
                <a:cxnSpLocks/>
              </p:cNvCxnSpPr>
              <p:nvPr/>
            </p:nvCxnSpPr>
            <p:spPr>
              <a:xfrm flipV="1">
                <a:off x="7347258" y="1453216"/>
                <a:ext cx="487762" cy="742774"/>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4" name="Straight Connector 73">
                <a:extLst>
                  <a:ext uri="{FF2B5EF4-FFF2-40B4-BE49-F238E27FC236}">
                    <a16:creationId xmlns:a16="http://schemas.microsoft.com/office/drawing/2014/main" id="{5F1636D4-7323-2321-C657-3953ED2BE1EA}"/>
                  </a:ext>
                </a:extLst>
              </p:cNvPr>
              <p:cNvCxnSpPr/>
              <p:nvPr/>
            </p:nvCxnSpPr>
            <p:spPr>
              <a:xfrm>
                <a:off x="7786601" y="1466802"/>
                <a:ext cx="1345776" cy="0"/>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57" name="Oval 56">
              <a:extLst>
                <a:ext uri="{FF2B5EF4-FFF2-40B4-BE49-F238E27FC236}">
                  <a16:creationId xmlns:a16="http://schemas.microsoft.com/office/drawing/2014/main" id="{98DE29BA-3F26-DC4E-9EB5-651298CA4257}"/>
                </a:ext>
              </a:extLst>
            </p:cNvPr>
            <p:cNvSpPr/>
            <p:nvPr/>
          </p:nvSpPr>
          <p:spPr>
            <a:xfrm>
              <a:off x="9647509" y="1124832"/>
              <a:ext cx="77990" cy="7747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8" name="Oval 57">
              <a:extLst>
                <a:ext uri="{FF2B5EF4-FFF2-40B4-BE49-F238E27FC236}">
                  <a16:creationId xmlns:a16="http://schemas.microsoft.com/office/drawing/2014/main" id="{B5B5EB99-19A0-EF57-8857-7587CB2ECB0B}"/>
                </a:ext>
              </a:extLst>
            </p:cNvPr>
            <p:cNvSpPr/>
            <p:nvPr/>
          </p:nvSpPr>
          <p:spPr>
            <a:xfrm>
              <a:off x="9510536" y="2934207"/>
              <a:ext cx="77990" cy="7747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9" name="Oval 58">
              <a:extLst>
                <a:ext uri="{FF2B5EF4-FFF2-40B4-BE49-F238E27FC236}">
                  <a16:creationId xmlns:a16="http://schemas.microsoft.com/office/drawing/2014/main" id="{DDB80902-42B9-A4E0-30D9-4FECC662E50A}"/>
                </a:ext>
              </a:extLst>
            </p:cNvPr>
            <p:cNvSpPr/>
            <p:nvPr/>
          </p:nvSpPr>
          <p:spPr>
            <a:xfrm>
              <a:off x="8868290" y="4087755"/>
              <a:ext cx="77990" cy="7747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0" name="Oval 59">
              <a:extLst>
                <a:ext uri="{FF2B5EF4-FFF2-40B4-BE49-F238E27FC236}">
                  <a16:creationId xmlns:a16="http://schemas.microsoft.com/office/drawing/2014/main" id="{B767988A-87BB-36E9-4AA2-87789AD3BBA2}"/>
                </a:ext>
              </a:extLst>
            </p:cNvPr>
            <p:cNvSpPr/>
            <p:nvPr/>
          </p:nvSpPr>
          <p:spPr>
            <a:xfrm>
              <a:off x="2698031" y="5159152"/>
              <a:ext cx="89028" cy="8331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 name="Oval 60">
              <a:extLst>
                <a:ext uri="{FF2B5EF4-FFF2-40B4-BE49-F238E27FC236}">
                  <a16:creationId xmlns:a16="http://schemas.microsoft.com/office/drawing/2014/main" id="{62ABFA5B-EEF6-0951-FDCB-E52FC4A422C8}"/>
                </a:ext>
              </a:extLst>
            </p:cNvPr>
            <p:cNvSpPr/>
            <p:nvPr/>
          </p:nvSpPr>
          <p:spPr>
            <a:xfrm>
              <a:off x="2486080" y="2202343"/>
              <a:ext cx="77990" cy="7747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2" name="Oval 61">
              <a:extLst>
                <a:ext uri="{FF2B5EF4-FFF2-40B4-BE49-F238E27FC236}">
                  <a16:creationId xmlns:a16="http://schemas.microsoft.com/office/drawing/2014/main" id="{0DFEC0C6-F5C9-CD6F-ED41-A1D5B909B2AD}"/>
                </a:ext>
              </a:extLst>
            </p:cNvPr>
            <p:cNvSpPr/>
            <p:nvPr/>
          </p:nvSpPr>
          <p:spPr>
            <a:xfrm>
              <a:off x="2706342" y="979300"/>
              <a:ext cx="77990" cy="7747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Teardrop 49">
              <a:extLst>
                <a:ext uri="{FF2B5EF4-FFF2-40B4-BE49-F238E27FC236}">
                  <a16:creationId xmlns:a16="http://schemas.microsoft.com/office/drawing/2014/main" id="{1D6361D7-E1D9-FF91-D4C5-3935FCBFBB4E}"/>
                </a:ext>
              </a:extLst>
            </p:cNvPr>
            <p:cNvSpPr/>
            <p:nvPr/>
          </p:nvSpPr>
          <p:spPr>
            <a:xfrm rot="8271014">
              <a:off x="4701118" y="1064342"/>
              <a:ext cx="224684" cy="21079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69" name="Straight Connector 68">
              <a:extLst>
                <a:ext uri="{FF2B5EF4-FFF2-40B4-BE49-F238E27FC236}">
                  <a16:creationId xmlns:a16="http://schemas.microsoft.com/office/drawing/2014/main" id="{FC8EAC63-8A63-FF14-0C61-408896CD9D36}"/>
                </a:ext>
              </a:extLst>
            </p:cNvPr>
            <p:cNvCxnSpPr>
              <a:cxnSpLocks/>
              <a:stCxn id="51" idx="4"/>
            </p:cNvCxnSpPr>
            <p:nvPr/>
          </p:nvCxnSpPr>
          <p:spPr>
            <a:xfrm flipH="1">
              <a:off x="4654973" y="4484673"/>
              <a:ext cx="838049" cy="846769"/>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Connector 69">
              <a:extLst>
                <a:ext uri="{FF2B5EF4-FFF2-40B4-BE49-F238E27FC236}">
                  <a16:creationId xmlns:a16="http://schemas.microsoft.com/office/drawing/2014/main" id="{E08FD49E-AF4A-2C66-68FC-BEA8CE54EC3A}"/>
                </a:ext>
              </a:extLst>
            </p:cNvPr>
            <p:cNvCxnSpPr>
              <a:cxnSpLocks/>
            </p:cNvCxnSpPr>
            <p:nvPr/>
          </p:nvCxnSpPr>
          <p:spPr>
            <a:xfrm flipH="1">
              <a:off x="4114972" y="5331442"/>
              <a:ext cx="540001" cy="0"/>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Teardrop 50">
              <a:extLst>
                <a:ext uri="{FF2B5EF4-FFF2-40B4-BE49-F238E27FC236}">
                  <a16:creationId xmlns:a16="http://schemas.microsoft.com/office/drawing/2014/main" id="{3902081E-394D-FB90-5D33-E5A0E7CEBE6F}"/>
                </a:ext>
              </a:extLst>
            </p:cNvPr>
            <p:cNvSpPr/>
            <p:nvPr/>
          </p:nvSpPr>
          <p:spPr>
            <a:xfrm rot="8271014">
              <a:off x="5297391" y="4454667"/>
              <a:ext cx="224684" cy="21079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63" name="Group 62">
              <a:extLst>
                <a:ext uri="{FF2B5EF4-FFF2-40B4-BE49-F238E27FC236}">
                  <a16:creationId xmlns:a16="http://schemas.microsoft.com/office/drawing/2014/main" id="{5CDAE95A-04B3-4D4B-C1F7-A6814081F765}"/>
                </a:ext>
              </a:extLst>
            </p:cNvPr>
            <p:cNvGrpSpPr/>
            <p:nvPr/>
          </p:nvGrpSpPr>
          <p:grpSpPr>
            <a:xfrm flipV="1">
              <a:off x="8529768" y="2568903"/>
              <a:ext cx="1472929" cy="442781"/>
              <a:chOff x="7293768" y="1466802"/>
              <a:chExt cx="1850232" cy="768911"/>
            </a:xfrm>
            <a:solidFill>
              <a:schemeClr val="bg1">
                <a:lumMod val="95000"/>
              </a:schemeClr>
            </a:solidFill>
          </p:grpSpPr>
          <p:cxnSp>
            <p:nvCxnSpPr>
              <p:cNvPr id="79" name="Straight Connector 78">
                <a:extLst>
                  <a:ext uri="{FF2B5EF4-FFF2-40B4-BE49-F238E27FC236}">
                    <a16:creationId xmlns:a16="http://schemas.microsoft.com/office/drawing/2014/main" id="{51D63F04-C187-B5C5-5184-E0DDD3CE2BDF}"/>
                  </a:ext>
                </a:extLst>
              </p:cNvPr>
              <p:cNvCxnSpPr/>
              <p:nvPr/>
            </p:nvCxnSpPr>
            <p:spPr>
              <a:xfrm flipV="1">
                <a:off x="7293768" y="1466802"/>
                <a:ext cx="504456" cy="768911"/>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0" name="Straight Connector 79">
                <a:extLst>
                  <a:ext uri="{FF2B5EF4-FFF2-40B4-BE49-F238E27FC236}">
                    <a16:creationId xmlns:a16="http://schemas.microsoft.com/office/drawing/2014/main" id="{1F7B9DC2-066E-F16B-1E3C-C656E16EC95B}"/>
                  </a:ext>
                </a:extLst>
              </p:cNvPr>
              <p:cNvCxnSpPr/>
              <p:nvPr/>
            </p:nvCxnSpPr>
            <p:spPr>
              <a:xfrm>
                <a:off x="7798224" y="1466802"/>
                <a:ext cx="1345776" cy="0"/>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52" name="Teardrop 51">
              <a:extLst>
                <a:ext uri="{FF2B5EF4-FFF2-40B4-BE49-F238E27FC236}">
                  <a16:creationId xmlns:a16="http://schemas.microsoft.com/office/drawing/2014/main" id="{63BF9888-9DF0-7ECA-7062-E2F6C9438546}"/>
                </a:ext>
              </a:extLst>
            </p:cNvPr>
            <p:cNvSpPr/>
            <p:nvPr/>
          </p:nvSpPr>
          <p:spPr>
            <a:xfrm rot="8271014">
              <a:off x="8455054" y="2372691"/>
              <a:ext cx="224684" cy="21079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Teardrop 53">
              <a:extLst>
                <a:ext uri="{FF2B5EF4-FFF2-40B4-BE49-F238E27FC236}">
                  <a16:creationId xmlns:a16="http://schemas.microsoft.com/office/drawing/2014/main" id="{11C2AD1E-344F-303A-E338-A81C2AFCEFEC}"/>
                </a:ext>
              </a:extLst>
            </p:cNvPr>
            <p:cNvSpPr/>
            <p:nvPr/>
          </p:nvSpPr>
          <p:spPr>
            <a:xfrm rot="8271014">
              <a:off x="6139205" y="3784532"/>
              <a:ext cx="224684" cy="21079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 name="Group 10">
              <a:extLst>
                <a:ext uri="{FF2B5EF4-FFF2-40B4-BE49-F238E27FC236}">
                  <a16:creationId xmlns:a16="http://schemas.microsoft.com/office/drawing/2014/main" id="{C0A37982-ABF1-42A2-8283-F807A4A83CB2}"/>
                </a:ext>
              </a:extLst>
            </p:cNvPr>
            <p:cNvGrpSpPr/>
            <p:nvPr/>
          </p:nvGrpSpPr>
          <p:grpSpPr>
            <a:xfrm>
              <a:off x="3008150" y="2653867"/>
              <a:ext cx="1926712" cy="484122"/>
              <a:chOff x="2424439" y="1922338"/>
              <a:chExt cx="2188001" cy="573143"/>
            </a:xfrm>
          </p:grpSpPr>
          <p:grpSp>
            <p:nvGrpSpPr>
              <p:cNvPr id="67" name="Group 66">
                <a:extLst>
                  <a:ext uri="{FF2B5EF4-FFF2-40B4-BE49-F238E27FC236}">
                    <a16:creationId xmlns:a16="http://schemas.microsoft.com/office/drawing/2014/main" id="{95B4B403-AAFA-298B-FBCC-5D662E5CF567}"/>
                  </a:ext>
                </a:extLst>
              </p:cNvPr>
              <p:cNvGrpSpPr/>
              <p:nvPr/>
            </p:nvGrpSpPr>
            <p:grpSpPr>
              <a:xfrm flipH="1">
                <a:off x="2424439" y="1922338"/>
                <a:ext cx="2155316" cy="476184"/>
                <a:chOff x="7293768" y="1466802"/>
                <a:chExt cx="1838610" cy="768911"/>
              </a:xfrm>
              <a:solidFill>
                <a:schemeClr val="bg1">
                  <a:lumMod val="95000"/>
                </a:schemeClr>
              </a:solidFill>
            </p:grpSpPr>
            <p:cxnSp>
              <p:nvCxnSpPr>
                <p:cNvPr id="71" name="Straight Connector 70">
                  <a:extLst>
                    <a:ext uri="{FF2B5EF4-FFF2-40B4-BE49-F238E27FC236}">
                      <a16:creationId xmlns:a16="http://schemas.microsoft.com/office/drawing/2014/main" id="{A90A7421-0A12-7613-A209-7206AFB4C191}"/>
                    </a:ext>
                  </a:extLst>
                </p:cNvPr>
                <p:cNvCxnSpPr/>
                <p:nvPr/>
              </p:nvCxnSpPr>
              <p:spPr>
                <a:xfrm flipV="1">
                  <a:off x="7293768" y="1466802"/>
                  <a:ext cx="504456" cy="768911"/>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2" name="Straight Connector 71">
                  <a:extLst>
                    <a:ext uri="{FF2B5EF4-FFF2-40B4-BE49-F238E27FC236}">
                      <a16:creationId xmlns:a16="http://schemas.microsoft.com/office/drawing/2014/main" id="{9C724E67-405C-B478-57DC-5192D11B7A3E}"/>
                    </a:ext>
                  </a:extLst>
                </p:cNvPr>
                <p:cNvCxnSpPr/>
                <p:nvPr/>
              </p:nvCxnSpPr>
              <p:spPr>
                <a:xfrm>
                  <a:off x="7786602" y="1466802"/>
                  <a:ext cx="1345776" cy="0"/>
                </a:xfrm>
                <a:prstGeom prst="line">
                  <a:avLst/>
                </a:prstGeom>
                <a:grp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55" name="Teardrop 54">
                <a:extLst>
                  <a:ext uri="{FF2B5EF4-FFF2-40B4-BE49-F238E27FC236}">
                    <a16:creationId xmlns:a16="http://schemas.microsoft.com/office/drawing/2014/main" id="{CA7FE353-1BC5-E494-5207-69C8D6F9B998}"/>
                  </a:ext>
                </a:extLst>
              </p:cNvPr>
              <p:cNvSpPr/>
              <p:nvPr/>
            </p:nvSpPr>
            <p:spPr>
              <a:xfrm rot="8271014">
                <a:off x="4357286" y="2245930"/>
                <a:ext cx="255154" cy="24955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91" name="Group 90">
              <a:extLst>
                <a:ext uri="{FF2B5EF4-FFF2-40B4-BE49-F238E27FC236}">
                  <a16:creationId xmlns:a16="http://schemas.microsoft.com/office/drawing/2014/main" id="{E0DEE441-9A23-476F-8D43-97BEDE75DC4E}"/>
                </a:ext>
              </a:extLst>
            </p:cNvPr>
            <p:cNvGrpSpPr/>
            <p:nvPr/>
          </p:nvGrpSpPr>
          <p:grpSpPr>
            <a:xfrm>
              <a:off x="1970184" y="2074741"/>
              <a:ext cx="1140829" cy="917964"/>
              <a:chOff x="1434969" y="123608"/>
              <a:chExt cx="1295541" cy="1086758"/>
            </a:xfrm>
          </p:grpSpPr>
          <p:pic>
            <p:nvPicPr>
              <p:cNvPr id="92" name="Picture 91">
                <a:extLst>
                  <a:ext uri="{FF2B5EF4-FFF2-40B4-BE49-F238E27FC236}">
                    <a16:creationId xmlns:a16="http://schemas.microsoft.com/office/drawing/2014/main" id="{8A141D19-E739-4483-9B41-43A3BECEB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149" y="123608"/>
                <a:ext cx="1086758" cy="1086758"/>
              </a:xfrm>
              <a:prstGeom prst="rect">
                <a:avLst/>
              </a:prstGeom>
            </p:spPr>
          </p:pic>
          <p:sp>
            <p:nvSpPr>
              <p:cNvPr id="93" name="TextBox 92">
                <a:extLst>
                  <a:ext uri="{FF2B5EF4-FFF2-40B4-BE49-F238E27FC236}">
                    <a16:creationId xmlns:a16="http://schemas.microsoft.com/office/drawing/2014/main" id="{30859BCC-F7CC-43F5-8E54-AA6E22C9A6B8}"/>
                  </a:ext>
                </a:extLst>
              </p:cNvPr>
              <p:cNvSpPr txBox="1"/>
              <p:nvPr/>
            </p:nvSpPr>
            <p:spPr>
              <a:xfrm>
                <a:off x="1434969" y="843980"/>
                <a:ext cx="1295541" cy="354140"/>
              </a:xfrm>
              <a:prstGeom prst="rect">
                <a:avLst/>
              </a:prstGeom>
              <a:noFill/>
            </p:spPr>
            <p:txBody>
              <a:bodyPr wrap="square" rtlCol="0">
                <a:spAutoFit/>
              </a:bodyPr>
              <a:lstStyle/>
              <a:p>
                <a:r>
                  <a:rPr lang="en-US" sz="800">
                    <a:latin typeface="Montserrat" panose="00000500000000000000" pitchFamily="2" charset="0"/>
                  </a:rPr>
                  <a:t>RAJSHAHI</a:t>
                </a:r>
              </a:p>
            </p:txBody>
          </p:sp>
        </p:grpSp>
        <p:grpSp>
          <p:nvGrpSpPr>
            <p:cNvPr id="97" name="Group 96">
              <a:extLst>
                <a:ext uri="{FF2B5EF4-FFF2-40B4-BE49-F238E27FC236}">
                  <a16:creationId xmlns:a16="http://schemas.microsoft.com/office/drawing/2014/main" id="{81925A53-A395-48A3-89FE-B0CA72CD9D88}"/>
                </a:ext>
              </a:extLst>
            </p:cNvPr>
            <p:cNvGrpSpPr/>
            <p:nvPr/>
          </p:nvGrpSpPr>
          <p:grpSpPr>
            <a:xfrm>
              <a:off x="9980226" y="2319808"/>
              <a:ext cx="1144720" cy="942298"/>
              <a:chOff x="1445149" y="123608"/>
              <a:chExt cx="1299959" cy="1115567"/>
            </a:xfrm>
          </p:grpSpPr>
          <p:pic>
            <p:nvPicPr>
              <p:cNvPr id="98" name="Picture 97">
                <a:extLst>
                  <a:ext uri="{FF2B5EF4-FFF2-40B4-BE49-F238E27FC236}">
                    <a16:creationId xmlns:a16="http://schemas.microsoft.com/office/drawing/2014/main" id="{4E71EF01-D356-4CA0-8D3C-F2CF52BFD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149" y="123608"/>
                <a:ext cx="1086758" cy="1086758"/>
              </a:xfrm>
              <a:prstGeom prst="rect">
                <a:avLst/>
              </a:prstGeom>
            </p:spPr>
          </p:pic>
          <p:sp>
            <p:nvSpPr>
              <p:cNvPr id="99" name="TextBox 98">
                <a:extLst>
                  <a:ext uri="{FF2B5EF4-FFF2-40B4-BE49-F238E27FC236}">
                    <a16:creationId xmlns:a16="http://schemas.microsoft.com/office/drawing/2014/main" id="{63A0057D-CFFC-407E-BE09-9928C4D756CE}"/>
                  </a:ext>
                </a:extLst>
              </p:cNvPr>
              <p:cNvSpPr txBox="1"/>
              <p:nvPr/>
            </p:nvSpPr>
            <p:spPr>
              <a:xfrm>
                <a:off x="1508238" y="859741"/>
                <a:ext cx="1236870" cy="379434"/>
              </a:xfrm>
              <a:prstGeom prst="rect">
                <a:avLst/>
              </a:prstGeom>
              <a:noFill/>
            </p:spPr>
            <p:txBody>
              <a:bodyPr wrap="square" rtlCol="0">
                <a:spAutoFit/>
              </a:bodyPr>
              <a:lstStyle/>
              <a:p>
                <a:r>
                  <a:rPr lang="en-US" sz="900">
                    <a:latin typeface="Montserrat" panose="00000500000000000000" pitchFamily="2" charset="0"/>
                  </a:rPr>
                  <a:t>SYLHET</a:t>
                </a:r>
              </a:p>
            </p:txBody>
          </p:sp>
        </p:grpSp>
        <p:grpSp>
          <p:nvGrpSpPr>
            <p:cNvPr id="103" name="Group 102">
              <a:extLst>
                <a:ext uri="{FF2B5EF4-FFF2-40B4-BE49-F238E27FC236}">
                  <a16:creationId xmlns:a16="http://schemas.microsoft.com/office/drawing/2014/main" id="{5701BDBA-D282-460E-B278-D922E82CEEDF}"/>
                </a:ext>
              </a:extLst>
            </p:cNvPr>
            <p:cNvGrpSpPr/>
            <p:nvPr/>
          </p:nvGrpSpPr>
          <p:grpSpPr>
            <a:xfrm>
              <a:off x="3182498" y="4674256"/>
              <a:ext cx="1144720" cy="948630"/>
              <a:chOff x="1445149" y="123608"/>
              <a:chExt cx="1299959" cy="1123063"/>
            </a:xfrm>
          </p:grpSpPr>
          <p:pic>
            <p:nvPicPr>
              <p:cNvPr id="104" name="Picture 103">
                <a:extLst>
                  <a:ext uri="{FF2B5EF4-FFF2-40B4-BE49-F238E27FC236}">
                    <a16:creationId xmlns:a16="http://schemas.microsoft.com/office/drawing/2014/main" id="{3D33D37B-D143-4743-BA53-BB4E6BABB9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149" y="123608"/>
                <a:ext cx="1086758" cy="1086758"/>
              </a:xfrm>
              <a:prstGeom prst="rect">
                <a:avLst/>
              </a:prstGeom>
            </p:spPr>
          </p:pic>
          <p:sp>
            <p:nvSpPr>
              <p:cNvPr id="105" name="TextBox 104">
                <a:extLst>
                  <a:ext uri="{FF2B5EF4-FFF2-40B4-BE49-F238E27FC236}">
                    <a16:creationId xmlns:a16="http://schemas.microsoft.com/office/drawing/2014/main" id="{2533F97E-41C7-4A23-8589-126277115163}"/>
                  </a:ext>
                </a:extLst>
              </p:cNvPr>
              <p:cNvSpPr txBox="1"/>
              <p:nvPr/>
            </p:nvSpPr>
            <p:spPr>
              <a:xfrm>
                <a:off x="1508238" y="867237"/>
                <a:ext cx="1236870" cy="379434"/>
              </a:xfrm>
              <a:prstGeom prst="rect">
                <a:avLst/>
              </a:prstGeom>
              <a:noFill/>
            </p:spPr>
            <p:txBody>
              <a:bodyPr wrap="square" rtlCol="0">
                <a:spAutoFit/>
              </a:bodyPr>
              <a:lstStyle/>
              <a:p>
                <a:r>
                  <a:rPr lang="en-US" sz="900">
                    <a:latin typeface="Montserrat" panose="00000500000000000000" pitchFamily="2" charset="0"/>
                  </a:rPr>
                  <a:t>KHULNA</a:t>
                </a:r>
              </a:p>
            </p:txBody>
          </p:sp>
        </p:grpSp>
        <p:cxnSp>
          <p:nvCxnSpPr>
            <p:cNvPr id="109" name="Straight Connector 108">
              <a:extLst>
                <a:ext uri="{FF2B5EF4-FFF2-40B4-BE49-F238E27FC236}">
                  <a16:creationId xmlns:a16="http://schemas.microsoft.com/office/drawing/2014/main" id="{3A843CA6-16CC-4C60-AC65-14A3930C2B4D}"/>
                </a:ext>
              </a:extLst>
            </p:cNvPr>
            <p:cNvCxnSpPr>
              <a:cxnSpLocks/>
            </p:cNvCxnSpPr>
            <p:nvPr/>
          </p:nvCxnSpPr>
          <p:spPr>
            <a:xfrm flipV="1">
              <a:off x="6751897" y="1008653"/>
              <a:ext cx="392779" cy="1261545"/>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0" name="Straight Connector 109">
              <a:extLst>
                <a:ext uri="{FF2B5EF4-FFF2-40B4-BE49-F238E27FC236}">
                  <a16:creationId xmlns:a16="http://schemas.microsoft.com/office/drawing/2014/main" id="{706C53B7-B2D1-4246-89EF-72DA4A2CA2D4}"/>
                </a:ext>
              </a:extLst>
            </p:cNvPr>
            <p:cNvCxnSpPr/>
            <p:nvPr/>
          </p:nvCxnSpPr>
          <p:spPr>
            <a:xfrm>
              <a:off x="7098577" y="1061229"/>
              <a:ext cx="1185065" cy="0"/>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1" name="Teardrop 110">
              <a:extLst>
                <a:ext uri="{FF2B5EF4-FFF2-40B4-BE49-F238E27FC236}">
                  <a16:creationId xmlns:a16="http://schemas.microsoft.com/office/drawing/2014/main" id="{3D30ACEE-E5A7-4CBD-BCE9-EF8D41293FB1}"/>
                </a:ext>
              </a:extLst>
            </p:cNvPr>
            <p:cNvSpPr/>
            <p:nvPr/>
          </p:nvSpPr>
          <p:spPr>
            <a:xfrm rot="8271014">
              <a:off x="6619571" y="2193671"/>
              <a:ext cx="224684" cy="210791"/>
            </a:xfrm>
            <a:prstGeom prst="teardrop">
              <a:avLst>
                <a:gd name="adj" fmla="val 11537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4" name="Group 113">
              <a:extLst>
                <a:ext uri="{FF2B5EF4-FFF2-40B4-BE49-F238E27FC236}">
                  <a16:creationId xmlns:a16="http://schemas.microsoft.com/office/drawing/2014/main" id="{9D43E9DA-9EEC-434F-8A63-74736C7C1063}"/>
                </a:ext>
              </a:extLst>
            </p:cNvPr>
            <p:cNvGrpSpPr/>
            <p:nvPr/>
          </p:nvGrpSpPr>
          <p:grpSpPr>
            <a:xfrm>
              <a:off x="8268312" y="415610"/>
              <a:ext cx="1484046" cy="920933"/>
              <a:chOff x="1431724" y="123608"/>
              <a:chExt cx="1685305" cy="1090273"/>
            </a:xfrm>
          </p:grpSpPr>
          <p:pic>
            <p:nvPicPr>
              <p:cNvPr id="115" name="Picture 114">
                <a:extLst>
                  <a:ext uri="{FF2B5EF4-FFF2-40B4-BE49-F238E27FC236}">
                    <a16:creationId xmlns:a16="http://schemas.microsoft.com/office/drawing/2014/main" id="{2FAE9F7E-8059-431A-9120-F99E14C42F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9755" y="123608"/>
                <a:ext cx="1086758" cy="1086758"/>
              </a:xfrm>
              <a:prstGeom prst="rect">
                <a:avLst/>
              </a:prstGeom>
            </p:spPr>
          </p:pic>
          <p:sp>
            <p:nvSpPr>
              <p:cNvPr id="116" name="TextBox 115">
                <a:extLst>
                  <a:ext uri="{FF2B5EF4-FFF2-40B4-BE49-F238E27FC236}">
                    <a16:creationId xmlns:a16="http://schemas.microsoft.com/office/drawing/2014/main" id="{87DAFAAA-721C-4AA8-A112-CB271C6682BE}"/>
                  </a:ext>
                </a:extLst>
              </p:cNvPr>
              <p:cNvSpPr txBox="1"/>
              <p:nvPr/>
            </p:nvSpPr>
            <p:spPr>
              <a:xfrm>
                <a:off x="1431724" y="859742"/>
                <a:ext cx="1685305" cy="354139"/>
              </a:xfrm>
              <a:prstGeom prst="rect">
                <a:avLst/>
              </a:prstGeom>
              <a:noFill/>
            </p:spPr>
            <p:txBody>
              <a:bodyPr wrap="square" rtlCol="0">
                <a:spAutoFit/>
              </a:bodyPr>
              <a:lstStyle/>
              <a:p>
                <a:r>
                  <a:rPr lang="en-US" sz="800">
                    <a:latin typeface="Montserrat" panose="00000500000000000000" pitchFamily="2" charset="0"/>
                  </a:rPr>
                  <a:t>MYMENSINGH</a:t>
                </a:r>
              </a:p>
            </p:txBody>
          </p:sp>
        </p:grpSp>
        <p:grpSp>
          <p:nvGrpSpPr>
            <p:cNvPr id="128" name="Group 127">
              <a:extLst>
                <a:ext uri="{FF2B5EF4-FFF2-40B4-BE49-F238E27FC236}">
                  <a16:creationId xmlns:a16="http://schemas.microsoft.com/office/drawing/2014/main" id="{C60386B9-9E0C-4370-AE9E-7FF59A9E7267}"/>
                </a:ext>
              </a:extLst>
            </p:cNvPr>
            <p:cNvGrpSpPr/>
            <p:nvPr/>
          </p:nvGrpSpPr>
          <p:grpSpPr>
            <a:xfrm flipH="1">
              <a:off x="6348913" y="3927225"/>
              <a:ext cx="3176933" cy="414988"/>
              <a:chOff x="6624897" y="2072913"/>
              <a:chExt cx="1544445" cy="1261545"/>
            </a:xfrm>
          </p:grpSpPr>
          <p:cxnSp>
            <p:nvCxnSpPr>
              <p:cNvPr id="126" name="Straight Connector 125">
                <a:extLst>
                  <a:ext uri="{FF2B5EF4-FFF2-40B4-BE49-F238E27FC236}">
                    <a16:creationId xmlns:a16="http://schemas.microsoft.com/office/drawing/2014/main" id="{BDD520E9-52B3-4F7F-B497-C917C079C11B}"/>
                  </a:ext>
                </a:extLst>
              </p:cNvPr>
              <p:cNvCxnSpPr>
                <a:cxnSpLocks/>
              </p:cNvCxnSpPr>
              <p:nvPr/>
            </p:nvCxnSpPr>
            <p:spPr>
              <a:xfrm flipV="1">
                <a:off x="6624897" y="2072913"/>
                <a:ext cx="392779" cy="1261545"/>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7" name="Straight Connector 126">
                <a:extLst>
                  <a:ext uri="{FF2B5EF4-FFF2-40B4-BE49-F238E27FC236}">
                    <a16:creationId xmlns:a16="http://schemas.microsoft.com/office/drawing/2014/main" id="{10ED5E26-FE99-4C8F-8938-B6F1F845B51A}"/>
                  </a:ext>
                </a:extLst>
              </p:cNvPr>
              <p:cNvCxnSpPr/>
              <p:nvPr/>
            </p:nvCxnSpPr>
            <p:spPr>
              <a:xfrm>
                <a:off x="6984277" y="2100089"/>
                <a:ext cx="1185065" cy="0"/>
              </a:xfrm>
              <a:prstGeom prst="line">
                <a:avLst/>
              </a:prstGeom>
              <a:solidFill>
                <a:schemeClr val="bg1">
                  <a:lumMod val="95000"/>
                </a:schemeClr>
              </a:solidFill>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29" name="Group 128">
              <a:extLst>
                <a:ext uri="{FF2B5EF4-FFF2-40B4-BE49-F238E27FC236}">
                  <a16:creationId xmlns:a16="http://schemas.microsoft.com/office/drawing/2014/main" id="{86F7CA68-9086-48C0-9090-D40A72B0A009}"/>
                </a:ext>
              </a:extLst>
            </p:cNvPr>
            <p:cNvGrpSpPr/>
            <p:nvPr/>
          </p:nvGrpSpPr>
          <p:grpSpPr>
            <a:xfrm>
              <a:off x="9535726" y="3693948"/>
              <a:ext cx="1144720" cy="942298"/>
              <a:chOff x="1445149" y="123608"/>
              <a:chExt cx="1299959" cy="1115567"/>
            </a:xfrm>
          </p:grpSpPr>
          <p:pic>
            <p:nvPicPr>
              <p:cNvPr id="130" name="Picture 129">
                <a:extLst>
                  <a:ext uri="{FF2B5EF4-FFF2-40B4-BE49-F238E27FC236}">
                    <a16:creationId xmlns:a16="http://schemas.microsoft.com/office/drawing/2014/main" id="{5F98CA1B-5875-4118-B9BC-5CBE2C0510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5149" y="123608"/>
                <a:ext cx="1086758" cy="1086758"/>
              </a:xfrm>
              <a:prstGeom prst="rect">
                <a:avLst/>
              </a:prstGeom>
            </p:spPr>
          </p:pic>
          <p:sp>
            <p:nvSpPr>
              <p:cNvPr id="131" name="TextBox 130">
                <a:extLst>
                  <a:ext uri="{FF2B5EF4-FFF2-40B4-BE49-F238E27FC236}">
                    <a16:creationId xmlns:a16="http://schemas.microsoft.com/office/drawing/2014/main" id="{209E31CA-BDA2-450D-9256-ADA789316863}"/>
                  </a:ext>
                </a:extLst>
              </p:cNvPr>
              <p:cNvSpPr txBox="1"/>
              <p:nvPr/>
            </p:nvSpPr>
            <p:spPr>
              <a:xfrm>
                <a:off x="1508238" y="859741"/>
                <a:ext cx="1236870" cy="379434"/>
              </a:xfrm>
              <a:prstGeom prst="rect">
                <a:avLst/>
              </a:prstGeom>
              <a:noFill/>
            </p:spPr>
            <p:txBody>
              <a:bodyPr wrap="square" rtlCol="0">
                <a:spAutoFit/>
              </a:bodyPr>
              <a:lstStyle/>
              <a:p>
                <a:r>
                  <a:rPr lang="en-US" sz="900">
                    <a:latin typeface="Montserrat" panose="00000500000000000000" pitchFamily="2" charset="0"/>
                  </a:rPr>
                  <a:t>DHAKA</a:t>
                </a:r>
              </a:p>
            </p:txBody>
          </p:sp>
        </p:grpSp>
      </p:grpSp>
      <p:sp>
        <p:nvSpPr>
          <p:cNvPr id="77" name="Textbos: Create Your">
            <a:extLst>
              <a:ext uri="{FF2B5EF4-FFF2-40B4-BE49-F238E27FC236}">
                <a16:creationId xmlns:a16="http://schemas.microsoft.com/office/drawing/2014/main" id="{B184DC0A-17A9-41AF-8C15-2A5FCB9F7DA9}"/>
              </a:ext>
            </a:extLst>
          </p:cNvPr>
          <p:cNvSpPr txBox="1"/>
          <p:nvPr/>
        </p:nvSpPr>
        <p:spPr>
          <a:xfrm>
            <a:off x="3959254" y="625781"/>
            <a:ext cx="2983308" cy="29072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1200" cap="none" spc="300" normalizeH="0" baseline="0" noProof="0">
                <a:ln>
                  <a:noFill/>
                </a:ln>
                <a:solidFill>
                  <a:schemeClr val="tx1"/>
                </a:solidFill>
                <a:effectLst/>
                <a:uLnTx/>
                <a:uFillTx/>
                <a:latin typeface="Montserrat" panose="020B0604020202020204" pitchFamily="2" charset="0"/>
              </a:rPr>
              <a:t>GEOGRAPHICAL</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78" name="Textbos: Create Your">
            <a:extLst>
              <a:ext uri="{FF2B5EF4-FFF2-40B4-BE49-F238E27FC236}">
                <a16:creationId xmlns:a16="http://schemas.microsoft.com/office/drawing/2014/main" id="{BBBBE958-4F29-4AD7-9D86-CA866249C9C9}"/>
              </a:ext>
            </a:extLst>
          </p:cNvPr>
          <p:cNvSpPr txBox="1"/>
          <p:nvPr/>
        </p:nvSpPr>
        <p:spPr>
          <a:xfrm>
            <a:off x="7343368" y="582308"/>
            <a:ext cx="2236779"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a:solidFill>
                  <a:schemeClr val="tx1"/>
                </a:solidFill>
                <a:latin typeface="Montserrat" panose="020B0604020202020204" pitchFamily="2" charset="0"/>
              </a:rPr>
              <a:t>DEMOGRAPHICAL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81" name="Textbos: Create Your">
            <a:extLst>
              <a:ext uri="{FF2B5EF4-FFF2-40B4-BE49-F238E27FC236}">
                <a16:creationId xmlns:a16="http://schemas.microsoft.com/office/drawing/2014/main" id="{9C330017-4C07-4CD0-AFAE-060AB13CF3C3}"/>
              </a:ext>
            </a:extLst>
          </p:cNvPr>
          <p:cNvSpPr txBox="1"/>
          <p:nvPr/>
        </p:nvSpPr>
        <p:spPr>
          <a:xfrm>
            <a:off x="10162952" y="566939"/>
            <a:ext cx="24378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i="0" u="none" strike="noStrike" kern="1200" cap="none" spc="300" normalizeH="0" baseline="0" noProof="0">
                <a:ln>
                  <a:noFill/>
                </a:ln>
                <a:solidFill>
                  <a:schemeClr val="tx1"/>
                </a:solidFill>
                <a:uLnTx/>
                <a:uFillTx/>
                <a:latin typeface="Montserrat" panose="00000500000000000000" pitchFamily="2" charset="0"/>
              </a:rPr>
              <a:t>PSYCHOLOGICAL</a:t>
            </a:r>
            <a:endParaRPr kumimoji="0" lang="en-US" sz="1000" b="1" i="0" u="none" strike="noStrike" kern="1200" cap="none" spc="300" normalizeH="0" baseline="0" noProof="0" dirty="0">
              <a:ln>
                <a:noFill/>
              </a:ln>
              <a:solidFill>
                <a:schemeClr val="tx1"/>
              </a:solidFill>
              <a:effectLst/>
              <a:uLnTx/>
              <a:uFillTx/>
              <a:latin typeface="Montserrat" panose="00000500000000000000" pitchFamily="2" charset="0"/>
            </a:endParaRPr>
          </a:p>
        </p:txBody>
      </p:sp>
      <p:sp>
        <p:nvSpPr>
          <p:cNvPr id="82" name="Textbos: Create Your">
            <a:extLst>
              <a:ext uri="{FF2B5EF4-FFF2-40B4-BE49-F238E27FC236}">
                <a16:creationId xmlns:a16="http://schemas.microsoft.com/office/drawing/2014/main" id="{F7C7E024-6CE3-42B2-8F2F-F95FA30B5241}"/>
              </a:ext>
            </a:extLst>
          </p:cNvPr>
          <p:cNvSpPr txBox="1"/>
          <p:nvPr/>
        </p:nvSpPr>
        <p:spPr>
          <a:xfrm>
            <a:off x="13118775" y="5669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DIFFERENTIATION</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83" name="!! arrow 3" descr="Caret Right with solid fill">
            <a:extLst>
              <a:ext uri="{FF2B5EF4-FFF2-40B4-BE49-F238E27FC236}">
                <a16:creationId xmlns:a16="http://schemas.microsoft.com/office/drawing/2014/main" id="{C398D543-EBBD-4D0F-B0B0-8D7957561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15443" y="583189"/>
            <a:ext cx="356101" cy="356101"/>
          </a:xfrm>
          <a:prstGeom prst="rect">
            <a:avLst/>
          </a:prstGeom>
        </p:spPr>
      </p:pic>
      <p:pic>
        <p:nvPicPr>
          <p:cNvPr id="84" name="!! arrow 3" descr="Caret Right with solid fill">
            <a:extLst>
              <a:ext uri="{FF2B5EF4-FFF2-40B4-BE49-F238E27FC236}">
                <a16:creationId xmlns:a16="http://schemas.microsoft.com/office/drawing/2014/main" id="{792063D2-3C4E-409A-89FD-61657E2FB97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06534" y="583189"/>
            <a:ext cx="356101" cy="356101"/>
          </a:xfrm>
          <a:prstGeom prst="rect">
            <a:avLst/>
          </a:prstGeom>
        </p:spPr>
      </p:pic>
      <p:pic>
        <p:nvPicPr>
          <p:cNvPr id="85" name="!! arrow 3" descr="Caret Right with solid fill">
            <a:extLst>
              <a:ext uri="{FF2B5EF4-FFF2-40B4-BE49-F238E27FC236}">
                <a16:creationId xmlns:a16="http://schemas.microsoft.com/office/drawing/2014/main" id="{10C3E154-1EFC-41A4-9036-9CF4260E60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375134" y="570489"/>
            <a:ext cx="356101" cy="356101"/>
          </a:xfrm>
          <a:prstGeom prst="rect">
            <a:avLst/>
          </a:prstGeom>
        </p:spPr>
      </p:pic>
      <p:sp>
        <p:nvSpPr>
          <p:cNvPr id="86" name="Textbos: Create Your">
            <a:extLst>
              <a:ext uri="{FF2B5EF4-FFF2-40B4-BE49-F238E27FC236}">
                <a16:creationId xmlns:a16="http://schemas.microsoft.com/office/drawing/2014/main" id="{024A6BFD-3300-4B7D-8DE3-24553E8C6AF7}"/>
              </a:ext>
            </a:extLst>
          </p:cNvPr>
          <p:cNvSpPr txBox="1"/>
          <p:nvPr/>
        </p:nvSpPr>
        <p:spPr>
          <a:xfrm>
            <a:off x="15814685" y="566938"/>
            <a:ext cx="1705007"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POSITIONING</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87" name="Textbos: Create Your">
            <a:extLst>
              <a:ext uri="{FF2B5EF4-FFF2-40B4-BE49-F238E27FC236}">
                <a16:creationId xmlns:a16="http://schemas.microsoft.com/office/drawing/2014/main" id="{08524195-D9D1-468B-9303-43161C51E0AD}"/>
              </a:ext>
            </a:extLst>
          </p:cNvPr>
          <p:cNvSpPr txBox="1"/>
          <p:nvPr/>
        </p:nvSpPr>
        <p:spPr>
          <a:xfrm>
            <a:off x="6134624" y="189494"/>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88" name="!! arrow 3" descr="Caret Right with solid fill">
            <a:extLst>
              <a:ext uri="{FF2B5EF4-FFF2-40B4-BE49-F238E27FC236}">
                <a16:creationId xmlns:a16="http://schemas.microsoft.com/office/drawing/2014/main" id="{9EBD5594-8B25-4A98-9285-00FAEC3698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8707" y="609400"/>
            <a:ext cx="356101" cy="356101"/>
          </a:xfrm>
          <a:prstGeom prst="rect">
            <a:avLst/>
          </a:prstGeom>
        </p:spPr>
      </p:pic>
      <p:sp>
        <p:nvSpPr>
          <p:cNvPr id="94" name="Textbos: Create Your">
            <a:extLst>
              <a:ext uri="{FF2B5EF4-FFF2-40B4-BE49-F238E27FC236}">
                <a16:creationId xmlns:a16="http://schemas.microsoft.com/office/drawing/2014/main" id="{1364E73A-BB46-4793-B729-87682230A8E4}"/>
              </a:ext>
            </a:extLst>
          </p:cNvPr>
          <p:cNvSpPr txBox="1"/>
          <p:nvPr/>
        </p:nvSpPr>
        <p:spPr>
          <a:xfrm flipV="1">
            <a:off x="3943559" y="459434"/>
            <a:ext cx="356101"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95" name="TextBox 94">
            <a:extLst>
              <a:ext uri="{FF2B5EF4-FFF2-40B4-BE49-F238E27FC236}">
                <a16:creationId xmlns:a16="http://schemas.microsoft.com/office/drawing/2014/main" id="{E011F362-B8A9-45E1-9BAB-4225C771B50B}"/>
              </a:ext>
            </a:extLst>
          </p:cNvPr>
          <p:cNvSpPr txBox="1"/>
          <p:nvPr/>
        </p:nvSpPr>
        <p:spPr>
          <a:xfrm>
            <a:off x="6690780" y="2957003"/>
            <a:ext cx="5340310" cy="1384995"/>
          </a:xfrm>
          <a:prstGeom prst="rect">
            <a:avLst/>
          </a:prstGeom>
          <a:noFill/>
        </p:spPr>
        <p:txBody>
          <a:bodyPr wrap="square" rtlCol="0">
            <a:spAutoFit/>
          </a:bodyPr>
          <a:lstStyle/>
          <a:p>
            <a:pPr algn="ctr"/>
            <a:r>
              <a:rPr lang="en-US" sz="2800" b="0" i="0" dirty="0">
                <a:effectLst/>
                <a:cs typeface="Arial" panose="020B0604020202020204" pitchFamily="34" charset="0"/>
              </a:rPr>
              <a:t>Aarong Taaga targets urban areas in Bangladesh with outlets in major cities and divisional headquarters.</a:t>
            </a:r>
            <a:endParaRPr lang="en-US" sz="2800" dirty="0">
              <a:cs typeface="Arial" panose="020B0604020202020204" pitchFamily="34" charset="0"/>
            </a:endParaRPr>
          </a:p>
        </p:txBody>
      </p:sp>
    </p:spTree>
    <p:extLst>
      <p:ext uri="{BB962C8B-B14F-4D97-AF65-F5344CB8AC3E}">
        <p14:creationId xmlns:p14="http://schemas.microsoft.com/office/powerpoint/2010/main" val="1383586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A95D18-87ED-441C-ACAD-AA7069281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9953" y="1134223"/>
            <a:ext cx="5205050" cy="5428580"/>
          </a:xfrm>
          <a:prstGeom prst="rect">
            <a:avLst/>
          </a:prstGeom>
        </p:spPr>
      </p:pic>
      <p:sp>
        <p:nvSpPr>
          <p:cNvPr id="11" name="TextBox 10">
            <a:extLst>
              <a:ext uri="{FF2B5EF4-FFF2-40B4-BE49-F238E27FC236}">
                <a16:creationId xmlns:a16="http://schemas.microsoft.com/office/drawing/2014/main" id="{54024F7F-F886-4B38-A3B6-55BF2BED61DC}"/>
              </a:ext>
            </a:extLst>
          </p:cNvPr>
          <p:cNvSpPr txBox="1"/>
          <p:nvPr/>
        </p:nvSpPr>
        <p:spPr>
          <a:xfrm>
            <a:off x="1442381" y="5436109"/>
            <a:ext cx="664143" cy="369332"/>
          </a:xfrm>
          <a:prstGeom prst="rect">
            <a:avLst/>
          </a:prstGeom>
          <a:noFill/>
        </p:spPr>
        <p:txBody>
          <a:bodyPr wrap="square" rtlCol="0">
            <a:spAutoFit/>
          </a:bodyPr>
          <a:lstStyle/>
          <a:p>
            <a:r>
              <a:rPr lang="en-US">
                <a:solidFill>
                  <a:schemeClr val="bg1"/>
                </a:solidFill>
              </a:rPr>
              <a:t>Age   </a:t>
            </a:r>
          </a:p>
        </p:txBody>
      </p:sp>
      <p:sp>
        <p:nvSpPr>
          <p:cNvPr id="86" name="TextBox 85">
            <a:extLst>
              <a:ext uri="{FF2B5EF4-FFF2-40B4-BE49-F238E27FC236}">
                <a16:creationId xmlns:a16="http://schemas.microsoft.com/office/drawing/2014/main" id="{35933566-BB2D-4487-A0C0-31A045AF65C6}"/>
              </a:ext>
            </a:extLst>
          </p:cNvPr>
          <p:cNvSpPr txBox="1"/>
          <p:nvPr/>
        </p:nvSpPr>
        <p:spPr>
          <a:xfrm>
            <a:off x="2987510" y="5428580"/>
            <a:ext cx="1055101" cy="369332"/>
          </a:xfrm>
          <a:prstGeom prst="rect">
            <a:avLst/>
          </a:prstGeom>
          <a:noFill/>
        </p:spPr>
        <p:txBody>
          <a:bodyPr wrap="square" rtlCol="0">
            <a:spAutoFit/>
          </a:bodyPr>
          <a:lstStyle/>
          <a:p>
            <a:r>
              <a:rPr lang="en-US">
                <a:solidFill>
                  <a:schemeClr val="bg1"/>
                </a:solidFill>
              </a:rPr>
              <a:t>Gender</a:t>
            </a:r>
          </a:p>
        </p:txBody>
      </p:sp>
      <p:sp>
        <p:nvSpPr>
          <p:cNvPr id="87" name="TextBox 86">
            <a:extLst>
              <a:ext uri="{FF2B5EF4-FFF2-40B4-BE49-F238E27FC236}">
                <a16:creationId xmlns:a16="http://schemas.microsoft.com/office/drawing/2014/main" id="{3FDA8071-8445-49B0-B8FD-6F76051EB729}"/>
              </a:ext>
            </a:extLst>
          </p:cNvPr>
          <p:cNvSpPr txBox="1"/>
          <p:nvPr/>
        </p:nvSpPr>
        <p:spPr>
          <a:xfrm>
            <a:off x="4635497" y="5434324"/>
            <a:ext cx="664143" cy="369332"/>
          </a:xfrm>
          <a:prstGeom prst="rect">
            <a:avLst/>
          </a:prstGeom>
          <a:noFill/>
        </p:spPr>
        <p:txBody>
          <a:bodyPr wrap="square" rtlCol="0">
            <a:spAutoFit/>
          </a:bodyPr>
          <a:lstStyle/>
          <a:p>
            <a:r>
              <a:rPr lang="en-US">
                <a:solidFill>
                  <a:schemeClr val="bg1"/>
                </a:solidFill>
              </a:rPr>
              <a:t>Age   </a:t>
            </a:r>
          </a:p>
        </p:txBody>
      </p:sp>
      <p:sp>
        <p:nvSpPr>
          <p:cNvPr id="3" name="TextBox 2">
            <a:extLst>
              <a:ext uri="{FF2B5EF4-FFF2-40B4-BE49-F238E27FC236}">
                <a16:creationId xmlns:a16="http://schemas.microsoft.com/office/drawing/2014/main" id="{6E35BEFD-4E71-4052-BF7F-AC8DC23CDF98}"/>
              </a:ext>
            </a:extLst>
          </p:cNvPr>
          <p:cNvSpPr txBox="1"/>
          <p:nvPr/>
        </p:nvSpPr>
        <p:spPr>
          <a:xfrm>
            <a:off x="551803" y="2762451"/>
            <a:ext cx="5817249" cy="1815882"/>
          </a:xfrm>
          <a:prstGeom prst="rect">
            <a:avLst/>
          </a:prstGeom>
          <a:noFill/>
        </p:spPr>
        <p:txBody>
          <a:bodyPr wrap="square" rtlCol="0">
            <a:spAutoFit/>
          </a:bodyPr>
          <a:lstStyle/>
          <a:p>
            <a:pPr algn="ctr"/>
            <a:r>
              <a:rPr lang="en-US" sz="2800" b="0" i="0" dirty="0">
                <a:effectLst/>
              </a:rPr>
              <a:t>Aarong </a:t>
            </a:r>
            <a:r>
              <a:rPr lang="en-US" sz="2800" b="0" i="0" dirty="0" err="1">
                <a:effectLst/>
              </a:rPr>
              <a:t>Taaga's</a:t>
            </a:r>
            <a:r>
              <a:rPr lang="en-US" sz="2800" b="0" i="0" dirty="0">
                <a:effectLst/>
              </a:rPr>
              <a:t> main customers are women aged 18-35 with moderate to high incomes, regardless of religious background.</a:t>
            </a:r>
            <a:endParaRPr lang="en-US" sz="2800" dirty="0"/>
          </a:p>
        </p:txBody>
      </p:sp>
      <p:sp>
        <p:nvSpPr>
          <p:cNvPr id="14" name="Textbos: Create Your">
            <a:extLst>
              <a:ext uri="{FF2B5EF4-FFF2-40B4-BE49-F238E27FC236}">
                <a16:creationId xmlns:a16="http://schemas.microsoft.com/office/drawing/2014/main" id="{39B94850-297D-4C9A-ACA3-6F59B2E0AD54}"/>
              </a:ext>
            </a:extLst>
          </p:cNvPr>
          <p:cNvSpPr txBox="1"/>
          <p:nvPr/>
        </p:nvSpPr>
        <p:spPr>
          <a:xfrm>
            <a:off x="710215" y="713871"/>
            <a:ext cx="2983308"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GEOGRAPHICAL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16" name="Textbos: Create Your">
            <a:extLst>
              <a:ext uri="{FF2B5EF4-FFF2-40B4-BE49-F238E27FC236}">
                <a16:creationId xmlns:a16="http://schemas.microsoft.com/office/drawing/2014/main" id="{2CC3FA03-92C6-458F-83DB-4854E14C6048}"/>
              </a:ext>
            </a:extLst>
          </p:cNvPr>
          <p:cNvSpPr txBox="1"/>
          <p:nvPr/>
        </p:nvSpPr>
        <p:spPr>
          <a:xfrm>
            <a:off x="9326378" y="579639"/>
            <a:ext cx="1821518" cy="338104"/>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b="1">
                <a:solidFill>
                  <a:schemeClr val="tx1"/>
                </a:solidFill>
                <a:effectLst/>
                <a:latin typeface="Montserrat" panose="00000500000000000000" pitchFamily="2" charset="0"/>
                <a:ea typeface="Calibri" panose="020F0502020204030204" pitchFamily="34" charset="0"/>
              </a:rPr>
              <a:t>BEHAVIOURAL</a:t>
            </a:r>
            <a:endParaRPr kumimoji="0" lang="en-US" sz="1000" b="1" i="0" u="none" strike="noStrike" kern="1200" cap="none" spc="300" normalizeH="0" baseline="0" noProof="0" dirty="0">
              <a:ln>
                <a:noFill/>
              </a:ln>
              <a:solidFill>
                <a:schemeClr val="tx1"/>
              </a:solidFill>
              <a:effectLst/>
              <a:uLnTx/>
              <a:uFillTx/>
              <a:latin typeface="Montserrat" panose="00000500000000000000" pitchFamily="2" charset="0"/>
            </a:endParaRPr>
          </a:p>
        </p:txBody>
      </p:sp>
      <p:sp>
        <p:nvSpPr>
          <p:cNvPr id="17" name="Textbos: Create Your">
            <a:extLst>
              <a:ext uri="{FF2B5EF4-FFF2-40B4-BE49-F238E27FC236}">
                <a16:creationId xmlns:a16="http://schemas.microsoft.com/office/drawing/2014/main" id="{BEB42DCC-85E3-445A-B6A2-EAF04AE1E4D6}"/>
              </a:ext>
            </a:extLst>
          </p:cNvPr>
          <p:cNvSpPr txBox="1"/>
          <p:nvPr/>
        </p:nvSpPr>
        <p:spPr>
          <a:xfrm>
            <a:off x="11601265" y="5796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a:solidFill>
                  <a:schemeClr val="tx1"/>
                </a:solidFill>
                <a:latin typeface="Montserrat" panose="020B0604020202020204" pitchFamily="2" charset="0"/>
              </a:rPr>
              <a:t>TAREGT MARKET</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18" name="!! arrow 3" descr="Caret Right with solid fill">
            <a:extLst>
              <a:ext uri="{FF2B5EF4-FFF2-40B4-BE49-F238E27FC236}">
                <a16:creationId xmlns:a16="http://schemas.microsoft.com/office/drawing/2014/main" id="{B6B86F1F-F9BC-491E-AAF9-5D5D62DCDD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34513" y="595889"/>
            <a:ext cx="356101" cy="356101"/>
          </a:xfrm>
          <a:prstGeom prst="rect">
            <a:avLst/>
          </a:prstGeom>
        </p:spPr>
      </p:pic>
      <p:pic>
        <p:nvPicPr>
          <p:cNvPr id="19" name="!! arrow 3" descr="Caret Right with solid fill">
            <a:extLst>
              <a:ext uri="{FF2B5EF4-FFF2-40B4-BE49-F238E27FC236}">
                <a16:creationId xmlns:a16="http://schemas.microsoft.com/office/drawing/2014/main" id="{B0DD8A45-0DDB-4631-85C1-95B5198606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89024" y="595889"/>
            <a:ext cx="356101" cy="356101"/>
          </a:xfrm>
          <a:prstGeom prst="rect">
            <a:avLst/>
          </a:prstGeom>
        </p:spPr>
      </p:pic>
      <p:pic>
        <p:nvPicPr>
          <p:cNvPr id="20" name="!! arrow 3" descr="Caret Right with solid fill">
            <a:extLst>
              <a:ext uri="{FF2B5EF4-FFF2-40B4-BE49-F238E27FC236}">
                <a16:creationId xmlns:a16="http://schemas.microsoft.com/office/drawing/2014/main" id="{CFF62867-9430-42C4-9EFF-0C657F43C3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857624" y="583189"/>
            <a:ext cx="356101" cy="356101"/>
          </a:xfrm>
          <a:prstGeom prst="rect">
            <a:avLst/>
          </a:prstGeom>
        </p:spPr>
      </p:pic>
      <p:sp>
        <p:nvSpPr>
          <p:cNvPr id="21" name="Textbos: Create Your">
            <a:extLst>
              <a:ext uri="{FF2B5EF4-FFF2-40B4-BE49-F238E27FC236}">
                <a16:creationId xmlns:a16="http://schemas.microsoft.com/office/drawing/2014/main" id="{97FC4D85-1A26-474F-85F2-F4D07021313A}"/>
              </a:ext>
            </a:extLst>
          </p:cNvPr>
          <p:cNvSpPr txBox="1"/>
          <p:nvPr/>
        </p:nvSpPr>
        <p:spPr>
          <a:xfrm>
            <a:off x="14297175" y="579638"/>
            <a:ext cx="1705007"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2" name="Textbos: Create Your">
            <a:extLst>
              <a:ext uri="{FF2B5EF4-FFF2-40B4-BE49-F238E27FC236}">
                <a16:creationId xmlns:a16="http://schemas.microsoft.com/office/drawing/2014/main" id="{DA3FB174-8B92-40B0-A33C-CF3399173674}"/>
              </a:ext>
            </a:extLst>
          </p:cNvPr>
          <p:cNvSpPr txBox="1"/>
          <p:nvPr/>
        </p:nvSpPr>
        <p:spPr>
          <a:xfrm>
            <a:off x="6668025" y="202194"/>
            <a:ext cx="234664"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23" name="!! arrow 3" descr="Caret Right with solid fill">
            <a:extLst>
              <a:ext uri="{FF2B5EF4-FFF2-40B4-BE49-F238E27FC236}">
                <a16:creationId xmlns:a16="http://schemas.microsoft.com/office/drawing/2014/main" id="{695A6013-8D2A-4F46-999A-05E02C835B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74702" y="609400"/>
            <a:ext cx="356101" cy="356101"/>
          </a:xfrm>
          <a:prstGeom prst="rect">
            <a:avLst/>
          </a:prstGeom>
        </p:spPr>
      </p:pic>
      <p:pic>
        <p:nvPicPr>
          <p:cNvPr id="24" name="!! arrow 3" descr="Caret Right with solid fill">
            <a:extLst>
              <a:ext uri="{FF2B5EF4-FFF2-40B4-BE49-F238E27FC236}">
                <a16:creationId xmlns:a16="http://schemas.microsoft.com/office/drawing/2014/main" id="{6AAF3358-1C3A-43A3-9317-6E15826808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85980" y="627507"/>
            <a:ext cx="356101" cy="356101"/>
          </a:xfrm>
          <a:prstGeom prst="rect">
            <a:avLst/>
          </a:prstGeom>
        </p:spPr>
      </p:pic>
      <p:sp>
        <p:nvSpPr>
          <p:cNvPr id="25" name="Textbos: Create Your">
            <a:extLst>
              <a:ext uri="{FF2B5EF4-FFF2-40B4-BE49-F238E27FC236}">
                <a16:creationId xmlns:a16="http://schemas.microsoft.com/office/drawing/2014/main" id="{B10870FE-DE33-4502-8179-8A9409BD8F26}"/>
              </a:ext>
            </a:extLst>
          </p:cNvPr>
          <p:cNvSpPr txBox="1"/>
          <p:nvPr/>
        </p:nvSpPr>
        <p:spPr>
          <a:xfrm flipV="1">
            <a:off x="3704064" y="510234"/>
            <a:ext cx="474567"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7" name="Textbos: Create Your">
            <a:extLst>
              <a:ext uri="{FF2B5EF4-FFF2-40B4-BE49-F238E27FC236}">
                <a16:creationId xmlns:a16="http://schemas.microsoft.com/office/drawing/2014/main" id="{BE97E344-B7D1-430D-A7E5-11ABA952EA5B}"/>
              </a:ext>
            </a:extLst>
          </p:cNvPr>
          <p:cNvSpPr txBox="1"/>
          <p:nvPr/>
        </p:nvSpPr>
        <p:spPr>
          <a:xfrm>
            <a:off x="3917104" y="667395"/>
            <a:ext cx="2983308" cy="29072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1200" cap="none" spc="300" normalizeH="0" baseline="0" noProof="0">
                <a:ln>
                  <a:noFill/>
                </a:ln>
                <a:solidFill>
                  <a:schemeClr val="tx1"/>
                </a:solidFill>
                <a:effectLst/>
                <a:uLnTx/>
                <a:uFillTx/>
                <a:latin typeface="Montserrat" panose="020B0604020202020204" pitchFamily="2" charset="0"/>
              </a:rPr>
              <a:t>DEMOGRAPHICAL</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3" name="Textbos: Create Your">
            <a:extLst>
              <a:ext uri="{FF2B5EF4-FFF2-40B4-BE49-F238E27FC236}">
                <a16:creationId xmlns:a16="http://schemas.microsoft.com/office/drawing/2014/main" id="{E25FC101-C8A5-AC03-EA16-EF1D3FDED19E}"/>
              </a:ext>
            </a:extLst>
          </p:cNvPr>
          <p:cNvSpPr txBox="1"/>
          <p:nvPr/>
        </p:nvSpPr>
        <p:spPr>
          <a:xfrm>
            <a:off x="7087240" y="676580"/>
            <a:ext cx="2188103" cy="241163"/>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PSYCHOLOGICAL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Tree>
    <p:extLst>
      <p:ext uri="{BB962C8B-B14F-4D97-AF65-F5344CB8AC3E}">
        <p14:creationId xmlns:p14="http://schemas.microsoft.com/office/powerpoint/2010/main" val="3119943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E73CCF-D6EB-414F-B7BF-4617ED6404DF}"/>
              </a:ext>
            </a:extLst>
          </p:cNvPr>
          <p:cNvPicPr>
            <a:picLocks noChangeAspect="1"/>
          </p:cNvPicPr>
          <p:nvPr/>
        </p:nvPicPr>
        <p:blipFill rotWithShape="1">
          <a:blip r:embed="rId2">
            <a:extLst>
              <a:ext uri="{28A0092B-C50C-407E-A947-70E740481C1C}">
                <a14:useLocalDpi xmlns:a14="http://schemas.microsoft.com/office/drawing/2010/main" val="0"/>
              </a:ext>
            </a:extLst>
          </a:blip>
          <a:srcRect l="7949" t="1" r="14511" b="7480"/>
          <a:stretch/>
        </p:blipFill>
        <p:spPr>
          <a:xfrm>
            <a:off x="0" y="-4"/>
            <a:ext cx="12192000" cy="6858000"/>
          </a:xfrm>
          <a:prstGeom prst="rect">
            <a:avLst/>
          </a:prstGeom>
        </p:spPr>
      </p:pic>
      <p:pic>
        <p:nvPicPr>
          <p:cNvPr id="9" name="Picture 8">
            <a:extLst>
              <a:ext uri="{FF2B5EF4-FFF2-40B4-BE49-F238E27FC236}">
                <a16:creationId xmlns:a16="http://schemas.microsoft.com/office/drawing/2014/main" id="{41E9CCD3-E648-4DD3-8BDC-DF56E2B20EC3}"/>
              </a:ext>
            </a:extLst>
          </p:cNvPr>
          <p:cNvPicPr>
            <a:picLocks noChangeAspect="1"/>
          </p:cNvPicPr>
          <p:nvPr/>
        </p:nvPicPr>
        <p:blipFill rotWithShape="1">
          <a:blip r:embed="rId2">
            <a:extLst>
              <a:ext uri="{28A0092B-C50C-407E-A947-70E740481C1C}">
                <a14:useLocalDpi xmlns:a14="http://schemas.microsoft.com/office/drawing/2010/main" val="0"/>
              </a:ext>
            </a:extLst>
          </a:blip>
          <a:srcRect l="7950" t="1" r="31979" b="7480"/>
          <a:stretch/>
        </p:blipFill>
        <p:spPr>
          <a:xfrm>
            <a:off x="2751161" y="0"/>
            <a:ext cx="9440839" cy="6854756"/>
          </a:xfrm>
          <a:prstGeom prst="rect">
            <a:avLst/>
          </a:prstGeom>
        </p:spPr>
      </p:pic>
      <p:pic>
        <p:nvPicPr>
          <p:cNvPr id="25" name="Picture 24">
            <a:extLst>
              <a:ext uri="{FF2B5EF4-FFF2-40B4-BE49-F238E27FC236}">
                <a16:creationId xmlns:a16="http://schemas.microsoft.com/office/drawing/2014/main" id="{2E620C74-2AC9-4A43-B813-8D1606AE7218}"/>
              </a:ext>
            </a:extLst>
          </p:cNvPr>
          <p:cNvPicPr>
            <a:picLocks noChangeAspect="1"/>
          </p:cNvPicPr>
          <p:nvPr/>
        </p:nvPicPr>
        <p:blipFill rotWithShape="1">
          <a:blip r:embed="rId2">
            <a:extLst>
              <a:ext uri="{28A0092B-C50C-407E-A947-70E740481C1C}">
                <a14:useLocalDpi xmlns:a14="http://schemas.microsoft.com/office/drawing/2010/main" val="0"/>
              </a:ext>
            </a:extLst>
          </a:blip>
          <a:srcRect l="7950" t="1" r="49484" b="7480"/>
          <a:stretch/>
        </p:blipFill>
        <p:spPr>
          <a:xfrm>
            <a:off x="5502322" y="14786"/>
            <a:ext cx="6689678" cy="6854756"/>
          </a:xfrm>
          <a:prstGeom prst="rect">
            <a:avLst/>
          </a:prstGeom>
        </p:spPr>
      </p:pic>
      <p:pic>
        <p:nvPicPr>
          <p:cNvPr id="26" name="Picture 25">
            <a:extLst>
              <a:ext uri="{FF2B5EF4-FFF2-40B4-BE49-F238E27FC236}">
                <a16:creationId xmlns:a16="http://schemas.microsoft.com/office/drawing/2014/main" id="{65C01DF5-7640-44B4-808A-349EBAD05346}"/>
              </a:ext>
            </a:extLst>
          </p:cNvPr>
          <p:cNvPicPr>
            <a:picLocks noChangeAspect="1"/>
          </p:cNvPicPr>
          <p:nvPr/>
        </p:nvPicPr>
        <p:blipFill rotWithShape="1">
          <a:blip r:embed="rId2">
            <a:extLst>
              <a:ext uri="{28A0092B-C50C-407E-A947-70E740481C1C}">
                <a14:useLocalDpi xmlns:a14="http://schemas.microsoft.com/office/drawing/2010/main" val="0"/>
              </a:ext>
            </a:extLst>
          </a:blip>
          <a:srcRect l="7950" t="1" r="66104" b="7480"/>
          <a:stretch/>
        </p:blipFill>
        <p:spPr>
          <a:xfrm>
            <a:off x="7797331" y="11347"/>
            <a:ext cx="4077654" cy="6854756"/>
          </a:xfrm>
          <a:prstGeom prst="rect">
            <a:avLst/>
          </a:prstGeom>
        </p:spPr>
      </p:pic>
      <p:pic>
        <p:nvPicPr>
          <p:cNvPr id="27" name="Picture 26">
            <a:extLst>
              <a:ext uri="{FF2B5EF4-FFF2-40B4-BE49-F238E27FC236}">
                <a16:creationId xmlns:a16="http://schemas.microsoft.com/office/drawing/2014/main" id="{7785A3CD-5982-4EFA-B73F-F1426C340444}"/>
              </a:ext>
            </a:extLst>
          </p:cNvPr>
          <p:cNvPicPr>
            <a:picLocks noChangeAspect="1"/>
          </p:cNvPicPr>
          <p:nvPr/>
        </p:nvPicPr>
        <p:blipFill rotWithShape="1">
          <a:blip r:embed="rId2">
            <a:extLst>
              <a:ext uri="{28A0092B-C50C-407E-A947-70E740481C1C}">
                <a14:useLocalDpi xmlns:a14="http://schemas.microsoft.com/office/drawing/2010/main" val="0"/>
              </a:ext>
            </a:extLst>
          </a:blip>
          <a:srcRect l="7950" t="1" r="82919" b="7480"/>
          <a:stretch/>
        </p:blipFill>
        <p:spPr>
          <a:xfrm>
            <a:off x="10757028" y="-8103"/>
            <a:ext cx="1434972" cy="6854756"/>
          </a:xfrm>
          <a:prstGeom prst="rect">
            <a:avLst/>
          </a:prstGeom>
        </p:spPr>
      </p:pic>
      <p:pic>
        <p:nvPicPr>
          <p:cNvPr id="6" name="Picture 5">
            <a:extLst>
              <a:ext uri="{FF2B5EF4-FFF2-40B4-BE49-F238E27FC236}">
                <a16:creationId xmlns:a16="http://schemas.microsoft.com/office/drawing/2014/main" id="{E6629E85-DF31-485F-A0BA-FD7FBC30D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1129" y="2673350"/>
            <a:ext cx="4762500" cy="4762500"/>
          </a:xfrm>
          <a:prstGeom prst="rect">
            <a:avLst/>
          </a:prstGeom>
        </p:spPr>
      </p:pic>
      <p:sp>
        <p:nvSpPr>
          <p:cNvPr id="10" name="TextBox 9">
            <a:extLst>
              <a:ext uri="{FF2B5EF4-FFF2-40B4-BE49-F238E27FC236}">
                <a16:creationId xmlns:a16="http://schemas.microsoft.com/office/drawing/2014/main" id="{2F5B57F5-95F8-4176-8F42-3D493ED44904}"/>
              </a:ext>
            </a:extLst>
          </p:cNvPr>
          <p:cNvSpPr txBox="1"/>
          <p:nvPr/>
        </p:nvSpPr>
        <p:spPr>
          <a:xfrm>
            <a:off x="568534" y="2277029"/>
            <a:ext cx="6465647" cy="1815882"/>
          </a:xfrm>
          <a:prstGeom prst="rect">
            <a:avLst/>
          </a:prstGeom>
          <a:noFill/>
        </p:spPr>
        <p:txBody>
          <a:bodyPr wrap="square" rtlCol="0">
            <a:spAutoFit/>
          </a:bodyPr>
          <a:lstStyle/>
          <a:p>
            <a:pPr algn="ctr"/>
            <a:r>
              <a:rPr lang="en-US" sz="2800" b="0" i="0" dirty="0">
                <a:effectLst/>
              </a:rPr>
              <a:t>Aarong Taaga appeals to ambitious, extroverted women, empowering them and catering to both fashion enthusiasts and cultural appreciators.</a:t>
            </a:r>
            <a:endParaRPr lang="en-US" sz="2800" dirty="0"/>
          </a:p>
        </p:txBody>
      </p:sp>
      <p:sp>
        <p:nvSpPr>
          <p:cNvPr id="14" name="Textbos: Create Your">
            <a:extLst>
              <a:ext uri="{FF2B5EF4-FFF2-40B4-BE49-F238E27FC236}">
                <a16:creationId xmlns:a16="http://schemas.microsoft.com/office/drawing/2014/main" id="{CA9C613F-6B3C-4340-A494-3E7D764550CD}"/>
              </a:ext>
            </a:extLst>
          </p:cNvPr>
          <p:cNvSpPr txBox="1"/>
          <p:nvPr/>
        </p:nvSpPr>
        <p:spPr>
          <a:xfrm>
            <a:off x="15633375" y="6939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DIFFERENTIATION</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17" name="!! arrow 3" descr="Caret Right with solid fill">
            <a:extLst>
              <a:ext uri="{FF2B5EF4-FFF2-40B4-BE49-F238E27FC236}">
                <a16:creationId xmlns:a16="http://schemas.microsoft.com/office/drawing/2014/main" id="{7518E0C8-0576-4D08-930D-83A44005719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889734" y="697489"/>
            <a:ext cx="356101" cy="356101"/>
          </a:xfrm>
          <a:prstGeom prst="rect">
            <a:avLst/>
          </a:prstGeom>
        </p:spPr>
      </p:pic>
      <p:sp>
        <p:nvSpPr>
          <p:cNvPr id="18" name="Textbos: Create Your">
            <a:extLst>
              <a:ext uri="{FF2B5EF4-FFF2-40B4-BE49-F238E27FC236}">
                <a16:creationId xmlns:a16="http://schemas.microsoft.com/office/drawing/2014/main" id="{DDEEE04C-BDEE-4BFD-8DB9-0A1F2822E6AA}"/>
              </a:ext>
            </a:extLst>
          </p:cNvPr>
          <p:cNvSpPr txBox="1"/>
          <p:nvPr/>
        </p:nvSpPr>
        <p:spPr>
          <a:xfrm>
            <a:off x="15814685" y="693938"/>
            <a:ext cx="1705007"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POSITIONING</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 name="Textbos: Create Your">
            <a:extLst>
              <a:ext uri="{FF2B5EF4-FFF2-40B4-BE49-F238E27FC236}">
                <a16:creationId xmlns:a16="http://schemas.microsoft.com/office/drawing/2014/main" id="{DDC415C9-6019-C9EE-F8BB-04E6C3B1E534}"/>
              </a:ext>
            </a:extLst>
          </p:cNvPr>
          <p:cNvSpPr txBox="1"/>
          <p:nvPr/>
        </p:nvSpPr>
        <p:spPr>
          <a:xfrm>
            <a:off x="-3094384" y="790070"/>
            <a:ext cx="2983308"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GEOGRAPHICAL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 name="Textbos: Create Your">
            <a:extLst>
              <a:ext uri="{FF2B5EF4-FFF2-40B4-BE49-F238E27FC236}">
                <a16:creationId xmlns:a16="http://schemas.microsoft.com/office/drawing/2014/main" id="{44C0A920-27BC-B0A1-DB9F-D87DAE4549B6}"/>
              </a:ext>
            </a:extLst>
          </p:cNvPr>
          <p:cNvSpPr txBox="1"/>
          <p:nvPr/>
        </p:nvSpPr>
        <p:spPr>
          <a:xfrm>
            <a:off x="7630782" y="707044"/>
            <a:ext cx="24429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a:solidFill>
                  <a:schemeClr val="tx1"/>
                </a:solidFill>
                <a:latin typeface="Montserrat" panose="020B0604020202020204" pitchFamily="2" charset="0"/>
              </a:rPr>
              <a:t>TAREGT MARKET</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4" name="Textbos: Create Your">
            <a:extLst>
              <a:ext uri="{FF2B5EF4-FFF2-40B4-BE49-F238E27FC236}">
                <a16:creationId xmlns:a16="http://schemas.microsoft.com/office/drawing/2014/main" id="{9D6E5341-EC06-F1B2-3F72-B90B90FBE124}"/>
              </a:ext>
            </a:extLst>
          </p:cNvPr>
          <p:cNvSpPr txBox="1"/>
          <p:nvPr/>
        </p:nvSpPr>
        <p:spPr>
          <a:xfrm>
            <a:off x="10527702" y="6939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5" name="!! arrow 3" descr="Caret Right with solid fill">
            <a:extLst>
              <a:ext uri="{FF2B5EF4-FFF2-40B4-BE49-F238E27FC236}">
                <a16:creationId xmlns:a16="http://schemas.microsoft.com/office/drawing/2014/main" id="{9F113E38-2A72-E7C6-1C01-3270FAF53C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22502" y="729644"/>
            <a:ext cx="356101" cy="356101"/>
          </a:xfrm>
          <a:prstGeom prst="rect">
            <a:avLst/>
          </a:prstGeom>
        </p:spPr>
      </p:pic>
      <p:pic>
        <p:nvPicPr>
          <p:cNvPr id="7" name="!! arrow 3" descr="Caret Right with solid fill">
            <a:extLst>
              <a:ext uri="{FF2B5EF4-FFF2-40B4-BE49-F238E27FC236}">
                <a16:creationId xmlns:a16="http://schemas.microsoft.com/office/drawing/2014/main" id="{DE4CBF1B-9CFF-9387-7DD9-7B2AC9C9BB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4061" y="697489"/>
            <a:ext cx="356101" cy="356101"/>
          </a:xfrm>
          <a:prstGeom prst="rect">
            <a:avLst/>
          </a:prstGeom>
        </p:spPr>
      </p:pic>
      <p:sp>
        <p:nvSpPr>
          <p:cNvPr id="28" name="Textbos: Create Your">
            <a:extLst>
              <a:ext uri="{FF2B5EF4-FFF2-40B4-BE49-F238E27FC236}">
                <a16:creationId xmlns:a16="http://schemas.microsoft.com/office/drawing/2014/main" id="{C828ED1E-DC8C-9A42-A776-E7A1768CD904}"/>
              </a:ext>
            </a:extLst>
          </p:cNvPr>
          <p:cNvSpPr txBox="1"/>
          <p:nvPr/>
        </p:nvSpPr>
        <p:spPr>
          <a:xfrm>
            <a:off x="13147411" y="693938"/>
            <a:ext cx="29940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PERCEPTUAL</a:t>
            </a:r>
            <a:r>
              <a:rPr kumimoji="0" lang="en-US" sz="1200" b="1" i="0" u="none" strike="noStrike" kern="1200" cap="none" spc="300" normalizeH="0" noProof="0">
                <a:ln>
                  <a:noFill/>
                </a:ln>
                <a:solidFill>
                  <a:schemeClr val="tx1"/>
                </a:solidFill>
                <a:effectLst/>
                <a:uLnTx/>
                <a:uFillTx/>
                <a:latin typeface="Montserrat" panose="020B0604020202020204" pitchFamily="2" charset="0"/>
              </a:rPr>
              <a:t> MAPING</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9" name="Textbos: Create Your">
            <a:extLst>
              <a:ext uri="{FF2B5EF4-FFF2-40B4-BE49-F238E27FC236}">
                <a16:creationId xmlns:a16="http://schemas.microsoft.com/office/drawing/2014/main" id="{50308555-868D-FD18-28AC-9BC812FF434A}"/>
              </a:ext>
            </a:extLst>
          </p:cNvPr>
          <p:cNvSpPr txBox="1"/>
          <p:nvPr/>
        </p:nvSpPr>
        <p:spPr>
          <a:xfrm>
            <a:off x="4757944" y="362214"/>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0" name="!! arrow 3" descr="Caret Right with solid fill">
            <a:extLst>
              <a:ext uri="{FF2B5EF4-FFF2-40B4-BE49-F238E27FC236}">
                <a16:creationId xmlns:a16="http://schemas.microsoft.com/office/drawing/2014/main" id="{73DBE48F-26E5-1392-2788-9187E6BC04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835" y="723367"/>
            <a:ext cx="356101" cy="356101"/>
          </a:xfrm>
          <a:prstGeom prst="rect">
            <a:avLst/>
          </a:prstGeom>
        </p:spPr>
      </p:pic>
      <p:sp>
        <p:nvSpPr>
          <p:cNvPr id="31" name="Textbos: Create Your">
            <a:extLst>
              <a:ext uri="{FF2B5EF4-FFF2-40B4-BE49-F238E27FC236}">
                <a16:creationId xmlns:a16="http://schemas.microsoft.com/office/drawing/2014/main" id="{FA7BB90E-53E0-63A5-1B24-712761EA9AB2}"/>
              </a:ext>
            </a:extLst>
          </p:cNvPr>
          <p:cNvSpPr txBox="1"/>
          <p:nvPr/>
        </p:nvSpPr>
        <p:spPr>
          <a:xfrm flipV="1">
            <a:off x="2342827" y="605282"/>
            <a:ext cx="306250"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2" name="Textbos: Create Your">
            <a:extLst>
              <a:ext uri="{FF2B5EF4-FFF2-40B4-BE49-F238E27FC236}">
                <a16:creationId xmlns:a16="http://schemas.microsoft.com/office/drawing/2014/main" id="{46D093FB-A132-CF22-3D5D-F967AB14C958}"/>
              </a:ext>
            </a:extLst>
          </p:cNvPr>
          <p:cNvSpPr txBox="1"/>
          <p:nvPr/>
        </p:nvSpPr>
        <p:spPr>
          <a:xfrm>
            <a:off x="2664953" y="757339"/>
            <a:ext cx="2646414" cy="29072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1200" cap="none" spc="300" normalizeH="0" baseline="0" noProof="0">
                <a:ln>
                  <a:noFill/>
                </a:ln>
                <a:solidFill>
                  <a:schemeClr val="tx1"/>
                </a:solidFill>
                <a:effectLst/>
                <a:uLnTx/>
                <a:uFillTx/>
                <a:latin typeface="Montserrat" panose="020B0604020202020204" pitchFamily="2" charset="0"/>
              </a:rPr>
              <a:t>PSYCHOLOGICAL</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3" name="Textbos: Create Your">
            <a:extLst>
              <a:ext uri="{FF2B5EF4-FFF2-40B4-BE49-F238E27FC236}">
                <a16:creationId xmlns:a16="http://schemas.microsoft.com/office/drawing/2014/main" id="{50C64027-ED97-1895-CEEF-6F57B5AA78A8}"/>
              </a:ext>
            </a:extLst>
          </p:cNvPr>
          <p:cNvSpPr txBox="1"/>
          <p:nvPr/>
        </p:nvSpPr>
        <p:spPr>
          <a:xfrm>
            <a:off x="5457100" y="794023"/>
            <a:ext cx="2475009"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BEHAVIOURAL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4" name="!! arrow 3" descr="Caret Right with solid fill">
            <a:extLst>
              <a:ext uri="{FF2B5EF4-FFF2-40B4-BE49-F238E27FC236}">
                <a16:creationId xmlns:a16="http://schemas.microsoft.com/office/drawing/2014/main" id="{ABD75A27-81B5-84F7-8ACA-A30ADE652C2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5533" y="718097"/>
            <a:ext cx="356101" cy="356101"/>
          </a:xfrm>
          <a:prstGeom prst="rect">
            <a:avLst/>
          </a:prstGeom>
        </p:spPr>
      </p:pic>
      <p:sp>
        <p:nvSpPr>
          <p:cNvPr id="35" name="Textbos: Create Your">
            <a:extLst>
              <a:ext uri="{FF2B5EF4-FFF2-40B4-BE49-F238E27FC236}">
                <a16:creationId xmlns:a16="http://schemas.microsoft.com/office/drawing/2014/main" id="{45DED034-AF31-84E1-CF50-317FC3482D9A}"/>
              </a:ext>
            </a:extLst>
          </p:cNvPr>
          <p:cNvSpPr txBox="1"/>
          <p:nvPr/>
        </p:nvSpPr>
        <p:spPr>
          <a:xfrm>
            <a:off x="-241787" y="773140"/>
            <a:ext cx="2093182"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DEMOGRAPHICAL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6" name="!! arrow 3" descr="Caret Right with solid fill">
            <a:extLst>
              <a:ext uri="{FF2B5EF4-FFF2-40B4-BE49-F238E27FC236}">
                <a16:creationId xmlns:a16="http://schemas.microsoft.com/office/drawing/2014/main" id="{7258887C-E292-1487-30A6-3BCF144FEC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14902" y="706433"/>
            <a:ext cx="356101" cy="356101"/>
          </a:xfrm>
          <a:prstGeom prst="rect">
            <a:avLst/>
          </a:prstGeom>
        </p:spPr>
      </p:pic>
    </p:spTree>
    <p:extLst>
      <p:ext uri="{BB962C8B-B14F-4D97-AF65-F5344CB8AC3E}">
        <p14:creationId xmlns:p14="http://schemas.microsoft.com/office/powerpoint/2010/main" val="2612886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D49E"/>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4193D7A-060B-4BC4-8FF6-6EAE9A93B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90" y="1702228"/>
            <a:ext cx="5229014" cy="4875016"/>
          </a:xfrm>
          <a:prstGeom prst="rect">
            <a:avLst/>
          </a:prstGeom>
        </p:spPr>
      </p:pic>
      <p:sp>
        <p:nvSpPr>
          <p:cNvPr id="17" name="TextBox 16">
            <a:extLst>
              <a:ext uri="{FF2B5EF4-FFF2-40B4-BE49-F238E27FC236}">
                <a16:creationId xmlns:a16="http://schemas.microsoft.com/office/drawing/2014/main" id="{BCAF6B8B-D93B-488B-80F2-5BFC99F62DFD}"/>
              </a:ext>
            </a:extLst>
          </p:cNvPr>
          <p:cNvSpPr txBox="1"/>
          <p:nvPr/>
        </p:nvSpPr>
        <p:spPr>
          <a:xfrm>
            <a:off x="5038934" y="2277029"/>
            <a:ext cx="6465647" cy="2246769"/>
          </a:xfrm>
          <a:prstGeom prst="rect">
            <a:avLst/>
          </a:prstGeom>
          <a:noFill/>
        </p:spPr>
        <p:txBody>
          <a:bodyPr wrap="square" rtlCol="0">
            <a:spAutoFit/>
          </a:bodyPr>
          <a:lstStyle/>
          <a:p>
            <a:pPr algn="ctr"/>
            <a:r>
              <a:rPr lang="en-US" sz="2800" b="0" i="0" dirty="0">
                <a:effectLst/>
              </a:rPr>
              <a:t>Aarong Taaga heavily focuses on occasions like Bangla New Year, Eid, Puja etc. Moreover, they are on social mission to support local artisans which creates brand loyalty amongst interested customers.</a:t>
            </a:r>
            <a:endParaRPr lang="en-US" sz="2800" dirty="0"/>
          </a:p>
        </p:txBody>
      </p:sp>
      <p:sp>
        <p:nvSpPr>
          <p:cNvPr id="19" name="Textbos: Create Your">
            <a:extLst>
              <a:ext uri="{FF2B5EF4-FFF2-40B4-BE49-F238E27FC236}">
                <a16:creationId xmlns:a16="http://schemas.microsoft.com/office/drawing/2014/main" id="{7E91FCAF-1839-4C90-621C-A778EEF91F9F}"/>
              </a:ext>
            </a:extLst>
          </p:cNvPr>
          <p:cNvSpPr txBox="1"/>
          <p:nvPr/>
        </p:nvSpPr>
        <p:spPr>
          <a:xfrm>
            <a:off x="5116182" y="707044"/>
            <a:ext cx="24429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a:solidFill>
                  <a:schemeClr val="tx1"/>
                </a:solidFill>
                <a:latin typeface="Montserrat" panose="020B0604020202020204" pitchFamily="2" charset="0"/>
              </a:rPr>
              <a:t>TAREGT MARKET</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0" name="Textbos: Create Your">
            <a:extLst>
              <a:ext uri="{FF2B5EF4-FFF2-40B4-BE49-F238E27FC236}">
                <a16:creationId xmlns:a16="http://schemas.microsoft.com/office/drawing/2014/main" id="{9DEC0752-EE03-8459-4BDC-D34EDAD1D108}"/>
              </a:ext>
            </a:extLst>
          </p:cNvPr>
          <p:cNvSpPr txBox="1"/>
          <p:nvPr/>
        </p:nvSpPr>
        <p:spPr>
          <a:xfrm>
            <a:off x="8013102" y="6939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21" name="!! arrow 3" descr="Caret Right with solid fill">
            <a:extLst>
              <a:ext uri="{FF2B5EF4-FFF2-40B4-BE49-F238E27FC236}">
                <a16:creationId xmlns:a16="http://schemas.microsoft.com/office/drawing/2014/main" id="{D2FB1467-CE6A-75AB-80C1-1CC8EAD973C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07902" y="710189"/>
            <a:ext cx="356101" cy="356101"/>
          </a:xfrm>
          <a:prstGeom prst="rect">
            <a:avLst/>
          </a:prstGeom>
        </p:spPr>
      </p:pic>
      <p:pic>
        <p:nvPicPr>
          <p:cNvPr id="22" name="!! arrow 3" descr="Caret Right with solid fill">
            <a:extLst>
              <a:ext uri="{FF2B5EF4-FFF2-40B4-BE49-F238E27FC236}">
                <a16:creationId xmlns:a16="http://schemas.microsoft.com/office/drawing/2014/main" id="{32DF5E19-1286-90DE-E735-B395BBBF5B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9461" y="697489"/>
            <a:ext cx="356101" cy="356101"/>
          </a:xfrm>
          <a:prstGeom prst="rect">
            <a:avLst/>
          </a:prstGeom>
        </p:spPr>
      </p:pic>
      <p:sp>
        <p:nvSpPr>
          <p:cNvPr id="23" name="Textbos: Create Your">
            <a:extLst>
              <a:ext uri="{FF2B5EF4-FFF2-40B4-BE49-F238E27FC236}">
                <a16:creationId xmlns:a16="http://schemas.microsoft.com/office/drawing/2014/main" id="{1CE63D5E-0BA5-5BB7-27D3-420FABB02E91}"/>
              </a:ext>
            </a:extLst>
          </p:cNvPr>
          <p:cNvSpPr txBox="1"/>
          <p:nvPr/>
        </p:nvSpPr>
        <p:spPr>
          <a:xfrm>
            <a:off x="10632811" y="693938"/>
            <a:ext cx="29940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dirty="0">
                <a:ln>
                  <a:noFill/>
                </a:ln>
                <a:solidFill>
                  <a:schemeClr val="tx1"/>
                </a:solidFill>
                <a:effectLst/>
                <a:uLnTx/>
                <a:uFillTx/>
                <a:latin typeface="Montserrat" panose="020B0604020202020204" pitchFamily="2" charset="0"/>
              </a:rPr>
              <a:t>MARKET TRENDS</a:t>
            </a:r>
          </a:p>
        </p:txBody>
      </p:sp>
      <p:sp>
        <p:nvSpPr>
          <p:cNvPr id="24" name="Textbos: Create Your">
            <a:extLst>
              <a:ext uri="{FF2B5EF4-FFF2-40B4-BE49-F238E27FC236}">
                <a16:creationId xmlns:a16="http://schemas.microsoft.com/office/drawing/2014/main" id="{D180B8F3-FF07-DAB8-234A-8A0C8808AB41}"/>
              </a:ext>
            </a:extLst>
          </p:cNvPr>
          <p:cNvSpPr txBox="1"/>
          <p:nvPr/>
        </p:nvSpPr>
        <p:spPr>
          <a:xfrm>
            <a:off x="4691904" y="372374"/>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26" name="!! arrow 3" descr="Caret Right with solid fill">
            <a:extLst>
              <a:ext uri="{FF2B5EF4-FFF2-40B4-BE49-F238E27FC236}">
                <a16:creationId xmlns:a16="http://schemas.microsoft.com/office/drawing/2014/main" id="{08D54AF7-A1D2-ED33-55A4-CCBEE14613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77111" y="742617"/>
            <a:ext cx="356101" cy="356101"/>
          </a:xfrm>
          <a:prstGeom prst="rect">
            <a:avLst/>
          </a:prstGeom>
        </p:spPr>
      </p:pic>
      <p:sp>
        <p:nvSpPr>
          <p:cNvPr id="27" name="Textbos: Create Your">
            <a:extLst>
              <a:ext uri="{FF2B5EF4-FFF2-40B4-BE49-F238E27FC236}">
                <a16:creationId xmlns:a16="http://schemas.microsoft.com/office/drawing/2014/main" id="{0645A45D-C6EA-E3F2-E8BD-480381B5BAFC}"/>
              </a:ext>
            </a:extLst>
          </p:cNvPr>
          <p:cNvSpPr txBox="1"/>
          <p:nvPr/>
        </p:nvSpPr>
        <p:spPr>
          <a:xfrm flipV="1">
            <a:off x="1932211" y="605283"/>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8" name="Textbos: Create Your">
            <a:extLst>
              <a:ext uri="{FF2B5EF4-FFF2-40B4-BE49-F238E27FC236}">
                <a16:creationId xmlns:a16="http://schemas.microsoft.com/office/drawing/2014/main" id="{F16ABF48-2645-9F79-2D6B-4225C4D2F64C}"/>
              </a:ext>
            </a:extLst>
          </p:cNvPr>
          <p:cNvSpPr txBox="1"/>
          <p:nvPr/>
        </p:nvSpPr>
        <p:spPr>
          <a:xfrm>
            <a:off x="-188144" y="812434"/>
            <a:ext cx="2078912"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lang="en-US" sz="1200">
                <a:solidFill>
                  <a:schemeClr val="tx1"/>
                </a:solidFill>
                <a:latin typeface="Montserrat" panose="020B0604020202020204" pitchFamily="2" charset="0"/>
              </a:rPr>
              <a:t>P</a:t>
            </a: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SYCHOLOGICAL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9" name="Textbos: Create Your">
            <a:extLst>
              <a:ext uri="{FF2B5EF4-FFF2-40B4-BE49-F238E27FC236}">
                <a16:creationId xmlns:a16="http://schemas.microsoft.com/office/drawing/2014/main" id="{3E33F261-D47C-6436-B155-C772972AE0F4}"/>
              </a:ext>
            </a:extLst>
          </p:cNvPr>
          <p:cNvSpPr txBox="1"/>
          <p:nvPr/>
        </p:nvSpPr>
        <p:spPr>
          <a:xfrm>
            <a:off x="2675393" y="765148"/>
            <a:ext cx="2475009" cy="29072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600" b="1" i="0" u="none" strike="noStrike" kern="1200" cap="none" spc="300" normalizeH="0" baseline="0" noProof="0">
                <a:ln>
                  <a:noFill/>
                </a:ln>
                <a:solidFill>
                  <a:schemeClr val="tx1"/>
                </a:solidFill>
                <a:effectLst/>
                <a:uLnTx/>
                <a:uFillTx/>
                <a:latin typeface="Montserrat" panose="020B0604020202020204" pitchFamily="2" charset="0"/>
              </a:rPr>
              <a:t>BEHAVIOURAL</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0" name="Textbos: Create Your">
            <a:extLst>
              <a:ext uri="{FF2B5EF4-FFF2-40B4-BE49-F238E27FC236}">
                <a16:creationId xmlns:a16="http://schemas.microsoft.com/office/drawing/2014/main" id="{68854B70-99B6-279C-B4B6-4529CA606F53}"/>
              </a:ext>
            </a:extLst>
          </p:cNvPr>
          <p:cNvSpPr txBox="1"/>
          <p:nvPr/>
        </p:nvSpPr>
        <p:spPr>
          <a:xfrm>
            <a:off x="-5156647" y="828980"/>
            <a:ext cx="2983308"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GEOGRAPHICAL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1" name="!! arrow 3" descr="Caret Right with solid fill">
            <a:extLst>
              <a:ext uri="{FF2B5EF4-FFF2-40B4-BE49-F238E27FC236}">
                <a16:creationId xmlns:a16="http://schemas.microsoft.com/office/drawing/2014/main" id="{40A90132-0FDC-9CD6-9E36-8DE47CB60F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55098" y="762277"/>
            <a:ext cx="356101" cy="356101"/>
          </a:xfrm>
          <a:prstGeom prst="rect">
            <a:avLst/>
          </a:prstGeom>
        </p:spPr>
      </p:pic>
      <p:sp>
        <p:nvSpPr>
          <p:cNvPr id="32" name="Textbos: Create Your">
            <a:extLst>
              <a:ext uri="{FF2B5EF4-FFF2-40B4-BE49-F238E27FC236}">
                <a16:creationId xmlns:a16="http://schemas.microsoft.com/office/drawing/2014/main" id="{C092C574-A883-D463-6103-1D558E2D51A2}"/>
              </a:ext>
            </a:extLst>
          </p:cNvPr>
          <p:cNvSpPr txBox="1"/>
          <p:nvPr/>
        </p:nvSpPr>
        <p:spPr>
          <a:xfrm>
            <a:off x="-2304050" y="812050"/>
            <a:ext cx="2093182"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DEMOGRAPHICAL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3" name="!! arrow 3" descr="Caret Right with solid fill">
            <a:extLst>
              <a:ext uri="{FF2B5EF4-FFF2-40B4-BE49-F238E27FC236}">
                <a16:creationId xmlns:a16="http://schemas.microsoft.com/office/drawing/2014/main" id="{4545C17D-ED04-B23D-9EA0-31C54D817F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115" y="726403"/>
            <a:ext cx="356101" cy="356101"/>
          </a:xfrm>
          <a:prstGeom prst="rect">
            <a:avLst/>
          </a:prstGeom>
        </p:spPr>
      </p:pic>
    </p:spTree>
    <p:extLst>
      <p:ext uri="{BB962C8B-B14F-4D97-AF65-F5344CB8AC3E}">
        <p14:creationId xmlns:p14="http://schemas.microsoft.com/office/powerpoint/2010/main" val="1991941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21F936-F0CA-468D-9E09-FEEB6A5EBB61}"/>
              </a:ext>
            </a:extLst>
          </p:cNvPr>
          <p:cNvSpPr/>
          <p:nvPr/>
        </p:nvSpPr>
        <p:spPr>
          <a:xfrm>
            <a:off x="0" y="-2"/>
            <a:ext cx="12192000" cy="6858001"/>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8" name="Freeform: Shape 7">
            <a:extLst>
              <a:ext uri="{FF2B5EF4-FFF2-40B4-BE49-F238E27FC236}">
                <a16:creationId xmlns:a16="http://schemas.microsoft.com/office/drawing/2014/main" id="{D9E02117-7C3E-4E79-BD90-380EDCF22FDA}"/>
              </a:ext>
            </a:extLst>
          </p:cNvPr>
          <p:cNvSpPr/>
          <p:nvPr/>
        </p:nvSpPr>
        <p:spPr>
          <a:xfrm>
            <a:off x="7154946" y="380690"/>
            <a:ext cx="5009241" cy="6076981"/>
          </a:xfrm>
          <a:custGeom>
            <a:avLst/>
            <a:gdLst>
              <a:gd name="connsiteX0" fmla="*/ 2910434 w 5583895"/>
              <a:gd name="connsiteY0" fmla="*/ 0 h 6858000"/>
              <a:gd name="connsiteX1" fmla="*/ 5583895 w 5583895"/>
              <a:gd name="connsiteY1" fmla="*/ 0 h 6858000"/>
              <a:gd name="connsiteX2" fmla="*/ 5583895 w 5583895"/>
              <a:gd name="connsiteY2" fmla="*/ 6858000 h 6858000"/>
              <a:gd name="connsiteX3" fmla="*/ 3665082 w 5583895"/>
              <a:gd name="connsiteY3" fmla="*/ 6858000 h 6858000"/>
              <a:gd name="connsiteX4" fmla="*/ 0 w 5583895"/>
              <a:gd name="connsiteY4" fmla="*/ 238446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895" h="6858000">
                <a:moveTo>
                  <a:pt x="2910434" y="0"/>
                </a:moveTo>
                <a:lnTo>
                  <a:pt x="5583895" y="0"/>
                </a:lnTo>
                <a:lnTo>
                  <a:pt x="5583895" y="6858000"/>
                </a:lnTo>
                <a:lnTo>
                  <a:pt x="3665082" y="6858000"/>
                </a:lnTo>
                <a:lnTo>
                  <a:pt x="0" y="2384463"/>
                </a:lnTo>
                <a:close/>
              </a:path>
            </a:pathLst>
          </a:custGeom>
          <a:pattFill prst="ltDnDiag">
            <a:fgClr>
              <a:schemeClr val="bg1">
                <a:lumMod val="85000"/>
              </a:schemeClr>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27813" y="-1"/>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4" name="Straight Connector 43">
            <a:extLst>
              <a:ext uri="{FF2B5EF4-FFF2-40B4-BE49-F238E27FC236}">
                <a16:creationId xmlns:a16="http://schemas.microsoft.com/office/drawing/2014/main" id="{7954C86F-2CE6-403B-98E7-39ED56B91575}"/>
              </a:ext>
            </a:extLst>
          </p:cNvPr>
          <p:cNvCxnSpPr>
            <a:cxnSpLocks/>
          </p:cNvCxnSpPr>
          <p:nvPr/>
        </p:nvCxnSpPr>
        <p:spPr>
          <a:xfrm>
            <a:off x="6261100" y="6758980"/>
            <a:ext cx="5930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s: Create Your">
            <a:extLst>
              <a:ext uri="{FF2B5EF4-FFF2-40B4-BE49-F238E27FC236}">
                <a16:creationId xmlns:a16="http://schemas.microsoft.com/office/drawing/2014/main" id="{2643D219-6844-43AE-B397-5853F9766FAD}"/>
              </a:ext>
            </a:extLst>
          </p:cNvPr>
          <p:cNvSpPr txBox="1"/>
          <p:nvPr/>
        </p:nvSpPr>
        <p:spPr>
          <a:xfrm>
            <a:off x="-6927078" y="770615"/>
            <a:ext cx="2983308"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GEOGRAPHICAL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7" name="Textbos: Create Your">
            <a:extLst>
              <a:ext uri="{FF2B5EF4-FFF2-40B4-BE49-F238E27FC236}">
                <a16:creationId xmlns:a16="http://schemas.microsoft.com/office/drawing/2014/main" id="{782F830F-EF16-4835-B25D-7851EFA14832}"/>
              </a:ext>
            </a:extLst>
          </p:cNvPr>
          <p:cNvSpPr txBox="1"/>
          <p:nvPr/>
        </p:nvSpPr>
        <p:spPr>
          <a:xfrm>
            <a:off x="2690612" y="639668"/>
            <a:ext cx="2442915" cy="419987"/>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600" noProof="0">
                <a:solidFill>
                  <a:schemeClr val="tx1"/>
                </a:solidFill>
                <a:latin typeface="Montserrat" panose="020B0604020202020204" pitchFamily="2" charset="0"/>
              </a:rPr>
              <a:t>TAREGT MARKET</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9" name="Textbos: Create Your">
            <a:extLst>
              <a:ext uri="{FF2B5EF4-FFF2-40B4-BE49-F238E27FC236}">
                <a16:creationId xmlns:a16="http://schemas.microsoft.com/office/drawing/2014/main" id="{B9103E99-9F1B-4358-817D-19284D0993F8}"/>
              </a:ext>
            </a:extLst>
          </p:cNvPr>
          <p:cNvSpPr txBox="1"/>
          <p:nvPr/>
        </p:nvSpPr>
        <p:spPr>
          <a:xfrm>
            <a:off x="5892475" y="693939"/>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0" name="!! arrow 3" descr="Caret Right with solid fill">
            <a:extLst>
              <a:ext uri="{FF2B5EF4-FFF2-40B4-BE49-F238E27FC236}">
                <a16:creationId xmlns:a16="http://schemas.microsoft.com/office/drawing/2014/main" id="{0AD882F9-1D8E-44E3-A6AB-481A70C804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46643" y="710189"/>
            <a:ext cx="356101" cy="356101"/>
          </a:xfrm>
          <a:prstGeom prst="rect">
            <a:avLst/>
          </a:prstGeom>
        </p:spPr>
      </p:pic>
      <p:pic>
        <p:nvPicPr>
          <p:cNvPr id="32" name="!! arrow 3" descr="Caret Right with solid fill">
            <a:extLst>
              <a:ext uri="{FF2B5EF4-FFF2-40B4-BE49-F238E27FC236}">
                <a16:creationId xmlns:a16="http://schemas.microsoft.com/office/drawing/2014/main" id="{6D703023-05EE-42F7-AC84-AC4ABEF1A8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48834" y="697489"/>
            <a:ext cx="356101" cy="356101"/>
          </a:xfrm>
          <a:prstGeom prst="rect">
            <a:avLst/>
          </a:prstGeom>
        </p:spPr>
      </p:pic>
      <p:sp>
        <p:nvSpPr>
          <p:cNvPr id="33" name="Textbos: Create Your">
            <a:extLst>
              <a:ext uri="{FF2B5EF4-FFF2-40B4-BE49-F238E27FC236}">
                <a16:creationId xmlns:a16="http://schemas.microsoft.com/office/drawing/2014/main" id="{AED92678-9542-4AD9-A2BF-3007BDBEDA4F}"/>
              </a:ext>
            </a:extLst>
          </p:cNvPr>
          <p:cNvSpPr txBox="1"/>
          <p:nvPr/>
        </p:nvSpPr>
        <p:spPr>
          <a:xfrm>
            <a:off x="8512184" y="693938"/>
            <a:ext cx="29940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Montserrat" panose="020B0604020202020204" pitchFamily="2" charset="0"/>
              </a:rPr>
              <a:t>MARKET TRENDS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4" name="Textbos: Create Your">
            <a:extLst>
              <a:ext uri="{FF2B5EF4-FFF2-40B4-BE49-F238E27FC236}">
                <a16:creationId xmlns:a16="http://schemas.microsoft.com/office/drawing/2014/main" id="{A14902E1-DAE0-476E-9598-5AD9817F14E1}"/>
              </a:ext>
            </a:extLst>
          </p:cNvPr>
          <p:cNvSpPr txBox="1"/>
          <p:nvPr/>
        </p:nvSpPr>
        <p:spPr>
          <a:xfrm>
            <a:off x="4691904" y="372374"/>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5" name="!! arrow 3" descr="Caret Right with solid fill">
            <a:extLst>
              <a:ext uri="{FF2B5EF4-FFF2-40B4-BE49-F238E27FC236}">
                <a16:creationId xmlns:a16="http://schemas.microsoft.com/office/drawing/2014/main" id="{53ECE5E3-894D-438E-9A8E-F5AB946F55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9471" y="699950"/>
            <a:ext cx="356101" cy="356101"/>
          </a:xfrm>
          <a:prstGeom prst="rect">
            <a:avLst/>
          </a:prstGeom>
        </p:spPr>
      </p:pic>
      <p:pic>
        <p:nvPicPr>
          <p:cNvPr id="36" name="!! arrow 3" descr="Caret Right with solid fill">
            <a:extLst>
              <a:ext uri="{FF2B5EF4-FFF2-40B4-BE49-F238E27FC236}">
                <a16:creationId xmlns:a16="http://schemas.microsoft.com/office/drawing/2014/main" id="{CAD31250-9A98-4C5B-B1EE-B9B50AC64C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47807" y="742617"/>
            <a:ext cx="356101" cy="356101"/>
          </a:xfrm>
          <a:prstGeom prst="rect">
            <a:avLst/>
          </a:prstGeom>
        </p:spPr>
      </p:pic>
      <p:sp>
        <p:nvSpPr>
          <p:cNvPr id="37" name="Textbos: Create Your">
            <a:extLst>
              <a:ext uri="{FF2B5EF4-FFF2-40B4-BE49-F238E27FC236}">
                <a16:creationId xmlns:a16="http://schemas.microsoft.com/office/drawing/2014/main" id="{DF957D3D-CB36-473F-9861-C897253114AD}"/>
              </a:ext>
            </a:extLst>
          </p:cNvPr>
          <p:cNvSpPr txBox="1"/>
          <p:nvPr/>
        </p:nvSpPr>
        <p:spPr>
          <a:xfrm flipV="1">
            <a:off x="1932211" y="605283"/>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8" name="Textbos: Create Your">
            <a:extLst>
              <a:ext uri="{FF2B5EF4-FFF2-40B4-BE49-F238E27FC236}">
                <a16:creationId xmlns:a16="http://schemas.microsoft.com/office/drawing/2014/main" id="{9A980EBC-FA8D-4C09-9E16-15352F47CFA7}"/>
              </a:ext>
            </a:extLst>
          </p:cNvPr>
          <p:cNvSpPr txBox="1"/>
          <p:nvPr/>
        </p:nvSpPr>
        <p:spPr>
          <a:xfrm>
            <a:off x="-5685176" y="786829"/>
            <a:ext cx="2983308"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DEMOGRAPHICAL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9" name="Textbos: Create Your">
            <a:extLst>
              <a:ext uri="{FF2B5EF4-FFF2-40B4-BE49-F238E27FC236}">
                <a16:creationId xmlns:a16="http://schemas.microsoft.com/office/drawing/2014/main" id="{BF652872-C8F3-4D83-845F-17421B52AF72}"/>
              </a:ext>
            </a:extLst>
          </p:cNvPr>
          <p:cNvSpPr txBox="1"/>
          <p:nvPr/>
        </p:nvSpPr>
        <p:spPr>
          <a:xfrm>
            <a:off x="-2200322" y="784398"/>
            <a:ext cx="2475009"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PSYCHOLOGICAL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grpSp>
        <p:nvGrpSpPr>
          <p:cNvPr id="14" name="Group 13">
            <a:extLst>
              <a:ext uri="{FF2B5EF4-FFF2-40B4-BE49-F238E27FC236}">
                <a16:creationId xmlns:a16="http://schemas.microsoft.com/office/drawing/2014/main" id="{F8375513-9669-6CA2-EDD1-462A9B84E9F2}"/>
              </a:ext>
            </a:extLst>
          </p:cNvPr>
          <p:cNvGrpSpPr/>
          <p:nvPr/>
        </p:nvGrpSpPr>
        <p:grpSpPr>
          <a:xfrm>
            <a:off x="266730" y="2196253"/>
            <a:ext cx="2990258" cy="3807533"/>
            <a:chOff x="266730" y="2196253"/>
            <a:chExt cx="2990258" cy="3807533"/>
          </a:xfrm>
        </p:grpSpPr>
        <p:pic>
          <p:nvPicPr>
            <p:cNvPr id="3" name="Picture 2">
              <a:extLst>
                <a:ext uri="{FF2B5EF4-FFF2-40B4-BE49-F238E27FC236}">
                  <a16:creationId xmlns:a16="http://schemas.microsoft.com/office/drawing/2014/main" id="{76DE92F2-6D72-42F7-AF0A-6DB653E65C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730" y="2196253"/>
              <a:ext cx="2990258" cy="2990258"/>
            </a:xfrm>
            <a:prstGeom prst="rect">
              <a:avLst/>
            </a:prstGeom>
          </p:spPr>
        </p:pic>
        <p:sp>
          <p:nvSpPr>
            <p:cNvPr id="2" name="TextBox 1">
              <a:extLst>
                <a:ext uri="{FF2B5EF4-FFF2-40B4-BE49-F238E27FC236}">
                  <a16:creationId xmlns:a16="http://schemas.microsoft.com/office/drawing/2014/main" id="{851C0633-1527-0CBF-C236-FDEEE15521BA}"/>
                </a:ext>
              </a:extLst>
            </p:cNvPr>
            <p:cNvSpPr txBox="1"/>
            <p:nvPr/>
          </p:nvSpPr>
          <p:spPr>
            <a:xfrm>
              <a:off x="863590" y="5295900"/>
              <a:ext cx="1964011" cy="707886"/>
            </a:xfrm>
            <a:prstGeom prst="rect">
              <a:avLst/>
            </a:prstGeom>
            <a:noFill/>
          </p:spPr>
          <p:txBody>
            <a:bodyPr wrap="square" rtlCol="0">
              <a:spAutoFit/>
            </a:bodyPr>
            <a:lstStyle/>
            <a:p>
              <a:r>
                <a:rPr lang="en-US" sz="2000" b="1"/>
                <a:t>YOUNG URBAN PROFESSIONALS</a:t>
              </a:r>
            </a:p>
          </p:txBody>
        </p:sp>
      </p:grpSp>
      <p:grpSp>
        <p:nvGrpSpPr>
          <p:cNvPr id="18" name="Group 17">
            <a:extLst>
              <a:ext uri="{FF2B5EF4-FFF2-40B4-BE49-F238E27FC236}">
                <a16:creationId xmlns:a16="http://schemas.microsoft.com/office/drawing/2014/main" id="{24475575-2701-1DB7-05D2-C476F99F5BE9}"/>
              </a:ext>
            </a:extLst>
          </p:cNvPr>
          <p:cNvGrpSpPr/>
          <p:nvPr/>
        </p:nvGrpSpPr>
        <p:grpSpPr>
          <a:xfrm>
            <a:off x="3324068" y="2442465"/>
            <a:ext cx="2497835" cy="3325477"/>
            <a:chOff x="3324068" y="2442465"/>
            <a:chExt cx="2497835" cy="3325477"/>
          </a:xfrm>
        </p:grpSpPr>
        <p:pic>
          <p:nvPicPr>
            <p:cNvPr id="7" name="Picture 6">
              <a:extLst>
                <a:ext uri="{FF2B5EF4-FFF2-40B4-BE49-F238E27FC236}">
                  <a16:creationId xmlns:a16="http://schemas.microsoft.com/office/drawing/2014/main" id="{1B33A2D6-4F76-4DD7-A896-55929F1E3C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24068" y="2442465"/>
              <a:ext cx="2497835" cy="2497835"/>
            </a:xfrm>
            <a:prstGeom prst="rect">
              <a:avLst/>
            </a:prstGeom>
          </p:spPr>
        </p:pic>
        <p:sp>
          <p:nvSpPr>
            <p:cNvPr id="4" name="TextBox 3">
              <a:extLst>
                <a:ext uri="{FF2B5EF4-FFF2-40B4-BE49-F238E27FC236}">
                  <a16:creationId xmlns:a16="http://schemas.microsoft.com/office/drawing/2014/main" id="{672B54CA-E3FE-3E3C-EBEE-C98C11E893C6}"/>
                </a:ext>
              </a:extLst>
            </p:cNvPr>
            <p:cNvSpPr txBox="1"/>
            <p:nvPr/>
          </p:nvSpPr>
          <p:spPr>
            <a:xfrm>
              <a:off x="3414491" y="5367832"/>
              <a:ext cx="2288253" cy="400110"/>
            </a:xfrm>
            <a:prstGeom prst="rect">
              <a:avLst/>
            </a:prstGeom>
            <a:noFill/>
          </p:spPr>
          <p:txBody>
            <a:bodyPr wrap="square" rtlCol="0">
              <a:spAutoFit/>
            </a:bodyPr>
            <a:lstStyle/>
            <a:p>
              <a:r>
                <a:rPr lang="en-US" sz="2000" b="1"/>
                <a:t>COLLEGE STUDENTS</a:t>
              </a:r>
            </a:p>
          </p:txBody>
        </p:sp>
      </p:grpSp>
      <p:grpSp>
        <p:nvGrpSpPr>
          <p:cNvPr id="19" name="Group 18">
            <a:extLst>
              <a:ext uri="{FF2B5EF4-FFF2-40B4-BE49-F238E27FC236}">
                <a16:creationId xmlns:a16="http://schemas.microsoft.com/office/drawing/2014/main" id="{6411C1DA-8849-6234-D134-CAB127DED420}"/>
              </a:ext>
            </a:extLst>
          </p:cNvPr>
          <p:cNvGrpSpPr/>
          <p:nvPr/>
        </p:nvGrpSpPr>
        <p:grpSpPr>
          <a:xfrm>
            <a:off x="5571103" y="2416889"/>
            <a:ext cx="2968553" cy="3610689"/>
            <a:chOff x="5571103" y="2416889"/>
            <a:chExt cx="2968553" cy="3610689"/>
          </a:xfrm>
        </p:grpSpPr>
        <p:pic>
          <p:nvPicPr>
            <p:cNvPr id="13" name="Picture 12">
              <a:extLst>
                <a:ext uri="{FF2B5EF4-FFF2-40B4-BE49-F238E27FC236}">
                  <a16:creationId xmlns:a16="http://schemas.microsoft.com/office/drawing/2014/main" id="{EDF03C9F-0C6C-4B0D-AD3E-AB6132C91F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71103" y="2416889"/>
              <a:ext cx="2925368" cy="2925368"/>
            </a:xfrm>
            <a:prstGeom prst="rect">
              <a:avLst/>
            </a:prstGeom>
          </p:spPr>
        </p:pic>
        <p:sp>
          <p:nvSpPr>
            <p:cNvPr id="5" name="TextBox 4">
              <a:extLst>
                <a:ext uri="{FF2B5EF4-FFF2-40B4-BE49-F238E27FC236}">
                  <a16:creationId xmlns:a16="http://schemas.microsoft.com/office/drawing/2014/main" id="{39A17809-9402-7069-CA35-3D77C36AE0C4}"/>
                </a:ext>
              </a:extLst>
            </p:cNvPr>
            <p:cNvSpPr txBox="1"/>
            <p:nvPr/>
          </p:nvSpPr>
          <p:spPr>
            <a:xfrm>
              <a:off x="5825951" y="5319692"/>
              <a:ext cx="2713705" cy="707886"/>
            </a:xfrm>
            <a:prstGeom prst="rect">
              <a:avLst/>
            </a:prstGeom>
            <a:noFill/>
          </p:spPr>
          <p:txBody>
            <a:bodyPr wrap="square" rtlCol="0">
              <a:spAutoFit/>
            </a:bodyPr>
            <a:lstStyle/>
            <a:p>
              <a:pPr algn="ctr"/>
              <a:r>
                <a:rPr lang="en-US" sz="2000" b="1"/>
                <a:t>CULTURAL APPRECIATORS</a:t>
              </a:r>
            </a:p>
          </p:txBody>
        </p:sp>
      </p:grpSp>
      <p:grpSp>
        <p:nvGrpSpPr>
          <p:cNvPr id="20" name="Group 19">
            <a:extLst>
              <a:ext uri="{FF2B5EF4-FFF2-40B4-BE49-F238E27FC236}">
                <a16:creationId xmlns:a16="http://schemas.microsoft.com/office/drawing/2014/main" id="{FBC8A4C0-CD9C-C58A-5967-81DA7140E840}"/>
              </a:ext>
            </a:extLst>
          </p:cNvPr>
          <p:cNvGrpSpPr/>
          <p:nvPr/>
        </p:nvGrpSpPr>
        <p:grpSpPr>
          <a:xfrm>
            <a:off x="8902146" y="2484422"/>
            <a:ext cx="2832653" cy="3340271"/>
            <a:chOff x="8902146" y="2484422"/>
            <a:chExt cx="2832653" cy="3340271"/>
          </a:xfrm>
        </p:grpSpPr>
        <p:pic>
          <p:nvPicPr>
            <p:cNvPr id="17" name="Picture 16">
              <a:extLst>
                <a:ext uri="{FF2B5EF4-FFF2-40B4-BE49-F238E27FC236}">
                  <a16:creationId xmlns:a16="http://schemas.microsoft.com/office/drawing/2014/main" id="{5283F206-ECA2-46A9-AC61-B096E52FB1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02146" y="2484422"/>
              <a:ext cx="2832653" cy="2832653"/>
            </a:xfrm>
            <a:prstGeom prst="rect">
              <a:avLst/>
            </a:prstGeom>
          </p:spPr>
        </p:pic>
        <p:sp>
          <p:nvSpPr>
            <p:cNvPr id="12" name="TextBox 11">
              <a:extLst>
                <a:ext uri="{FF2B5EF4-FFF2-40B4-BE49-F238E27FC236}">
                  <a16:creationId xmlns:a16="http://schemas.microsoft.com/office/drawing/2014/main" id="{04D15BAF-718E-1D2E-9FB4-60373833FF00}"/>
                </a:ext>
              </a:extLst>
            </p:cNvPr>
            <p:cNvSpPr txBox="1"/>
            <p:nvPr/>
          </p:nvSpPr>
          <p:spPr>
            <a:xfrm>
              <a:off x="9440452" y="5424583"/>
              <a:ext cx="2294347" cy="400110"/>
            </a:xfrm>
            <a:prstGeom prst="rect">
              <a:avLst/>
            </a:prstGeom>
            <a:noFill/>
          </p:spPr>
          <p:txBody>
            <a:bodyPr wrap="square" rtlCol="0">
              <a:spAutoFit/>
            </a:bodyPr>
            <a:lstStyle/>
            <a:p>
              <a:r>
                <a:rPr lang="en-US" sz="2000" b="1"/>
                <a:t>ONLINE SHOPPERS</a:t>
              </a:r>
            </a:p>
          </p:txBody>
        </p:sp>
      </p:grpSp>
      <p:sp>
        <p:nvSpPr>
          <p:cNvPr id="21" name="Textbos: Create Your">
            <a:extLst>
              <a:ext uri="{FF2B5EF4-FFF2-40B4-BE49-F238E27FC236}">
                <a16:creationId xmlns:a16="http://schemas.microsoft.com/office/drawing/2014/main" id="{D67BEBFC-8ED2-37D5-2A69-61E5A3008541}"/>
              </a:ext>
            </a:extLst>
          </p:cNvPr>
          <p:cNvSpPr txBox="1"/>
          <p:nvPr/>
        </p:nvSpPr>
        <p:spPr>
          <a:xfrm>
            <a:off x="-9442" y="765148"/>
            <a:ext cx="2475009"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BEHAVIOURAL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Tree>
    <p:extLst>
      <p:ext uri="{BB962C8B-B14F-4D97-AF65-F5344CB8AC3E}">
        <p14:creationId xmlns:p14="http://schemas.microsoft.com/office/powerpoint/2010/main" val="3914948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AE34466-5957-4745-956F-E22FD446E8C7}"/>
              </a:ext>
            </a:extLst>
          </p:cNvPr>
          <p:cNvSpPr/>
          <p:nvPr/>
        </p:nvSpPr>
        <p:spPr>
          <a:xfrm>
            <a:off x="189549" y="1102134"/>
            <a:ext cx="2621028" cy="1253070"/>
          </a:xfrm>
          <a:prstGeom prst="roundRect">
            <a:avLst>
              <a:gd name="adj" fmla="val 50000"/>
            </a:avLst>
          </a:prstGeom>
          <a:gradFill>
            <a:gsLst>
              <a:gs pos="0">
                <a:srgbClr val="008D8A"/>
              </a:gs>
              <a:gs pos="100000">
                <a:srgbClr val="006600"/>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D4F4E146-0A5A-496D-A00F-5DA0FD6FE5B3}"/>
              </a:ext>
            </a:extLst>
          </p:cNvPr>
          <p:cNvSpPr/>
          <p:nvPr/>
        </p:nvSpPr>
        <p:spPr>
          <a:xfrm>
            <a:off x="189548" y="4031917"/>
            <a:ext cx="2652880" cy="1253070"/>
          </a:xfrm>
          <a:prstGeom prst="roundRect">
            <a:avLst>
              <a:gd name="adj" fmla="val 50000"/>
            </a:avLst>
          </a:prstGeom>
          <a:gradFill>
            <a:gsLst>
              <a:gs pos="0">
                <a:srgbClr val="FF00FF"/>
              </a:gs>
              <a:gs pos="44000">
                <a:srgbClr val="A500A5"/>
              </a:gs>
              <a:gs pos="100000">
                <a:srgbClr val="800080"/>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E3190BD8-A8E3-4DD4-A1F9-34E3E83D7B59}"/>
              </a:ext>
            </a:extLst>
          </p:cNvPr>
          <p:cNvSpPr/>
          <p:nvPr/>
        </p:nvSpPr>
        <p:spPr>
          <a:xfrm>
            <a:off x="3880309" y="2577160"/>
            <a:ext cx="3235376" cy="1253070"/>
          </a:xfrm>
          <a:prstGeom prst="roundRect">
            <a:avLst>
              <a:gd name="adj" fmla="val 50000"/>
            </a:avLst>
          </a:prstGeom>
          <a:gradFill>
            <a:gsLst>
              <a:gs pos="40000">
                <a:srgbClr val="0071AF"/>
              </a:gs>
              <a:gs pos="0">
                <a:srgbClr val="0080C0"/>
              </a:gs>
              <a:gs pos="100000">
                <a:srgbClr val="003366"/>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869EC6-0D34-45B6-8BFA-4F8EAD3F2506}"/>
              </a:ext>
            </a:extLst>
          </p:cNvPr>
          <p:cNvSpPr txBox="1"/>
          <p:nvPr/>
        </p:nvSpPr>
        <p:spPr>
          <a:xfrm>
            <a:off x="352236" y="1441764"/>
            <a:ext cx="1010652" cy="523220"/>
          </a:xfrm>
          <a:prstGeom prst="rect">
            <a:avLst/>
          </a:prstGeom>
          <a:noFill/>
        </p:spPr>
        <p:txBody>
          <a:bodyPr wrap="square" rtlCol="0">
            <a:spAutoFit/>
          </a:bodyPr>
          <a:lstStyle/>
          <a:p>
            <a:r>
              <a:rPr lang="en-US" sz="2800">
                <a:solidFill>
                  <a:schemeClr val="bg1"/>
                </a:solidFill>
                <a:latin typeface="Century Gothic" panose="020B0502020202020204" pitchFamily="34" charset="0"/>
                <a:cs typeface="Dubai Light" panose="020B0303030403030204" pitchFamily="34" charset="-78"/>
              </a:rPr>
              <a:t>01</a:t>
            </a:r>
          </a:p>
        </p:txBody>
      </p:sp>
      <p:sp>
        <p:nvSpPr>
          <p:cNvPr id="7" name="TextBox 6">
            <a:extLst>
              <a:ext uri="{FF2B5EF4-FFF2-40B4-BE49-F238E27FC236}">
                <a16:creationId xmlns:a16="http://schemas.microsoft.com/office/drawing/2014/main" id="{06D305F9-C9E0-4F8F-B667-9FCCACDE0DDA}"/>
              </a:ext>
            </a:extLst>
          </p:cNvPr>
          <p:cNvSpPr txBox="1"/>
          <p:nvPr/>
        </p:nvSpPr>
        <p:spPr>
          <a:xfrm>
            <a:off x="4058464" y="2921090"/>
            <a:ext cx="1010652" cy="523220"/>
          </a:xfrm>
          <a:prstGeom prst="rect">
            <a:avLst/>
          </a:prstGeom>
          <a:noFill/>
        </p:spPr>
        <p:txBody>
          <a:bodyPr wrap="square" rtlCol="0">
            <a:spAutoFit/>
          </a:bodyPr>
          <a:lstStyle/>
          <a:p>
            <a:r>
              <a:rPr lang="en-US" sz="2800">
                <a:solidFill>
                  <a:schemeClr val="bg1"/>
                </a:solidFill>
                <a:latin typeface="Century Gothic" panose="020B0502020202020204" pitchFamily="34" charset="0"/>
                <a:cs typeface="Dubai Light" panose="020B0303030403030204" pitchFamily="34" charset="-78"/>
              </a:rPr>
              <a:t>02</a:t>
            </a:r>
          </a:p>
        </p:txBody>
      </p:sp>
      <p:sp>
        <p:nvSpPr>
          <p:cNvPr id="8" name="TextBox 7">
            <a:extLst>
              <a:ext uri="{FF2B5EF4-FFF2-40B4-BE49-F238E27FC236}">
                <a16:creationId xmlns:a16="http://schemas.microsoft.com/office/drawing/2014/main" id="{04E48DC2-FDA7-4262-9164-0B3E14726840}"/>
              </a:ext>
            </a:extLst>
          </p:cNvPr>
          <p:cNvSpPr txBox="1"/>
          <p:nvPr/>
        </p:nvSpPr>
        <p:spPr>
          <a:xfrm>
            <a:off x="373057" y="4387158"/>
            <a:ext cx="1010652" cy="523220"/>
          </a:xfrm>
          <a:prstGeom prst="rect">
            <a:avLst/>
          </a:prstGeom>
          <a:noFill/>
        </p:spPr>
        <p:txBody>
          <a:bodyPr wrap="square" rtlCol="0">
            <a:spAutoFit/>
          </a:bodyPr>
          <a:lstStyle/>
          <a:p>
            <a:r>
              <a:rPr lang="en-US" sz="2800">
                <a:solidFill>
                  <a:schemeClr val="bg1"/>
                </a:solidFill>
                <a:latin typeface="Century Gothic" panose="020B0502020202020204" pitchFamily="34" charset="0"/>
                <a:cs typeface="Dubai Light" panose="020B0303030403030204" pitchFamily="34" charset="-78"/>
              </a:rPr>
              <a:t>03</a:t>
            </a:r>
          </a:p>
        </p:txBody>
      </p:sp>
      <p:grpSp>
        <p:nvGrpSpPr>
          <p:cNvPr id="10" name="Group 9">
            <a:extLst>
              <a:ext uri="{FF2B5EF4-FFF2-40B4-BE49-F238E27FC236}">
                <a16:creationId xmlns:a16="http://schemas.microsoft.com/office/drawing/2014/main" id="{E93D98AB-9515-40A8-83C8-C00C4F42F27D}"/>
              </a:ext>
            </a:extLst>
          </p:cNvPr>
          <p:cNvGrpSpPr/>
          <p:nvPr/>
        </p:nvGrpSpPr>
        <p:grpSpPr>
          <a:xfrm>
            <a:off x="296435" y="1102137"/>
            <a:ext cx="7546548" cy="1253067"/>
            <a:chOff x="2247701" y="1102137"/>
            <a:chExt cx="6900455" cy="1253067"/>
          </a:xfrm>
        </p:grpSpPr>
        <p:sp>
          <p:nvSpPr>
            <p:cNvPr id="11" name="Rectangle: Rounded Corners 10">
              <a:extLst>
                <a:ext uri="{FF2B5EF4-FFF2-40B4-BE49-F238E27FC236}">
                  <a16:creationId xmlns:a16="http://schemas.microsoft.com/office/drawing/2014/main" id="{6E64AB02-395A-40C7-A492-E9917A1EEF39}"/>
                </a:ext>
              </a:extLst>
            </p:cNvPr>
            <p:cNvSpPr/>
            <p:nvPr/>
          </p:nvSpPr>
          <p:spPr>
            <a:xfrm>
              <a:off x="2247701" y="1102137"/>
              <a:ext cx="6313612" cy="1253067"/>
            </a:xfrm>
            <a:prstGeom prst="roundRect">
              <a:avLst>
                <a:gd name="adj" fmla="val 50000"/>
              </a:avLst>
            </a:prstGeom>
            <a:gradFill>
              <a:gsLst>
                <a:gs pos="67000">
                  <a:srgbClr val="283543"/>
                </a:gs>
                <a:gs pos="0">
                  <a:srgbClr val="09141A"/>
                </a:gs>
                <a:gs pos="100000">
                  <a:srgbClr val="34415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95683AE-77C6-44D2-9C65-F213194F0165}"/>
                </a:ext>
              </a:extLst>
            </p:cNvPr>
            <p:cNvSpPr txBox="1"/>
            <p:nvPr/>
          </p:nvSpPr>
          <p:spPr>
            <a:xfrm>
              <a:off x="2498266" y="1184525"/>
              <a:ext cx="3821527" cy="400110"/>
            </a:xfrm>
            <a:prstGeom prst="rect">
              <a:avLst/>
            </a:prstGeom>
            <a:noFill/>
          </p:spPr>
          <p:txBody>
            <a:bodyPr wrap="square" rtlCol="0">
              <a:spAutoFit/>
            </a:bodyPr>
            <a:lstStyle/>
            <a:p>
              <a:r>
                <a:rPr lang="en-US" sz="2000" b="1">
                  <a:solidFill>
                    <a:schemeClr val="bg1"/>
                  </a:solidFill>
                </a:rPr>
                <a:t>YOUNG URBAN PROFESSIONALS</a:t>
              </a:r>
            </a:p>
          </p:txBody>
        </p:sp>
        <p:sp>
          <p:nvSpPr>
            <p:cNvPr id="13" name="TextBox 12">
              <a:extLst>
                <a:ext uri="{FF2B5EF4-FFF2-40B4-BE49-F238E27FC236}">
                  <a16:creationId xmlns:a16="http://schemas.microsoft.com/office/drawing/2014/main" id="{D1D44EB7-CD9F-4E95-AFD2-606A7AFE6D7C}"/>
                </a:ext>
              </a:extLst>
            </p:cNvPr>
            <p:cNvSpPr txBox="1"/>
            <p:nvPr/>
          </p:nvSpPr>
          <p:spPr>
            <a:xfrm>
              <a:off x="2498790" y="1602564"/>
              <a:ext cx="6649366" cy="615553"/>
            </a:xfrm>
            <a:prstGeom prst="rect">
              <a:avLst/>
            </a:prstGeom>
            <a:noFill/>
          </p:spPr>
          <p:txBody>
            <a:bodyPr wrap="square" rtlCol="0">
              <a:spAutoFit/>
            </a:bodyPr>
            <a:lstStyle/>
            <a:p>
              <a:r>
                <a:rPr lang="en-US" sz="1700" dirty="0">
                  <a:solidFill>
                    <a:schemeClr val="bg1"/>
                  </a:solidFill>
                </a:rPr>
                <a:t>Aarong Taaga targets working women aged 18-35 who appreciate fashion </a:t>
              </a:r>
            </a:p>
            <a:p>
              <a:r>
                <a:rPr lang="en-US" sz="1700" dirty="0">
                  <a:solidFill>
                    <a:schemeClr val="bg1"/>
                  </a:solidFill>
                </a:rPr>
                <a:t>and cultural values.</a:t>
              </a:r>
            </a:p>
          </p:txBody>
        </p:sp>
      </p:grpSp>
      <p:grpSp>
        <p:nvGrpSpPr>
          <p:cNvPr id="14" name="Group 13">
            <a:extLst>
              <a:ext uri="{FF2B5EF4-FFF2-40B4-BE49-F238E27FC236}">
                <a16:creationId xmlns:a16="http://schemas.microsoft.com/office/drawing/2014/main" id="{D41B34FF-4381-4A96-B7A4-5BD302AA0A99}"/>
              </a:ext>
            </a:extLst>
          </p:cNvPr>
          <p:cNvGrpSpPr/>
          <p:nvPr/>
        </p:nvGrpSpPr>
        <p:grpSpPr>
          <a:xfrm>
            <a:off x="3966226" y="2589823"/>
            <a:ext cx="7436036" cy="1253067"/>
            <a:chOff x="4033604" y="2589823"/>
            <a:chExt cx="7436036" cy="1253067"/>
          </a:xfrm>
        </p:grpSpPr>
        <p:sp>
          <p:nvSpPr>
            <p:cNvPr id="15" name="Rectangle: Rounded Corners 14">
              <a:extLst>
                <a:ext uri="{FF2B5EF4-FFF2-40B4-BE49-F238E27FC236}">
                  <a16:creationId xmlns:a16="http://schemas.microsoft.com/office/drawing/2014/main" id="{03DF4E27-8B1D-46DC-8ED9-110BF2561F51}"/>
                </a:ext>
              </a:extLst>
            </p:cNvPr>
            <p:cNvSpPr/>
            <p:nvPr/>
          </p:nvSpPr>
          <p:spPr>
            <a:xfrm>
              <a:off x="4033604" y="2589823"/>
              <a:ext cx="6672496" cy="1253067"/>
            </a:xfrm>
            <a:prstGeom prst="roundRect">
              <a:avLst>
                <a:gd name="adj" fmla="val 50000"/>
              </a:avLst>
            </a:prstGeom>
            <a:gradFill>
              <a:gsLst>
                <a:gs pos="100000">
                  <a:srgbClr val="344152"/>
                </a:gs>
                <a:gs pos="55000">
                  <a:srgbClr val="15212A"/>
                </a:gs>
                <a:gs pos="32000">
                  <a:srgbClr val="09141A"/>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8476AFD-126D-46B3-A35C-D4C774ACB3A9}"/>
                </a:ext>
              </a:extLst>
            </p:cNvPr>
            <p:cNvSpPr txBox="1"/>
            <p:nvPr/>
          </p:nvSpPr>
          <p:spPr>
            <a:xfrm>
              <a:off x="4311146" y="2660607"/>
              <a:ext cx="2852680" cy="400110"/>
            </a:xfrm>
            <a:prstGeom prst="rect">
              <a:avLst/>
            </a:prstGeom>
            <a:noFill/>
          </p:spPr>
          <p:txBody>
            <a:bodyPr wrap="square" rtlCol="0">
              <a:spAutoFit/>
            </a:bodyPr>
            <a:lstStyle/>
            <a:p>
              <a:r>
                <a:rPr lang="en-US" sz="2000" b="1">
                  <a:solidFill>
                    <a:schemeClr val="bg1"/>
                  </a:solidFill>
                </a:rPr>
                <a:t>COLLEGE STUDENTS</a:t>
              </a:r>
            </a:p>
          </p:txBody>
        </p:sp>
        <p:sp>
          <p:nvSpPr>
            <p:cNvPr id="17" name="TextBox 16">
              <a:extLst>
                <a:ext uri="{FF2B5EF4-FFF2-40B4-BE49-F238E27FC236}">
                  <a16:creationId xmlns:a16="http://schemas.microsoft.com/office/drawing/2014/main" id="{84444BE2-46EA-466C-98EF-BBD2B2AD304B}"/>
                </a:ext>
              </a:extLst>
            </p:cNvPr>
            <p:cNvSpPr txBox="1"/>
            <p:nvPr/>
          </p:nvSpPr>
          <p:spPr>
            <a:xfrm>
              <a:off x="4343206" y="3084129"/>
              <a:ext cx="7126434" cy="615553"/>
            </a:xfrm>
            <a:prstGeom prst="rect">
              <a:avLst/>
            </a:prstGeom>
            <a:noFill/>
          </p:spPr>
          <p:txBody>
            <a:bodyPr wrap="square" rtlCol="0">
              <a:spAutoFit/>
            </a:bodyPr>
            <a:lstStyle/>
            <a:p>
              <a:r>
                <a:rPr lang="en-US" sz="1700">
                  <a:solidFill>
                    <a:schemeClr val="bg1"/>
                  </a:solidFill>
                </a:rPr>
                <a:t>Aarong Taaga appeals to trend-conscious college students who want to </a:t>
              </a:r>
            </a:p>
            <a:p>
              <a:r>
                <a:rPr lang="en-US" sz="1700">
                  <a:solidFill>
                    <a:schemeClr val="bg1"/>
                  </a:solidFill>
                </a:rPr>
                <a:t>express their style despite financial limitations.</a:t>
              </a:r>
            </a:p>
          </p:txBody>
        </p:sp>
      </p:grpSp>
      <p:grpSp>
        <p:nvGrpSpPr>
          <p:cNvPr id="18" name="Group 17">
            <a:extLst>
              <a:ext uri="{FF2B5EF4-FFF2-40B4-BE49-F238E27FC236}">
                <a16:creationId xmlns:a16="http://schemas.microsoft.com/office/drawing/2014/main" id="{8D3E78ED-3EF8-406F-A206-C299DF64A6B8}"/>
              </a:ext>
            </a:extLst>
          </p:cNvPr>
          <p:cNvGrpSpPr/>
          <p:nvPr/>
        </p:nvGrpSpPr>
        <p:grpSpPr>
          <a:xfrm>
            <a:off x="286808" y="4031919"/>
            <a:ext cx="7369297" cy="1253067"/>
            <a:chOff x="344561" y="4031919"/>
            <a:chExt cx="7369297" cy="1253067"/>
          </a:xfrm>
        </p:grpSpPr>
        <p:sp>
          <p:nvSpPr>
            <p:cNvPr id="19" name="Rectangle: Rounded Corners 18">
              <a:extLst>
                <a:ext uri="{FF2B5EF4-FFF2-40B4-BE49-F238E27FC236}">
                  <a16:creationId xmlns:a16="http://schemas.microsoft.com/office/drawing/2014/main" id="{ECFD6C98-6B52-44B2-A075-7A0BC84DAB50}"/>
                </a:ext>
              </a:extLst>
            </p:cNvPr>
            <p:cNvSpPr/>
            <p:nvPr/>
          </p:nvSpPr>
          <p:spPr>
            <a:xfrm>
              <a:off x="344561" y="4031919"/>
              <a:ext cx="6877837" cy="1253067"/>
            </a:xfrm>
            <a:prstGeom prst="roundRect">
              <a:avLst>
                <a:gd name="adj" fmla="val 50000"/>
              </a:avLst>
            </a:prstGeom>
            <a:gradFill>
              <a:gsLst>
                <a:gs pos="67000">
                  <a:srgbClr val="283543"/>
                </a:gs>
                <a:gs pos="0">
                  <a:srgbClr val="09141A"/>
                </a:gs>
                <a:gs pos="100000">
                  <a:srgbClr val="34415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4D77922-61BE-415E-9B15-E6D49C2F588C}"/>
                </a:ext>
              </a:extLst>
            </p:cNvPr>
            <p:cNvSpPr txBox="1"/>
            <p:nvPr/>
          </p:nvSpPr>
          <p:spPr>
            <a:xfrm>
              <a:off x="565820" y="4111881"/>
              <a:ext cx="3372242" cy="400110"/>
            </a:xfrm>
            <a:prstGeom prst="rect">
              <a:avLst/>
            </a:prstGeom>
            <a:noFill/>
          </p:spPr>
          <p:txBody>
            <a:bodyPr wrap="square" rtlCol="0">
              <a:spAutoFit/>
            </a:bodyPr>
            <a:lstStyle/>
            <a:p>
              <a:r>
                <a:rPr lang="en-US" sz="2000" b="1">
                  <a:solidFill>
                    <a:schemeClr val="bg1"/>
                  </a:solidFill>
                </a:rPr>
                <a:t>CULTURAL APPRECIATORS</a:t>
              </a:r>
            </a:p>
          </p:txBody>
        </p:sp>
        <p:sp>
          <p:nvSpPr>
            <p:cNvPr id="21" name="TextBox 20">
              <a:extLst>
                <a:ext uri="{FF2B5EF4-FFF2-40B4-BE49-F238E27FC236}">
                  <a16:creationId xmlns:a16="http://schemas.microsoft.com/office/drawing/2014/main" id="{FC2914E4-1413-41D8-BE51-620ABADD20C4}"/>
                </a:ext>
              </a:extLst>
            </p:cNvPr>
            <p:cNvSpPr txBox="1"/>
            <p:nvPr/>
          </p:nvSpPr>
          <p:spPr>
            <a:xfrm>
              <a:off x="587424" y="4503853"/>
              <a:ext cx="7126434" cy="615553"/>
            </a:xfrm>
            <a:prstGeom prst="rect">
              <a:avLst/>
            </a:prstGeom>
            <a:noFill/>
          </p:spPr>
          <p:txBody>
            <a:bodyPr wrap="square" rtlCol="0">
              <a:spAutoFit/>
            </a:bodyPr>
            <a:lstStyle/>
            <a:p>
              <a:r>
                <a:rPr lang="en-US" sz="1700">
                  <a:solidFill>
                    <a:schemeClr val="bg1"/>
                  </a:solidFill>
                </a:rPr>
                <a:t>Aarong Taaga caters to those who admire cultural traditions, offering a </a:t>
              </a:r>
            </a:p>
            <a:p>
              <a:r>
                <a:rPr lang="en-US" sz="1700">
                  <a:solidFill>
                    <a:schemeClr val="bg1"/>
                  </a:solidFill>
                </a:rPr>
                <a:t>fusion of cultural styles and modern fashion.</a:t>
              </a:r>
            </a:p>
          </p:txBody>
        </p:sp>
      </p:grpSp>
      <p:grpSp>
        <p:nvGrpSpPr>
          <p:cNvPr id="32" name="Group 31">
            <a:extLst>
              <a:ext uri="{FF2B5EF4-FFF2-40B4-BE49-F238E27FC236}">
                <a16:creationId xmlns:a16="http://schemas.microsoft.com/office/drawing/2014/main" id="{C400BFF5-2694-407A-8EFB-467213421F8A}"/>
              </a:ext>
            </a:extLst>
          </p:cNvPr>
          <p:cNvGrpSpPr/>
          <p:nvPr/>
        </p:nvGrpSpPr>
        <p:grpSpPr>
          <a:xfrm>
            <a:off x="3465478" y="5449236"/>
            <a:ext cx="3269020" cy="1253070"/>
            <a:chOff x="3831927" y="5449236"/>
            <a:chExt cx="3269020" cy="1253070"/>
          </a:xfrm>
        </p:grpSpPr>
        <p:sp>
          <p:nvSpPr>
            <p:cNvPr id="5" name="Rectangle: Rounded Corners 4">
              <a:extLst>
                <a:ext uri="{FF2B5EF4-FFF2-40B4-BE49-F238E27FC236}">
                  <a16:creationId xmlns:a16="http://schemas.microsoft.com/office/drawing/2014/main" id="{A645CAFE-A698-4D0A-804F-F345D21E6B8C}"/>
                </a:ext>
              </a:extLst>
            </p:cNvPr>
            <p:cNvSpPr/>
            <p:nvPr/>
          </p:nvSpPr>
          <p:spPr>
            <a:xfrm>
              <a:off x="3831927" y="5449236"/>
              <a:ext cx="3269020" cy="1253070"/>
            </a:xfrm>
            <a:prstGeom prst="roundRect">
              <a:avLst>
                <a:gd name="adj" fmla="val 50000"/>
              </a:avLst>
            </a:prstGeom>
            <a:gradFill>
              <a:gsLst>
                <a:gs pos="15000">
                  <a:srgbClr val="FF0066"/>
                </a:gs>
                <a:gs pos="47000">
                  <a:srgbClr val="8F0066"/>
                </a:gs>
                <a:gs pos="100000">
                  <a:srgbClr val="660066"/>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1A0572D-17CF-4D72-8DE8-D3EF1F5C3021}"/>
                </a:ext>
              </a:extLst>
            </p:cNvPr>
            <p:cNvSpPr txBox="1"/>
            <p:nvPr/>
          </p:nvSpPr>
          <p:spPr>
            <a:xfrm>
              <a:off x="3940689" y="5781482"/>
              <a:ext cx="599561" cy="523220"/>
            </a:xfrm>
            <a:prstGeom prst="rect">
              <a:avLst/>
            </a:prstGeom>
            <a:noFill/>
          </p:spPr>
          <p:txBody>
            <a:bodyPr wrap="square" rtlCol="0">
              <a:spAutoFit/>
            </a:bodyPr>
            <a:lstStyle/>
            <a:p>
              <a:r>
                <a:rPr lang="en-US" sz="2800">
                  <a:solidFill>
                    <a:schemeClr val="bg1"/>
                  </a:solidFill>
                  <a:latin typeface="Century Gothic" panose="020B0502020202020204" pitchFamily="34" charset="0"/>
                  <a:cs typeface="Dubai Light" panose="020B0303030403030204" pitchFamily="34" charset="-78"/>
                </a:rPr>
                <a:t>04</a:t>
              </a:r>
            </a:p>
          </p:txBody>
        </p:sp>
      </p:grpSp>
      <p:grpSp>
        <p:nvGrpSpPr>
          <p:cNvPr id="22" name="Group 21">
            <a:extLst>
              <a:ext uri="{FF2B5EF4-FFF2-40B4-BE49-F238E27FC236}">
                <a16:creationId xmlns:a16="http://schemas.microsoft.com/office/drawing/2014/main" id="{B80CC0F0-29B9-4B7C-AFF0-895B3697591F}"/>
              </a:ext>
            </a:extLst>
          </p:cNvPr>
          <p:cNvGrpSpPr/>
          <p:nvPr/>
        </p:nvGrpSpPr>
        <p:grpSpPr>
          <a:xfrm>
            <a:off x="3563665" y="5449239"/>
            <a:ext cx="7785994" cy="1253067"/>
            <a:chOff x="4162168" y="5449239"/>
            <a:chExt cx="7785994" cy="1253067"/>
          </a:xfrm>
        </p:grpSpPr>
        <p:sp>
          <p:nvSpPr>
            <p:cNvPr id="23" name="Rectangle: Rounded Corners 22">
              <a:extLst>
                <a:ext uri="{FF2B5EF4-FFF2-40B4-BE49-F238E27FC236}">
                  <a16:creationId xmlns:a16="http://schemas.microsoft.com/office/drawing/2014/main" id="{2947DBEE-B449-4F73-B77C-0E5C6FD88653}"/>
                </a:ext>
              </a:extLst>
            </p:cNvPr>
            <p:cNvSpPr/>
            <p:nvPr/>
          </p:nvSpPr>
          <p:spPr>
            <a:xfrm>
              <a:off x="4162168" y="5449239"/>
              <a:ext cx="7785994" cy="1253067"/>
            </a:xfrm>
            <a:prstGeom prst="roundRect">
              <a:avLst>
                <a:gd name="adj" fmla="val 50000"/>
              </a:avLst>
            </a:prstGeom>
            <a:gradFill>
              <a:gsLst>
                <a:gs pos="67000">
                  <a:srgbClr val="283543"/>
                </a:gs>
                <a:gs pos="0">
                  <a:srgbClr val="09141A"/>
                </a:gs>
                <a:gs pos="100000">
                  <a:srgbClr val="34415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DCD68FD-863B-499A-88B8-EC45AC6600E7}"/>
                </a:ext>
              </a:extLst>
            </p:cNvPr>
            <p:cNvSpPr txBox="1"/>
            <p:nvPr/>
          </p:nvSpPr>
          <p:spPr>
            <a:xfrm>
              <a:off x="4374756" y="5555808"/>
              <a:ext cx="2852680" cy="400110"/>
            </a:xfrm>
            <a:prstGeom prst="rect">
              <a:avLst/>
            </a:prstGeom>
            <a:noFill/>
          </p:spPr>
          <p:txBody>
            <a:bodyPr wrap="square" rtlCol="0">
              <a:spAutoFit/>
            </a:bodyPr>
            <a:lstStyle/>
            <a:p>
              <a:r>
                <a:rPr lang="en-US" sz="2000" b="1">
                  <a:solidFill>
                    <a:schemeClr val="bg1"/>
                  </a:solidFill>
                </a:rPr>
                <a:t>ONLINE SHOPPERS</a:t>
              </a:r>
            </a:p>
          </p:txBody>
        </p:sp>
        <p:sp>
          <p:nvSpPr>
            <p:cNvPr id="25" name="TextBox 24">
              <a:extLst>
                <a:ext uri="{FF2B5EF4-FFF2-40B4-BE49-F238E27FC236}">
                  <a16:creationId xmlns:a16="http://schemas.microsoft.com/office/drawing/2014/main" id="{4B23B11F-8BFD-4204-9630-CDF28DB9D547}"/>
                </a:ext>
              </a:extLst>
            </p:cNvPr>
            <p:cNvSpPr txBox="1"/>
            <p:nvPr/>
          </p:nvSpPr>
          <p:spPr>
            <a:xfrm>
              <a:off x="4352832" y="5980117"/>
              <a:ext cx="7573406" cy="584775"/>
            </a:xfrm>
            <a:prstGeom prst="rect">
              <a:avLst/>
            </a:prstGeom>
            <a:noFill/>
          </p:spPr>
          <p:txBody>
            <a:bodyPr wrap="square" rtlCol="0">
              <a:spAutoFit/>
            </a:bodyPr>
            <a:lstStyle/>
            <a:p>
              <a:r>
                <a:rPr lang="en-US" sz="1600">
                  <a:solidFill>
                    <a:schemeClr val="bg1"/>
                  </a:solidFill>
                </a:rPr>
                <a:t>Aarong Taaga reaches customers who prefer the convenience of online shopping, providing their latest collections and offers through their website, app, and social media.</a:t>
              </a:r>
            </a:p>
          </p:txBody>
        </p:sp>
      </p:grpSp>
      <p:sp>
        <p:nvSpPr>
          <p:cNvPr id="28" name="Textbos: Create Your">
            <a:extLst>
              <a:ext uri="{FF2B5EF4-FFF2-40B4-BE49-F238E27FC236}">
                <a16:creationId xmlns:a16="http://schemas.microsoft.com/office/drawing/2014/main" id="{9162A894-8BBF-08DF-1B86-1DF134D0029B}"/>
              </a:ext>
            </a:extLst>
          </p:cNvPr>
          <p:cNvSpPr txBox="1"/>
          <p:nvPr/>
        </p:nvSpPr>
        <p:spPr>
          <a:xfrm>
            <a:off x="2690612" y="367294"/>
            <a:ext cx="2442915" cy="419987"/>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600" noProof="0" dirty="0">
                <a:solidFill>
                  <a:schemeClr val="tx1"/>
                </a:solidFill>
                <a:latin typeface="Montserrat" panose="020B0604020202020204" pitchFamily="2" charset="0"/>
              </a:rPr>
              <a:t>TAREGT MARKET</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1" name="Textbos: Create Your">
            <a:extLst>
              <a:ext uri="{FF2B5EF4-FFF2-40B4-BE49-F238E27FC236}">
                <a16:creationId xmlns:a16="http://schemas.microsoft.com/office/drawing/2014/main" id="{045B9483-4623-4343-7E8D-75FF6DE15154}"/>
              </a:ext>
            </a:extLst>
          </p:cNvPr>
          <p:cNvSpPr txBox="1"/>
          <p:nvPr/>
        </p:nvSpPr>
        <p:spPr>
          <a:xfrm>
            <a:off x="5892475" y="421565"/>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3" name="!! arrow 3" descr="Caret Right with solid fill">
            <a:extLst>
              <a:ext uri="{FF2B5EF4-FFF2-40B4-BE49-F238E27FC236}">
                <a16:creationId xmlns:a16="http://schemas.microsoft.com/office/drawing/2014/main" id="{13904C00-5430-D58B-E163-89E33E164A2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46643" y="437815"/>
            <a:ext cx="356101" cy="356101"/>
          </a:xfrm>
          <a:prstGeom prst="rect">
            <a:avLst/>
          </a:prstGeom>
        </p:spPr>
      </p:pic>
      <p:pic>
        <p:nvPicPr>
          <p:cNvPr id="35" name="!! arrow 3" descr="Caret Right with solid fill">
            <a:extLst>
              <a:ext uri="{FF2B5EF4-FFF2-40B4-BE49-F238E27FC236}">
                <a16:creationId xmlns:a16="http://schemas.microsoft.com/office/drawing/2014/main" id="{456EAD0B-4C21-88C5-15E4-B11279A29D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48834" y="425115"/>
            <a:ext cx="356101" cy="356101"/>
          </a:xfrm>
          <a:prstGeom prst="rect">
            <a:avLst/>
          </a:prstGeom>
        </p:spPr>
      </p:pic>
      <p:sp>
        <p:nvSpPr>
          <p:cNvPr id="36" name="Textbos: Create Your">
            <a:extLst>
              <a:ext uri="{FF2B5EF4-FFF2-40B4-BE49-F238E27FC236}">
                <a16:creationId xmlns:a16="http://schemas.microsoft.com/office/drawing/2014/main" id="{BE205552-3739-D4A1-1D45-664566D9DE43}"/>
              </a:ext>
            </a:extLst>
          </p:cNvPr>
          <p:cNvSpPr txBox="1"/>
          <p:nvPr/>
        </p:nvSpPr>
        <p:spPr>
          <a:xfrm>
            <a:off x="8512184" y="421564"/>
            <a:ext cx="29940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dirty="0">
                <a:ln>
                  <a:noFill/>
                </a:ln>
                <a:solidFill>
                  <a:schemeClr val="tx1"/>
                </a:solidFill>
                <a:effectLst/>
                <a:uLnTx/>
                <a:uFillTx/>
                <a:latin typeface="Montserrat" panose="020B0604020202020204" pitchFamily="2" charset="0"/>
              </a:rPr>
              <a:t>MARKET TRENDS</a:t>
            </a:r>
          </a:p>
        </p:txBody>
      </p:sp>
      <p:sp>
        <p:nvSpPr>
          <p:cNvPr id="37" name="Textbos: Create Your">
            <a:extLst>
              <a:ext uri="{FF2B5EF4-FFF2-40B4-BE49-F238E27FC236}">
                <a16:creationId xmlns:a16="http://schemas.microsoft.com/office/drawing/2014/main" id="{4BCB0AED-4D94-0395-32B7-375D3F5833A6}"/>
              </a:ext>
            </a:extLst>
          </p:cNvPr>
          <p:cNvSpPr txBox="1"/>
          <p:nvPr/>
        </p:nvSpPr>
        <p:spPr>
          <a:xfrm>
            <a:off x="4691904" y="100000"/>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8" name="!! arrow 3" descr="Caret Right with solid fill">
            <a:extLst>
              <a:ext uri="{FF2B5EF4-FFF2-40B4-BE49-F238E27FC236}">
                <a16:creationId xmlns:a16="http://schemas.microsoft.com/office/drawing/2014/main" id="{A02DA73C-262B-2E6C-D61F-D00F899C60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89471" y="427576"/>
            <a:ext cx="356101" cy="356101"/>
          </a:xfrm>
          <a:prstGeom prst="rect">
            <a:avLst/>
          </a:prstGeom>
        </p:spPr>
      </p:pic>
      <p:sp>
        <p:nvSpPr>
          <p:cNvPr id="39" name="Textbos: Create Your">
            <a:extLst>
              <a:ext uri="{FF2B5EF4-FFF2-40B4-BE49-F238E27FC236}">
                <a16:creationId xmlns:a16="http://schemas.microsoft.com/office/drawing/2014/main" id="{C946B170-F102-82FA-CA53-8F8A3B444A39}"/>
              </a:ext>
            </a:extLst>
          </p:cNvPr>
          <p:cNvSpPr txBox="1"/>
          <p:nvPr/>
        </p:nvSpPr>
        <p:spPr>
          <a:xfrm flipV="1">
            <a:off x="1932211" y="332909"/>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dirty="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40" name="Textbos: Create Your">
            <a:extLst>
              <a:ext uri="{FF2B5EF4-FFF2-40B4-BE49-F238E27FC236}">
                <a16:creationId xmlns:a16="http://schemas.microsoft.com/office/drawing/2014/main" id="{223B2578-ED9A-AFD4-9842-00C8C2FEC24E}"/>
              </a:ext>
            </a:extLst>
          </p:cNvPr>
          <p:cNvSpPr txBox="1"/>
          <p:nvPr/>
        </p:nvSpPr>
        <p:spPr>
          <a:xfrm>
            <a:off x="-9442" y="492774"/>
            <a:ext cx="2475009"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dirty="0">
                <a:ln>
                  <a:noFill/>
                </a:ln>
                <a:solidFill>
                  <a:schemeClr val="tx1"/>
                </a:solidFill>
                <a:effectLst/>
                <a:uLnTx/>
                <a:uFillTx/>
                <a:latin typeface="Montserrat" panose="020B0604020202020204" pitchFamily="2" charset="0"/>
              </a:rPr>
              <a:t>BEHAVIOURAL</a:t>
            </a:r>
          </a:p>
        </p:txBody>
      </p:sp>
    </p:spTree>
    <p:extLst>
      <p:ext uri="{BB962C8B-B14F-4D97-AF65-F5344CB8AC3E}">
        <p14:creationId xmlns:p14="http://schemas.microsoft.com/office/powerpoint/2010/main" val="3572316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fill="hold" nodeType="clickEffect" p14:presetBounceEnd="24000">
                                      <p:stCondLst>
                                        <p:cond delay="0"/>
                                      </p:stCondLst>
                                      <p:childTnLst>
                                        <p:animMotion origin="layout" path="M -3.95833E-6 -3.33333E-6 L 0.07552 -3.33333E-6 " pathEditMode="relative" rAng="0" ptsTypes="AA" p14:bounceEnd="24000">
                                          <p:cBhvr>
                                            <p:cTn id="6" dur="1000" fill="hold"/>
                                            <p:tgtEl>
                                              <p:spTgt spid="10"/>
                                            </p:tgtEl>
                                            <p:attrNameLst>
                                              <p:attrName>ppt_x</p:attrName>
                                              <p:attrName>ppt_y</p:attrName>
                                            </p:attrNameLst>
                                          </p:cBhvr>
                                          <p:rCtr x="3776" y="0"/>
                                        </p:animMotion>
                                      </p:childTnLst>
                                    </p:cTn>
                                  </p:par>
                                </p:childTnLst>
                              </p:cTn>
                            </p:par>
                            <p:par>
                              <p:cTn id="7" fill="hold">
                                <p:stCondLst>
                                  <p:cond delay="1000"/>
                                </p:stCondLst>
                                <p:childTnLst>
                                  <p:par>
                                    <p:cTn id="8" presetID="63" presetClass="path" presetSubtype="0" fill="hold" nodeType="afterEffect" p14:presetBounceEnd="24000">
                                      <p:stCondLst>
                                        <p:cond delay="0"/>
                                      </p:stCondLst>
                                      <p:childTnLst>
                                        <p:animMotion origin="layout" path="M 1.66667E-6 -1.48148E-6 L 0.08893 -1.48148E-6 " pathEditMode="relative" rAng="0" ptsTypes="AA" p14:bounceEnd="24000">
                                          <p:cBhvr>
                                            <p:cTn id="9" dur="1000" fill="hold"/>
                                            <p:tgtEl>
                                              <p:spTgt spid="14"/>
                                            </p:tgtEl>
                                            <p:attrNameLst>
                                              <p:attrName>ppt_x</p:attrName>
                                              <p:attrName>ppt_y</p:attrName>
                                            </p:attrNameLst>
                                          </p:cBhvr>
                                          <p:rCtr x="4440" y="0"/>
                                        </p:animMotion>
                                      </p:childTnLst>
                                    </p:cTn>
                                  </p:par>
                                </p:childTnLst>
                              </p:cTn>
                            </p:par>
                            <p:par>
                              <p:cTn id="10" fill="hold">
                                <p:stCondLst>
                                  <p:cond delay="2000"/>
                                </p:stCondLst>
                                <p:childTnLst>
                                  <p:par>
                                    <p:cTn id="11" presetID="63" presetClass="path" presetSubtype="0" fill="hold" nodeType="afterEffect" p14:presetBounceEnd="25000">
                                      <p:stCondLst>
                                        <p:cond delay="0"/>
                                      </p:stCondLst>
                                      <p:childTnLst>
                                        <p:animMotion origin="layout" path="M -1.25E-6 3.33333E-6 L 0.08724 3.33333E-6 " pathEditMode="relative" rAng="0" ptsTypes="AA" p14:bounceEnd="25000">
                                          <p:cBhvr>
                                            <p:cTn id="12" dur="1000" fill="hold"/>
                                            <p:tgtEl>
                                              <p:spTgt spid="18"/>
                                            </p:tgtEl>
                                            <p:attrNameLst>
                                              <p:attrName>ppt_x</p:attrName>
                                              <p:attrName>ppt_y</p:attrName>
                                            </p:attrNameLst>
                                          </p:cBhvr>
                                          <p:rCtr x="4362" y="0"/>
                                        </p:animMotion>
                                      </p:childTnLst>
                                    </p:cTn>
                                  </p:par>
                                </p:childTnLst>
                              </p:cTn>
                            </p:par>
                            <p:par>
                              <p:cTn id="13" fill="hold">
                                <p:stCondLst>
                                  <p:cond delay="3000"/>
                                </p:stCondLst>
                                <p:childTnLst>
                                  <p:par>
                                    <p:cTn id="14" presetID="63" presetClass="path" presetSubtype="0" fill="hold" nodeType="afterEffect" p14:presetBounceEnd="13000">
                                      <p:stCondLst>
                                        <p:cond delay="0"/>
                                      </p:stCondLst>
                                      <p:childTnLst>
                                        <p:animMotion origin="layout" path="M 1.45833E-6 3.7037E-7 L 0.0681 3.7037E-7 " pathEditMode="relative" rAng="0" ptsTypes="AA" p14:bounceEnd="13000">
                                          <p:cBhvr>
                                            <p:cTn id="15" dur="1000" fill="hold"/>
                                            <p:tgtEl>
                                              <p:spTgt spid="22"/>
                                            </p:tgtEl>
                                            <p:attrNameLst>
                                              <p:attrName>ppt_x</p:attrName>
                                              <p:attrName>ppt_y</p:attrName>
                                            </p:attrNameLst>
                                          </p:cBhvr>
                                          <p:rCtr x="33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fill="hold" nodeType="clickEffect">
                                      <p:stCondLst>
                                        <p:cond delay="0"/>
                                      </p:stCondLst>
                                      <p:childTnLst>
                                        <p:animMotion origin="layout" path="M -3.95833E-6 -3.33333E-6 L 0.07552 -3.33333E-6 " pathEditMode="relative" rAng="0" ptsTypes="AA">
                                          <p:cBhvr>
                                            <p:cTn id="6" dur="1000" fill="hold"/>
                                            <p:tgtEl>
                                              <p:spTgt spid="10"/>
                                            </p:tgtEl>
                                            <p:attrNameLst>
                                              <p:attrName>ppt_x</p:attrName>
                                              <p:attrName>ppt_y</p:attrName>
                                            </p:attrNameLst>
                                          </p:cBhvr>
                                          <p:rCtr x="3776" y="0"/>
                                        </p:animMotion>
                                      </p:childTnLst>
                                    </p:cTn>
                                  </p:par>
                                </p:childTnLst>
                              </p:cTn>
                            </p:par>
                            <p:par>
                              <p:cTn id="7" fill="hold">
                                <p:stCondLst>
                                  <p:cond delay="1000"/>
                                </p:stCondLst>
                                <p:childTnLst>
                                  <p:par>
                                    <p:cTn id="8" presetID="63" presetClass="path" presetSubtype="0" fill="hold" nodeType="afterEffect">
                                      <p:stCondLst>
                                        <p:cond delay="0"/>
                                      </p:stCondLst>
                                      <p:childTnLst>
                                        <p:animMotion origin="layout" path="M 1.66667E-6 -1.48148E-6 L 0.08893 -1.48148E-6 " pathEditMode="relative" rAng="0" ptsTypes="AA">
                                          <p:cBhvr>
                                            <p:cTn id="9" dur="1000" fill="hold"/>
                                            <p:tgtEl>
                                              <p:spTgt spid="14"/>
                                            </p:tgtEl>
                                            <p:attrNameLst>
                                              <p:attrName>ppt_x</p:attrName>
                                              <p:attrName>ppt_y</p:attrName>
                                            </p:attrNameLst>
                                          </p:cBhvr>
                                          <p:rCtr x="4440" y="0"/>
                                        </p:animMotion>
                                      </p:childTnLst>
                                    </p:cTn>
                                  </p:par>
                                </p:childTnLst>
                              </p:cTn>
                            </p:par>
                            <p:par>
                              <p:cTn id="10" fill="hold">
                                <p:stCondLst>
                                  <p:cond delay="2000"/>
                                </p:stCondLst>
                                <p:childTnLst>
                                  <p:par>
                                    <p:cTn id="11" presetID="63" presetClass="path" presetSubtype="0" fill="hold" nodeType="afterEffect">
                                      <p:stCondLst>
                                        <p:cond delay="0"/>
                                      </p:stCondLst>
                                      <p:childTnLst>
                                        <p:animMotion origin="layout" path="M -1.25E-6 3.33333E-6 L 0.08724 3.33333E-6 " pathEditMode="relative" rAng="0" ptsTypes="AA">
                                          <p:cBhvr>
                                            <p:cTn id="12" dur="1000" fill="hold"/>
                                            <p:tgtEl>
                                              <p:spTgt spid="18"/>
                                            </p:tgtEl>
                                            <p:attrNameLst>
                                              <p:attrName>ppt_x</p:attrName>
                                              <p:attrName>ppt_y</p:attrName>
                                            </p:attrNameLst>
                                          </p:cBhvr>
                                          <p:rCtr x="4362" y="0"/>
                                        </p:animMotion>
                                      </p:childTnLst>
                                    </p:cTn>
                                  </p:par>
                                </p:childTnLst>
                              </p:cTn>
                            </p:par>
                            <p:par>
                              <p:cTn id="13" fill="hold">
                                <p:stCondLst>
                                  <p:cond delay="3000"/>
                                </p:stCondLst>
                                <p:childTnLst>
                                  <p:par>
                                    <p:cTn id="14" presetID="63" presetClass="path" presetSubtype="0" fill="hold" nodeType="afterEffect">
                                      <p:stCondLst>
                                        <p:cond delay="0"/>
                                      </p:stCondLst>
                                      <p:childTnLst>
                                        <p:animMotion origin="layout" path="M 1.45833E-6 3.7037E-7 L 0.0681 3.7037E-7 " pathEditMode="relative" rAng="0" ptsTypes="AA">
                                          <p:cBhvr>
                                            <p:cTn id="15" dur="1000" fill="hold"/>
                                            <p:tgtEl>
                                              <p:spTgt spid="22"/>
                                            </p:tgtEl>
                                            <p:attrNameLst>
                                              <p:attrName>ppt_x</p:attrName>
                                              <p:attrName>ppt_y</p:attrName>
                                            </p:attrNameLst>
                                          </p:cBhvr>
                                          <p:rCtr x="33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5D7546-9A28-4BE8-B375-72409D7817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6978" y="3940994"/>
            <a:ext cx="1795933" cy="1321684"/>
          </a:xfrm>
          <a:prstGeom prst="rect">
            <a:avLst/>
          </a:prstGeom>
        </p:spPr>
      </p:pic>
      <p:pic>
        <p:nvPicPr>
          <p:cNvPr id="5" name="Picture 4">
            <a:extLst>
              <a:ext uri="{FF2B5EF4-FFF2-40B4-BE49-F238E27FC236}">
                <a16:creationId xmlns:a16="http://schemas.microsoft.com/office/drawing/2014/main" id="{CDBA77FA-E219-4A12-A2CB-8F856C581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3505" y="4037151"/>
            <a:ext cx="1838289" cy="1225527"/>
          </a:xfrm>
          <a:prstGeom prst="rect">
            <a:avLst/>
          </a:prstGeom>
        </p:spPr>
      </p:pic>
      <p:pic>
        <p:nvPicPr>
          <p:cNvPr id="7" name="Picture 6">
            <a:extLst>
              <a:ext uri="{FF2B5EF4-FFF2-40B4-BE49-F238E27FC236}">
                <a16:creationId xmlns:a16="http://schemas.microsoft.com/office/drawing/2014/main" id="{36E19A85-70A0-431D-85AB-869E7D8B56A0}"/>
              </a:ext>
            </a:extLst>
          </p:cNvPr>
          <p:cNvPicPr>
            <a:picLocks noChangeAspect="1"/>
          </p:cNvPicPr>
          <p:nvPr/>
        </p:nvPicPr>
        <p:blipFill rotWithShape="1">
          <a:blip r:embed="rId4">
            <a:extLst>
              <a:ext uri="{28A0092B-C50C-407E-A947-70E740481C1C}">
                <a14:useLocalDpi xmlns:a14="http://schemas.microsoft.com/office/drawing/2010/main" val="0"/>
              </a:ext>
            </a:extLst>
          </a:blip>
          <a:srcRect l="8572" t="30926" r="7408" b="42114"/>
          <a:stretch/>
        </p:blipFill>
        <p:spPr>
          <a:xfrm>
            <a:off x="9224485" y="4287034"/>
            <a:ext cx="1962184" cy="629605"/>
          </a:xfrm>
          <a:prstGeom prst="rect">
            <a:avLst/>
          </a:prstGeom>
        </p:spPr>
      </p:pic>
      <p:pic>
        <p:nvPicPr>
          <p:cNvPr id="9" name="Picture 8">
            <a:extLst>
              <a:ext uri="{FF2B5EF4-FFF2-40B4-BE49-F238E27FC236}">
                <a16:creationId xmlns:a16="http://schemas.microsoft.com/office/drawing/2014/main" id="{1D005C1E-EFD8-49D7-A947-D7CBF46D0E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1184" y="5615974"/>
            <a:ext cx="1195980" cy="841173"/>
          </a:xfrm>
          <a:prstGeom prst="rect">
            <a:avLst/>
          </a:prstGeom>
        </p:spPr>
      </p:pic>
      <p:pic>
        <p:nvPicPr>
          <p:cNvPr id="11" name="Picture 10">
            <a:extLst>
              <a:ext uri="{FF2B5EF4-FFF2-40B4-BE49-F238E27FC236}">
                <a16:creationId xmlns:a16="http://schemas.microsoft.com/office/drawing/2014/main" id="{F491EF09-0CE9-45A3-BB44-8388DFB672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1285" y="5615974"/>
            <a:ext cx="2103833" cy="806470"/>
          </a:xfrm>
          <a:prstGeom prst="rect">
            <a:avLst/>
          </a:prstGeom>
        </p:spPr>
      </p:pic>
      <p:grpSp>
        <p:nvGrpSpPr>
          <p:cNvPr id="12" name="Group 11">
            <a:extLst>
              <a:ext uri="{FF2B5EF4-FFF2-40B4-BE49-F238E27FC236}">
                <a16:creationId xmlns:a16="http://schemas.microsoft.com/office/drawing/2014/main" id="{A7C57904-2CC9-4F9A-B978-5009F9D972EA}"/>
              </a:ext>
            </a:extLst>
          </p:cNvPr>
          <p:cNvGrpSpPr/>
          <p:nvPr/>
        </p:nvGrpSpPr>
        <p:grpSpPr>
          <a:xfrm>
            <a:off x="2867759" y="1648571"/>
            <a:ext cx="6354567" cy="646747"/>
            <a:chOff x="3686175" y="88865"/>
            <a:chExt cx="6270297" cy="615552"/>
          </a:xfrm>
        </p:grpSpPr>
        <p:sp>
          <p:nvSpPr>
            <p:cNvPr id="13" name="TextBox 12">
              <a:extLst>
                <a:ext uri="{FF2B5EF4-FFF2-40B4-BE49-F238E27FC236}">
                  <a16:creationId xmlns:a16="http://schemas.microsoft.com/office/drawing/2014/main" id="{7BB2CD42-22C9-41AA-B311-B7F1D6A10E41}"/>
                </a:ext>
              </a:extLst>
            </p:cNvPr>
            <p:cNvSpPr txBox="1"/>
            <p:nvPr/>
          </p:nvSpPr>
          <p:spPr>
            <a:xfrm>
              <a:off x="3686175" y="132665"/>
              <a:ext cx="4683257" cy="558664"/>
            </a:xfrm>
            <a:prstGeom prst="rect">
              <a:avLst/>
            </a:prstGeom>
            <a:noFill/>
          </p:spPr>
          <p:txBody>
            <a:bodyPr wrap="square">
              <a:spAutoFit/>
            </a:bodyPr>
            <a:lstStyle/>
            <a:p>
              <a:r>
                <a:rPr lang="en-US" sz="3200">
                  <a:solidFill>
                    <a:schemeClr val="tx2">
                      <a:lumMod val="50000"/>
                    </a:schemeClr>
                  </a:solidFill>
                  <a:latin typeface="Book Antiqua" panose="02040602050305030304" pitchFamily="18" charset="0"/>
                </a:rPr>
                <a:t>Competitors of Aarong</a:t>
              </a:r>
            </a:p>
          </p:txBody>
        </p:sp>
        <p:pic>
          <p:nvPicPr>
            <p:cNvPr id="14" name="Picture 13">
              <a:extLst>
                <a:ext uri="{FF2B5EF4-FFF2-40B4-BE49-F238E27FC236}">
                  <a16:creationId xmlns:a16="http://schemas.microsoft.com/office/drawing/2014/main" id="{CE1924A1-B53F-4717-89A4-D7698053D5BB}"/>
                </a:ext>
              </a:extLst>
            </p:cNvPr>
            <p:cNvPicPr>
              <a:picLocks noChangeAspect="1"/>
            </p:cNvPicPr>
            <p:nvPr/>
          </p:nvPicPr>
          <p:blipFill rotWithShape="1">
            <a:blip r:embed="rId7">
              <a:extLst>
                <a:ext uri="{28A0092B-C50C-407E-A947-70E740481C1C}">
                  <a14:useLocalDpi xmlns:a14="http://schemas.microsoft.com/office/drawing/2010/main" val="0"/>
                </a:ext>
              </a:extLst>
            </a:blip>
            <a:srcRect t="34698" b="34701"/>
            <a:stretch/>
          </p:blipFill>
          <p:spPr>
            <a:xfrm>
              <a:off x="7944949" y="88865"/>
              <a:ext cx="2011523" cy="615552"/>
            </a:xfrm>
            <a:prstGeom prst="rect">
              <a:avLst/>
            </a:prstGeom>
          </p:spPr>
        </p:pic>
      </p:grpSp>
      <p:cxnSp>
        <p:nvCxnSpPr>
          <p:cNvPr id="15" name="Straight Connector 14">
            <a:extLst>
              <a:ext uri="{FF2B5EF4-FFF2-40B4-BE49-F238E27FC236}">
                <a16:creationId xmlns:a16="http://schemas.microsoft.com/office/drawing/2014/main" id="{A01B4DE5-FD16-4B23-AAE7-B1B3A246B968}"/>
              </a:ext>
            </a:extLst>
          </p:cNvPr>
          <p:cNvCxnSpPr>
            <a:cxnSpLocks/>
          </p:cNvCxnSpPr>
          <p:nvPr/>
        </p:nvCxnSpPr>
        <p:spPr>
          <a:xfrm>
            <a:off x="2479814" y="1967305"/>
            <a:ext cx="3386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4B46281-4E68-498B-AD3B-1562FC5D9E70}"/>
              </a:ext>
            </a:extLst>
          </p:cNvPr>
          <p:cNvCxnSpPr>
            <a:cxnSpLocks/>
          </p:cNvCxnSpPr>
          <p:nvPr/>
        </p:nvCxnSpPr>
        <p:spPr>
          <a:xfrm>
            <a:off x="9274314" y="1967305"/>
            <a:ext cx="33861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E6A701D9-BDC6-4A35-8E08-5BE72B0AEE4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0" name="Freeform: Shape 19">
            <a:extLst>
              <a:ext uri="{FF2B5EF4-FFF2-40B4-BE49-F238E27FC236}">
                <a16:creationId xmlns:a16="http://schemas.microsoft.com/office/drawing/2014/main" id="{9CBD070B-CF9A-489A-9C2E-1BD9CBF3DB6F}"/>
              </a:ext>
            </a:extLst>
          </p:cNvPr>
          <p:cNvSpPr/>
          <p:nvPr/>
        </p:nvSpPr>
        <p:spPr>
          <a:xfrm flipH="1">
            <a:off x="609600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3" name="TextBox 22">
            <a:extLst>
              <a:ext uri="{FF2B5EF4-FFF2-40B4-BE49-F238E27FC236}">
                <a16:creationId xmlns:a16="http://schemas.microsoft.com/office/drawing/2014/main" id="{1882D4B0-040A-458D-9B16-D97E43C551A1}"/>
              </a:ext>
            </a:extLst>
          </p:cNvPr>
          <p:cNvSpPr txBox="1"/>
          <p:nvPr/>
        </p:nvSpPr>
        <p:spPr>
          <a:xfrm>
            <a:off x="1083364" y="2719193"/>
            <a:ext cx="10471598" cy="1200329"/>
          </a:xfrm>
          <a:prstGeom prst="rect">
            <a:avLst/>
          </a:prstGeom>
          <a:noFill/>
        </p:spPr>
        <p:txBody>
          <a:bodyPr wrap="square" rtlCol="0">
            <a:spAutoFit/>
          </a:bodyPr>
          <a:lstStyle/>
          <a:p>
            <a:pPr algn="ctr"/>
            <a:r>
              <a:rPr lang="en-US" sz="2400" b="0" i="0" dirty="0">
                <a:effectLst/>
                <a:latin typeface="Calibri Light" panose="020F0302020204030204" pitchFamily="34" charset="0"/>
                <a:cs typeface="Calibri Light" panose="020F0302020204030204" pitchFamily="34" charset="0"/>
              </a:rPr>
              <a:t>Aarong Taaga competes with local brands like Kay Kraft, </a:t>
            </a:r>
            <a:r>
              <a:rPr lang="en-US" sz="2400" b="0" i="0" dirty="0" err="1">
                <a:effectLst/>
                <a:latin typeface="Calibri Light" panose="020F0302020204030204" pitchFamily="34" charset="0"/>
                <a:cs typeface="Calibri Light" panose="020F0302020204030204" pitchFamily="34" charset="0"/>
              </a:rPr>
              <a:t>Anjans</a:t>
            </a:r>
            <a:r>
              <a:rPr lang="en-US" sz="2400" b="0" i="0" dirty="0">
                <a:effectLst/>
                <a:latin typeface="Calibri Light" panose="020F0302020204030204" pitchFamily="34" charset="0"/>
                <a:cs typeface="Calibri Light" panose="020F0302020204030204" pitchFamily="34" charset="0"/>
              </a:rPr>
              <a:t>, Rang, </a:t>
            </a:r>
            <a:r>
              <a:rPr lang="en-US" sz="2400" b="0" i="0" dirty="0" err="1">
                <a:effectLst/>
                <a:latin typeface="Calibri Light" panose="020F0302020204030204" pitchFamily="34" charset="0"/>
                <a:cs typeface="Calibri Light" panose="020F0302020204030204" pitchFamily="34" charset="0"/>
              </a:rPr>
              <a:t>Deshal</a:t>
            </a:r>
            <a:r>
              <a:rPr lang="en-US" sz="2400" b="0" i="0" dirty="0">
                <a:effectLst/>
                <a:latin typeface="Calibri Light" panose="020F0302020204030204" pitchFamily="34" charset="0"/>
                <a:cs typeface="Calibri Light" panose="020F0302020204030204" pitchFamily="34" charset="0"/>
              </a:rPr>
              <a:t>, </a:t>
            </a:r>
            <a:r>
              <a:rPr lang="en-US" sz="2400" b="0" i="0" dirty="0" err="1">
                <a:effectLst/>
                <a:latin typeface="Calibri Light" panose="020F0302020204030204" pitchFamily="34" charset="0"/>
                <a:cs typeface="Calibri Light" panose="020F0302020204030204" pitchFamily="34" charset="0"/>
              </a:rPr>
              <a:t>Bibiana</a:t>
            </a:r>
            <a:r>
              <a:rPr lang="en-US" sz="2400" b="0" i="0" dirty="0">
                <a:effectLst/>
                <a:latin typeface="Calibri Light" panose="020F0302020204030204" pitchFamily="34" charset="0"/>
                <a:cs typeface="Calibri Light" panose="020F0302020204030204" pitchFamily="34" charset="0"/>
              </a:rPr>
              <a:t>, etc. They target young urban women seeking fashionable, comfortable, and affordable clothing like Aarong Taaga.</a:t>
            </a:r>
            <a:endParaRPr lang="en-US" sz="2400" dirty="0">
              <a:latin typeface="Calibri Light" panose="020F0302020204030204" pitchFamily="34" charset="0"/>
              <a:cs typeface="Calibri Light" panose="020F0302020204030204" pitchFamily="34" charset="0"/>
            </a:endParaRPr>
          </a:p>
        </p:txBody>
      </p:sp>
      <p:sp>
        <p:nvSpPr>
          <p:cNvPr id="6" name="Textbos: Create Your">
            <a:extLst>
              <a:ext uri="{FF2B5EF4-FFF2-40B4-BE49-F238E27FC236}">
                <a16:creationId xmlns:a16="http://schemas.microsoft.com/office/drawing/2014/main" id="{40651CA3-E21B-00ED-0D3E-900FDF1BDAF6}"/>
              </a:ext>
            </a:extLst>
          </p:cNvPr>
          <p:cNvSpPr txBox="1"/>
          <p:nvPr/>
        </p:nvSpPr>
        <p:spPr>
          <a:xfrm>
            <a:off x="-301137" y="405394"/>
            <a:ext cx="24429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a:solidFill>
                  <a:schemeClr val="tx1"/>
                </a:solidFill>
                <a:latin typeface="Montserrat" panose="020B0604020202020204" pitchFamily="2" charset="0"/>
              </a:rPr>
              <a:t>TAREGT MARKET</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8" name="Textbos: Create Your">
            <a:extLst>
              <a:ext uri="{FF2B5EF4-FFF2-40B4-BE49-F238E27FC236}">
                <a16:creationId xmlns:a16="http://schemas.microsoft.com/office/drawing/2014/main" id="{824C7C58-48D6-FECB-5BA6-C027ED9F6393}"/>
              </a:ext>
            </a:extLst>
          </p:cNvPr>
          <p:cNvSpPr txBox="1"/>
          <p:nvPr/>
        </p:nvSpPr>
        <p:spPr>
          <a:xfrm>
            <a:off x="2595926" y="345365"/>
            <a:ext cx="2179398" cy="419987"/>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300" normalizeH="0" baseline="0" noProof="0" dirty="0">
                <a:ln>
                  <a:noFill/>
                </a:ln>
                <a:solidFill>
                  <a:schemeClr val="tx1"/>
                </a:solidFill>
                <a:effectLst/>
                <a:uLnTx/>
                <a:uFillTx/>
                <a:latin typeface="Montserrat" panose="020B0604020202020204" pitchFamily="2" charset="0"/>
              </a:rPr>
              <a:t>COMPETITORS</a:t>
            </a:r>
          </a:p>
        </p:txBody>
      </p:sp>
      <p:pic>
        <p:nvPicPr>
          <p:cNvPr id="10" name="!! arrow 3" descr="Caret Right with solid fill">
            <a:extLst>
              <a:ext uri="{FF2B5EF4-FFF2-40B4-BE49-F238E27FC236}">
                <a16:creationId xmlns:a16="http://schemas.microsoft.com/office/drawing/2014/main" id="{BF87D07E-E797-155C-1EEC-22B77AC6E4F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6666" y="427575"/>
            <a:ext cx="356101" cy="356101"/>
          </a:xfrm>
          <a:prstGeom prst="rect">
            <a:avLst/>
          </a:prstGeom>
        </p:spPr>
      </p:pic>
      <p:sp>
        <p:nvSpPr>
          <p:cNvPr id="17" name="Textbos: Create Your">
            <a:extLst>
              <a:ext uri="{FF2B5EF4-FFF2-40B4-BE49-F238E27FC236}">
                <a16:creationId xmlns:a16="http://schemas.microsoft.com/office/drawing/2014/main" id="{C5FEE008-1DB0-4F36-490E-2AD0CD7E060D}"/>
              </a:ext>
            </a:extLst>
          </p:cNvPr>
          <p:cNvSpPr txBox="1"/>
          <p:nvPr/>
        </p:nvSpPr>
        <p:spPr>
          <a:xfrm>
            <a:off x="5159688" y="410185"/>
            <a:ext cx="271759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1200" dirty="0">
                <a:solidFill>
                  <a:schemeClr val="tx1"/>
                </a:solidFill>
                <a:latin typeface="Montserrat" panose="020B0604020202020204" pitchFamily="2" charset="0"/>
              </a:rPr>
              <a:t>MARKET TRENDS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1" name="Textbos: Create Your">
            <a:extLst>
              <a:ext uri="{FF2B5EF4-FFF2-40B4-BE49-F238E27FC236}">
                <a16:creationId xmlns:a16="http://schemas.microsoft.com/office/drawing/2014/main" id="{88A50969-B11B-A195-1100-3EADF94F80F1}"/>
              </a:ext>
            </a:extLst>
          </p:cNvPr>
          <p:cNvSpPr txBox="1"/>
          <p:nvPr/>
        </p:nvSpPr>
        <p:spPr>
          <a:xfrm>
            <a:off x="4365709" y="115119"/>
            <a:ext cx="860774"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dirty="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22" name="!! arrow 3" descr="Caret Right with solid fill">
            <a:extLst>
              <a:ext uri="{FF2B5EF4-FFF2-40B4-BE49-F238E27FC236}">
                <a16:creationId xmlns:a16="http://schemas.microsoft.com/office/drawing/2014/main" id="{91522C52-4EF3-D830-C69A-D6B1CE86A1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89471" y="427576"/>
            <a:ext cx="356101" cy="356101"/>
          </a:xfrm>
          <a:prstGeom prst="rect">
            <a:avLst/>
          </a:prstGeom>
        </p:spPr>
      </p:pic>
      <p:sp>
        <p:nvSpPr>
          <p:cNvPr id="24" name="Textbos: Create Your">
            <a:extLst>
              <a:ext uri="{FF2B5EF4-FFF2-40B4-BE49-F238E27FC236}">
                <a16:creationId xmlns:a16="http://schemas.microsoft.com/office/drawing/2014/main" id="{D74C89C5-0096-60D9-5389-E94A4CAA3120}"/>
              </a:ext>
            </a:extLst>
          </p:cNvPr>
          <p:cNvSpPr txBox="1"/>
          <p:nvPr/>
        </p:nvSpPr>
        <p:spPr>
          <a:xfrm>
            <a:off x="-3013891" y="492774"/>
            <a:ext cx="2475009" cy="24115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BEHAVIOURAL</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5" name="Textbos: Create Your">
            <a:extLst>
              <a:ext uri="{FF2B5EF4-FFF2-40B4-BE49-F238E27FC236}">
                <a16:creationId xmlns:a16="http://schemas.microsoft.com/office/drawing/2014/main" id="{D4A27FD2-1B22-EF56-9302-D841BB6433B6}"/>
              </a:ext>
            </a:extLst>
          </p:cNvPr>
          <p:cNvSpPr txBox="1"/>
          <p:nvPr/>
        </p:nvSpPr>
        <p:spPr>
          <a:xfrm flipH="1" flipV="1">
            <a:off x="1809004" y="354000"/>
            <a:ext cx="1186733"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dirty="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2" name="!! arrow 3" descr="Caret Right with solid fill">
            <a:extLst>
              <a:ext uri="{FF2B5EF4-FFF2-40B4-BE49-F238E27FC236}">
                <a16:creationId xmlns:a16="http://schemas.microsoft.com/office/drawing/2014/main" id="{112174F6-04ED-4A9C-BFBC-665F595FDE5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07499" y="409251"/>
            <a:ext cx="356101" cy="356101"/>
          </a:xfrm>
          <a:prstGeom prst="rect">
            <a:avLst/>
          </a:prstGeom>
        </p:spPr>
      </p:pic>
      <p:sp>
        <p:nvSpPr>
          <p:cNvPr id="30" name="Textbos: Create Your">
            <a:extLst>
              <a:ext uri="{FF2B5EF4-FFF2-40B4-BE49-F238E27FC236}">
                <a16:creationId xmlns:a16="http://schemas.microsoft.com/office/drawing/2014/main" id="{73739DBF-ABDB-44F3-BCD2-1A344CD711A9}"/>
              </a:ext>
            </a:extLst>
          </p:cNvPr>
          <p:cNvSpPr txBox="1"/>
          <p:nvPr/>
        </p:nvSpPr>
        <p:spPr>
          <a:xfrm>
            <a:off x="7863528" y="403456"/>
            <a:ext cx="271759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dirty="0">
                <a:ln>
                  <a:noFill/>
                </a:ln>
                <a:solidFill>
                  <a:schemeClr val="tx1"/>
                </a:solidFill>
                <a:effectLst/>
                <a:uLnTx/>
                <a:uFillTx/>
                <a:latin typeface="Montserrat" panose="020B0604020202020204" pitchFamily="2" charset="0"/>
              </a:rPr>
              <a:t>PERCEPTUAL MAPPING</a:t>
            </a:r>
          </a:p>
        </p:txBody>
      </p:sp>
      <p:pic>
        <p:nvPicPr>
          <p:cNvPr id="32" name="!! arrow 3" descr="Caret Right with solid fill">
            <a:extLst>
              <a:ext uri="{FF2B5EF4-FFF2-40B4-BE49-F238E27FC236}">
                <a16:creationId xmlns:a16="http://schemas.microsoft.com/office/drawing/2014/main" id="{B8D11332-BE23-4B01-A075-0199B9C169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515223" y="435301"/>
            <a:ext cx="356101" cy="356101"/>
          </a:xfrm>
          <a:prstGeom prst="rect">
            <a:avLst/>
          </a:prstGeom>
        </p:spPr>
      </p:pic>
    </p:spTree>
    <p:extLst>
      <p:ext uri="{BB962C8B-B14F-4D97-AF65-F5344CB8AC3E}">
        <p14:creationId xmlns:p14="http://schemas.microsoft.com/office/powerpoint/2010/main" val="2094983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A759"/>
        </a:solidFill>
        <a:effectLst/>
      </p:bgPr>
    </p:bg>
    <p:spTree>
      <p:nvGrpSpPr>
        <p:cNvPr id="1" name=""/>
        <p:cNvGrpSpPr/>
        <p:nvPr/>
      </p:nvGrpSpPr>
      <p:grpSpPr>
        <a:xfrm>
          <a:off x="0" y="0"/>
          <a:ext cx="0" cy="0"/>
          <a:chOff x="0" y="0"/>
          <a:chExt cx="0" cy="0"/>
        </a:xfrm>
      </p:grpSpPr>
      <p:sp>
        <p:nvSpPr>
          <p:cNvPr id="3" name="Textbos: Create Your">
            <a:extLst>
              <a:ext uri="{FF2B5EF4-FFF2-40B4-BE49-F238E27FC236}">
                <a16:creationId xmlns:a16="http://schemas.microsoft.com/office/drawing/2014/main" id="{7A13470B-E1F1-4A92-BA47-E62D4FEA2385}"/>
              </a:ext>
            </a:extLst>
          </p:cNvPr>
          <p:cNvSpPr txBox="1"/>
          <p:nvPr/>
        </p:nvSpPr>
        <p:spPr>
          <a:xfrm>
            <a:off x="-1035419" y="435806"/>
            <a:ext cx="24429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dirty="0">
                <a:solidFill>
                  <a:schemeClr val="tx1"/>
                </a:solidFill>
                <a:latin typeface="Montserrat" panose="020B0604020202020204" pitchFamily="2" charset="0"/>
              </a:rPr>
              <a:t>COMPETITORS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5" name="Textbos: Create Your">
            <a:extLst>
              <a:ext uri="{FF2B5EF4-FFF2-40B4-BE49-F238E27FC236}">
                <a16:creationId xmlns:a16="http://schemas.microsoft.com/office/drawing/2014/main" id="{7D586057-F42A-4561-8F0E-A67DD4BE587A}"/>
              </a:ext>
            </a:extLst>
          </p:cNvPr>
          <p:cNvSpPr txBox="1"/>
          <p:nvPr/>
        </p:nvSpPr>
        <p:spPr>
          <a:xfrm>
            <a:off x="1863430" y="353925"/>
            <a:ext cx="3132122" cy="419987"/>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300" normalizeH="0" baseline="0" noProof="0" dirty="0">
                <a:ln>
                  <a:noFill/>
                </a:ln>
                <a:solidFill>
                  <a:schemeClr val="tx1"/>
                </a:solidFill>
                <a:effectLst/>
                <a:uLnTx/>
                <a:uFillTx/>
                <a:latin typeface="Montserrat" panose="020B0604020202020204" pitchFamily="2" charset="0"/>
              </a:rPr>
              <a:t>MARKET TRENDS</a:t>
            </a:r>
          </a:p>
        </p:txBody>
      </p:sp>
      <p:pic>
        <p:nvPicPr>
          <p:cNvPr id="7" name="!! arrow 3" descr="Caret Right with solid fill">
            <a:extLst>
              <a:ext uri="{FF2B5EF4-FFF2-40B4-BE49-F238E27FC236}">
                <a16:creationId xmlns:a16="http://schemas.microsoft.com/office/drawing/2014/main" id="{176B83DC-8D4E-4864-BA5E-AF8DEEF579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17501" y="437815"/>
            <a:ext cx="356101" cy="356101"/>
          </a:xfrm>
          <a:prstGeom prst="rect">
            <a:avLst/>
          </a:prstGeom>
        </p:spPr>
      </p:pic>
      <p:sp>
        <p:nvSpPr>
          <p:cNvPr id="9" name="Textbos: Create Your">
            <a:extLst>
              <a:ext uri="{FF2B5EF4-FFF2-40B4-BE49-F238E27FC236}">
                <a16:creationId xmlns:a16="http://schemas.microsoft.com/office/drawing/2014/main" id="{688CFA9B-125D-42EA-B6ED-AD0921549B18}"/>
              </a:ext>
            </a:extLst>
          </p:cNvPr>
          <p:cNvSpPr txBox="1"/>
          <p:nvPr/>
        </p:nvSpPr>
        <p:spPr>
          <a:xfrm>
            <a:off x="5173602" y="435806"/>
            <a:ext cx="271759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dirty="0">
                <a:ln>
                  <a:noFill/>
                </a:ln>
                <a:solidFill>
                  <a:schemeClr val="tx1"/>
                </a:solidFill>
                <a:effectLst/>
                <a:uLnTx/>
                <a:uFillTx/>
                <a:latin typeface="Montserrat" panose="020B0604020202020204" pitchFamily="2" charset="0"/>
              </a:rPr>
              <a:t>PERCEPTUAL</a:t>
            </a:r>
            <a:r>
              <a:rPr kumimoji="0" lang="en-US" sz="1200" b="1" i="0" u="none" strike="noStrike" kern="1200" cap="none" spc="300" normalizeH="0" noProof="0" dirty="0">
                <a:ln>
                  <a:noFill/>
                </a:ln>
                <a:solidFill>
                  <a:schemeClr val="tx1"/>
                </a:solidFill>
                <a:effectLst/>
                <a:uLnTx/>
                <a:uFillTx/>
                <a:latin typeface="Montserrat" panose="020B0604020202020204" pitchFamily="2" charset="0"/>
              </a:rPr>
              <a:t> MAPPING</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11" name="Textbos: Create Your">
            <a:extLst>
              <a:ext uri="{FF2B5EF4-FFF2-40B4-BE49-F238E27FC236}">
                <a16:creationId xmlns:a16="http://schemas.microsoft.com/office/drawing/2014/main" id="{A77D41AB-6F34-4134-BDD0-F732309B4235}"/>
              </a:ext>
            </a:extLst>
          </p:cNvPr>
          <p:cNvSpPr txBox="1"/>
          <p:nvPr/>
        </p:nvSpPr>
        <p:spPr>
          <a:xfrm>
            <a:off x="4537403" y="92460"/>
            <a:ext cx="356101"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dirty="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13" name="!! arrow 3" descr="Caret Right with solid fill">
            <a:extLst>
              <a:ext uri="{FF2B5EF4-FFF2-40B4-BE49-F238E27FC236}">
                <a16:creationId xmlns:a16="http://schemas.microsoft.com/office/drawing/2014/main" id="{C4162544-D148-4E9D-8CA8-742BEE5543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7389" y="437815"/>
            <a:ext cx="356101" cy="356101"/>
          </a:xfrm>
          <a:prstGeom prst="rect">
            <a:avLst/>
          </a:prstGeom>
        </p:spPr>
      </p:pic>
      <p:sp>
        <p:nvSpPr>
          <p:cNvPr id="19" name="TextBox 18">
            <a:extLst>
              <a:ext uri="{FF2B5EF4-FFF2-40B4-BE49-F238E27FC236}">
                <a16:creationId xmlns:a16="http://schemas.microsoft.com/office/drawing/2014/main" id="{44854BC4-27F6-45C9-A8A8-364008B2A11F}"/>
              </a:ext>
            </a:extLst>
          </p:cNvPr>
          <p:cNvSpPr txBox="1"/>
          <p:nvPr/>
        </p:nvSpPr>
        <p:spPr>
          <a:xfrm>
            <a:off x="1837640" y="87300"/>
            <a:ext cx="466464" cy="829651"/>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spc="300" dirty="0">
                <a:latin typeface="Montserrat" panose="020B0604020202020204" pitchFamily="2" charset="0"/>
              </a:rPr>
              <a:t>[</a:t>
            </a:r>
            <a:endParaRPr kumimoji="0" lang="en-US" sz="3600"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4" name="TextBox 23">
            <a:extLst>
              <a:ext uri="{FF2B5EF4-FFF2-40B4-BE49-F238E27FC236}">
                <a16:creationId xmlns:a16="http://schemas.microsoft.com/office/drawing/2014/main" id="{D9DB39A5-37D1-491C-B4BD-2DB81B680618}"/>
              </a:ext>
            </a:extLst>
          </p:cNvPr>
          <p:cNvSpPr txBox="1"/>
          <p:nvPr/>
        </p:nvSpPr>
        <p:spPr>
          <a:xfrm>
            <a:off x="186038" y="1762011"/>
            <a:ext cx="6465647" cy="523220"/>
          </a:xfrm>
          <a:prstGeom prst="rect">
            <a:avLst/>
          </a:prstGeom>
          <a:noFill/>
        </p:spPr>
        <p:txBody>
          <a:bodyPr wrap="square" rtlCol="0" anchor="t">
            <a:spAutoFit/>
          </a:bodyPr>
          <a:lstStyle/>
          <a:p>
            <a:pPr marL="457200" indent="-457200">
              <a:buFont typeface="Arial" panose="020B0604020202020204" pitchFamily="34" charset="0"/>
              <a:buChar char="•"/>
            </a:pPr>
            <a:r>
              <a:rPr lang="en-US" sz="2800" dirty="0"/>
              <a:t>Traditional clothes with modern style</a:t>
            </a:r>
          </a:p>
        </p:txBody>
      </p:sp>
      <p:sp>
        <p:nvSpPr>
          <p:cNvPr id="27" name="TextBox 26">
            <a:extLst>
              <a:ext uri="{FF2B5EF4-FFF2-40B4-BE49-F238E27FC236}">
                <a16:creationId xmlns:a16="http://schemas.microsoft.com/office/drawing/2014/main" id="{C70CCEFA-C5CA-4B99-8C5E-00BF9E512ABE}"/>
              </a:ext>
            </a:extLst>
          </p:cNvPr>
          <p:cNvSpPr txBox="1"/>
          <p:nvPr/>
        </p:nvSpPr>
        <p:spPr>
          <a:xfrm>
            <a:off x="670789" y="2730106"/>
            <a:ext cx="6465647"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sz="2800" dirty="0"/>
              <a:t>Products made from environmental-friendly materials</a:t>
            </a:r>
          </a:p>
        </p:txBody>
      </p:sp>
      <p:sp>
        <p:nvSpPr>
          <p:cNvPr id="29" name="TextBox 28">
            <a:extLst>
              <a:ext uri="{FF2B5EF4-FFF2-40B4-BE49-F238E27FC236}">
                <a16:creationId xmlns:a16="http://schemas.microsoft.com/office/drawing/2014/main" id="{16C24F38-64E9-4AD9-8B7D-B6BD5ACD8501}"/>
              </a:ext>
            </a:extLst>
          </p:cNvPr>
          <p:cNvSpPr txBox="1"/>
          <p:nvPr/>
        </p:nvSpPr>
        <p:spPr>
          <a:xfrm>
            <a:off x="1407389" y="3979815"/>
            <a:ext cx="646564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sz="2800" dirty="0"/>
              <a:t>Supports local artisans 	</a:t>
            </a:r>
          </a:p>
        </p:txBody>
      </p:sp>
      <p:pic>
        <p:nvPicPr>
          <p:cNvPr id="8" name="Picture 7" descr="A group of women wearing dresses&#10;&#10;Description automatically generated with low confidence">
            <a:extLst>
              <a:ext uri="{FF2B5EF4-FFF2-40B4-BE49-F238E27FC236}">
                <a16:creationId xmlns:a16="http://schemas.microsoft.com/office/drawing/2014/main" id="{B9DB1A25-C83B-22CC-286B-D61B7356B1F7}"/>
              </a:ext>
            </a:extLst>
          </p:cNvPr>
          <p:cNvPicPr>
            <a:picLocks noChangeAspect="1"/>
          </p:cNvPicPr>
          <p:nvPr/>
        </p:nvPicPr>
        <p:blipFill rotWithShape="1">
          <a:blip r:embed="rId4">
            <a:extLst>
              <a:ext uri="{28A0092B-C50C-407E-A947-70E740481C1C}">
                <a14:useLocalDpi xmlns:a14="http://schemas.microsoft.com/office/drawing/2010/main" val="0"/>
              </a:ext>
            </a:extLst>
          </a:blip>
          <a:srcRect r="9868"/>
          <a:stretch/>
        </p:blipFill>
        <p:spPr>
          <a:xfrm>
            <a:off x="7391342" y="2285231"/>
            <a:ext cx="4627710" cy="5134364"/>
          </a:xfrm>
          <a:prstGeom prst="rect">
            <a:avLst/>
          </a:prstGeom>
        </p:spPr>
      </p:pic>
    </p:spTree>
    <p:extLst>
      <p:ext uri="{BB962C8B-B14F-4D97-AF65-F5344CB8AC3E}">
        <p14:creationId xmlns:p14="http://schemas.microsoft.com/office/powerpoint/2010/main" val="2965293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1406CBD-8A75-4E76-90C5-FE1840E6DC89}"/>
              </a:ext>
            </a:extLst>
          </p:cNvPr>
          <p:cNvCxnSpPr>
            <a:cxnSpLocks/>
          </p:cNvCxnSpPr>
          <p:nvPr/>
        </p:nvCxnSpPr>
        <p:spPr>
          <a:xfrm>
            <a:off x="2703443" y="4074215"/>
            <a:ext cx="7315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F877965-BA79-4A9D-AC41-9FA70C6B17D0}"/>
              </a:ext>
            </a:extLst>
          </p:cNvPr>
          <p:cNvCxnSpPr>
            <a:cxnSpLocks/>
          </p:cNvCxnSpPr>
          <p:nvPr/>
        </p:nvCxnSpPr>
        <p:spPr>
          <a:xfrm flipV="1">
            <a:off x="6276367" y="2023165"/>
            <a:ext cx="0" cy="42340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C1DD099-D2B4-46DD-BB9D-D1031E1B8052}"/>
              </a:ext>
            </a:extLst>
          </p:cNvPr>
          <p:cNvSpPr txBox="1"/>
          <p:nvPr/>
        </p:nvSpPr>
        <p:spPr>
          <a:xfrm>
            <a:off x="5138637" y="1230605"/>
            <a:ext cx="2275459" cy="584775"/>
          </a:xfrm>
          <a:prstGeom prst="rect">
            <a:avLst/>
          </a:prstGeom>
          <a:noFill/>
        </p:spPr>
        <p:txBody>
          <a:bodyPr wrap="square">
            <a:spAutoFit/>
          </a:bodyPr>
          <a:lstStyle/>
          <a:p>
            <a:r>
              <a:rPr lang="en-US" sz="3200">
                <a:solidFill>
                  <a:schemeClr val="tx2">
                    <a:lumMod val="50000"/>
                  </a:schemeClr>
                </a:solidFill>
                <a:latin typeface="Book Antiqua" panose="02040602050305030304" pitchFamily="18" charset="0"/>
              </a:rPr>
              <a:t>High Price </a:t>
            </a:r>
          </a:p>
        </p:txBody>
      </p:sp>
      <p:sp>
        <p:nvSpPr>
          <p:cNvPr id="9" name="TextBox 8">
            <a:extLst>
              <a:ext uri="{FF2B5EF4-FFF2-40B4-BE49-F238E27FC236}">
                <a16:creationId xmlns:a16="http://schemas.microsoft.com/office/drawing/2014/main" id="{73220881-DD3E-2F84-0269-CCB13FA89900}"/>
              </a:ext>
            </a:extLst>
          </p:cNvPr>
          <p:cNvSpPr txBox="1"/>
          <p:nvPr/>
        </p:nvSpPr>
        <p:spPr>
          <a:xfrm>
            <a:off x="5176737" y="6297905"/>
            <a:ext cx="2275459" cy="584775"/>
          </a:xfrm>
          <a:prstGeom prst="rect">
            <a:avLst/>
          </a:prstGeom>
          <a:noFill/>
        </p:spPr>
        <p:txBody>
          <a:bodyPr wrap="square">
            <a:spAutoFit/>
          </a:bodyPr>
          <a:lstStyle/>
          <a:p>
            <a:r>
              <a:rPr lang="en-US" sz="3200">
                <a:solidFill>
                  <a:schemeClr val="tx2">
                    <a:lumMod val="50000"/>
                  </a:schemeClr>
                </a:solidFill>
                <a:latin typeface="Book Antiqua" panose="02040602050305030304" pitchFamily="18" charset="0"/>
              </a:rPr>
              <a:t>Low Price</a:t>
            </a:r>
          </a:p>
        </p:txBody>
      </p:sp>
      <p:sp>
        <p:nvSpPr>
          <p:cNvPr id="10" name="TextBox 9">
            <a:extLst>
              <a:ext uri="{FF2B5EF4-FFF2-40B4-BE49-F238E27FC236}">
                <a16:creationId xmlns:a16="http://schemas.microsoft.com/office/drawing/2014/main" id="{518DDFB1-3A3A-49E8-B15C-CB1CD5856779}"/>
              </a:ext>
            </a:extLst>
          </p:cNvPr>
          <p:cNvSpPr txBox="1"/>
          <p:nvPr/>
        </p:nvSpPr>
        <p:spPr>
          <a:xfrm>
            <a:off x="478784" y="3781827"/>
            <a:ext cx="2275459" cy="584775"/>
          </a:xfrm>
          <a:prstGeom prst="rect">
            <a:avLst/>
          </a:prstGeom>
          <a:noFill/>
        </p:spPr>
        <p:txBody>
          <a:bodyPr wrap="square">
            <a:spAutoFit/>
          </a:bodyPr>
          <a:lstStyle/>
          <a:p>
            <a:r>
              <a:rPr lang="en-US" sz="3200">
                <a:solidFill>
                  <a:schemeClr val="tx2">
                    <a:lumMod val="50000"/>
                  </a:schemeClr>
                </a:solidFill>
                <a:latin typeface="Book Antiqua" panose="02040602050305030304" pitchFamily="18" charset="0"/>
              </a:rPr>
              <a:t>Not Ethnic </a:t>
            </a:r>
          </a:p>
        </p:txBody>
      </p:sp>
      <p:sp>
        <p:nvSpPr>
          <p:cNvPr id="12" name="TextBox 11">
            <a:extLst>
              <a:ext uri="{FF2B5EF4-FFF2-40B4-BE49-F238E27FC236}">
                <a16:creationId xmlns:a16="http://schemas.microsoft.com/office/drawing/2014/main" id="{876DE9AB-52E5-F164-17B0-C7046EB71914}"/>
              </a:ext>
            </a:extLst>
          </p:cNvPr>
          <p:cNvSpPr txBox="1"/>
          <p:nvPr/>
        </p:nvSpPr>
        <p:spPr>
          <a:xfrm>
            <a:off x="10208031" y="3746212"/>
            <a:ext cx="2275459" cy="584775"/>
          </a:xfrm>
          <a:prstGeom prst="rect">
            <a:avLst/>
          </a:prstGeom>
          <a:noFill/>
        </p:spPr>
        <p:txBody>
          <a:bodyPr wrap="square">
            <a:spAutoFit/>
          </a:bodyPr>
          <a:lstStyle/>
          <a:p>
            <a:r>
              <a:rPr lang="en-US" sz="3200">
                <a:solidFill>
                  <a:schemeClr val="tx2">
                    <a:lumMod val="50000"/>
                  </a:schemeClr>
                </a:solidFill>
                <a:latin typeface="Book Antiqua" panose="02040602050305030304" pitchFamily="18" charset="0"/>
              </a:rPr>
              <a:t>Ethnic</a:t>
            </a:r>
          </a:p>
        </p:txBody>
      </p:sp>
      <p:pic>
        <p:nvPicPr>
          <p:cNvPr id="14" name="Picture 13" descr="A red letter on a black background&#10;&#10;Description automatically generated with medium confidence">
            <a:extLst>
              <a:ext uri="{FF2B5EF4-FFF2-40B4-BE49-F238E27FC236}">
                <a16:creationId xmlns:a16="http://schemas.microsoft.com/office/drawing/2014/main" id="{E5C87170-591E-8EFF-43D4-D4437DA143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8388" y="4942364"/>
            <a:ext cx="2000249" cy="446722"/>
          </a:xfrm>
          <a:prstGeom prst="rect">
            <a:avLst/>
          </a:prstGeom>
        </p:spPr>
      </p:pic>
      <p:pic>
        <p:nvPicPr>
          <p:cNvPr id="16" name="Picture 15" descr="Yellow letters on a black background&#10;&#10;Description automatically generated">
            <a:extLst>
              <a:ext uri="{FF2B5EF4-FFF2-40B4-BE49-F238E27FC236}">
                <a16:creationId xmlns:a16="http://schemas.microsoft.com/office/drawing/2014/main" id="{E7710F86-791C-8D34-9658-6C72A1564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4577" y="1976580"/>
            <a:ext cx="3546524" cy="802381"/>
          </a:xfrm>
          <a:prstGeom prst="rect">
            <a:avLst/>
          </a:prstGeom>
        </p:spPr>
      </p:pic>
      <p:pic>
        <p:nvPicPr>
          <p:cNvPr id="18" name="Picture 17" descr="A picture containing font, graphics, black, typography&#10;&#10;Description automatically generated">
            <a:extLst>
              <a:ext uri="{FF2B5EF4-FFF2-40B4-BE49-F238E27FC236}">
                <a16:creationId xmlns:a16="http://schemas.microsoft.com/office/drawing/2014/main" id="{806FB389-743D-06C0-3C0C-070A1A5EF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2952" y="2892589"/>
            <a:ext cx="2316485" cy="774194"/>
          </a:xfrm>
          <a:prstGeom prst="rect">
            <a:avLst/>
          </a:prstGeom>
        </p:spPr>
      </p:pic>
      <p:pic>
        <p:nvPicPr>
          <p:cNvPr id="20" name="Picture 19" descr="A blue and black logo&#10;&#10;Description automatically generated with medium confidence">
            <a:extLst>
              <a:ext uri="{FF2B5EF4-FFF2-40B4-BE49-F238E27FC236}">
                <a16:creationId xmlns:a16="http://schemas.microsoft.com/office/drawing/2014/main" id="{72D4DB1B-8AC7-45C8-6248-E7438AD0DF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4662" y="2610278"/>
            <a:ext cx="1001212" cy="704186"/>
          </a:xfrm>
          <a:prstGeom prst="rect">
            <a:avLst/>
          </a:prstGeom>
        </p:spPr>
      </p:pic>
      <p:pic>
        <p:nvPicPr>
          <p:cNvPr id="22" name="Picture 21" descr="A picture containing font, text, logo, graphics&#10;&#10;Description automatically generated">
            <a:extLst>
              <a:ext uri="{FF2B5EF4-FFF2-40B4-BE49-F238E27FC236}">
                <a16:creationId xmlns:a16="http://schemas.microsoft.com/office/drawing/2014/main" id="{1B5CC750-37DB-FEC7-5903-8A0BCB6867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96845" y="2537763"/>
            <a:ext cx="2121798" cy="813356"/>
          </a:xfrm>
          <a:prstGeom prst="rect">
            <a:avLst/>
          </a:prstGeom>
        </p:spPr>
      </p:pic>
      <p:pic>
        <p:nvPicPr>
          <p:cNvPr id="24" name="Picture 23" descr="A picture containing screenshot, font, design&#10;&#10;Description automatically generated">
            <a:extLst>
              <a:ext uri="{FF2B5EF4-FFF2-40B4-BE49-F238E27FC236}">
                <a16:creationId xmlns:a16="http://schemas.microsoft.com/office/drawing/2014/main" id="{3CD439AA-FC5F-3E87-5591-11DDACE9C0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52196" y="3437149"/>
            <a:ext cx="1714604" cy="514380"/>
          </a:xfrm>
          <a:prstGeom prst="rect">
            <a:avLst/>
          </a:prstGeom>
        </p:spPr>
      </p:pic>
      <p:pic>
        <p:nvPicPr>
          <p:cNvPr id="26" name="Picture 25" descr="A picture containing font, logo, white, graphics&#10;&#10;Description automatically generated">
            <a:extLst>
              <a:ext uri="{FF2B5EF4-FFF2-40B4-BE49-F238E27FC236}">
                <a16:creationId xmlns:a16="http://schemas.microsoft.com/office/drawing/2014/main" id="{78E1D80B-3E6E-A024-854C-B6FBFB4C70EC}"/>
              </a:ext>
            </a:extLst>
          </p:cNvPr>
          <p:cNvPicPr>
            <a:picLocks noChangeAspect="1"/>
          </p:cNvPicPr>
          <p:nvPr/>
        </p:nvPicPr>
        <p:blipFill rotWithShape="1">
          <a:blip r:embed="rId8">
            <a:extLst>
              <a:ext uri="{28A0092B-C50C-407E-A947-70E740481C1C}">
                <a14:useLocalDpi xmlns:a14="http://schemas.microsoft.com/office/drawing/2010/main" val="0"/>
              </a:ext>
            </a:extLst>
          </a:blip>
          <a:srcRect t="36056" b="38116"/>
          <a:stretch/>
        </p:blipFill>
        <p:spPr>
          <a:xfrm>
            <a:off x="9115225" y="1875023"/>
            <a:ext cx="1881826" cy="486048"/>
          </a:xfrm>
          <a:prstGeom prst="rect">
            <a:avLst/>
          </a:prstGeom>
        </p:spPr>
      </p:pic>
      <p:sp>
        <p:nvSpPr>
          <p:cNvPr id="27" name="Textbos: Create Your">
            <a:extLst>
              <a:ext uri="{FF2B5EF4-FFF2-40B4-BE49-F238E27FC236}">
                <a16:creationId xmlns:a16="http://schemas.microsoft.com/office/drawing/2014/main" id="{0DE98E74-E939-409B-E776-8263EB04A280}"/>
              </a:ext>
            </a:extLst>
          </p:cNvPr>
          <p:cNvSpPr txBox="1"/>
          <p:nvPr/>
        </p:nvSpPr>
        <p:spPr>
          <a:xfrm>
            <a:off x="-2815737" y="405394"/>
            <a:ext cx="2442915"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r" defTabSz="914400" rtl="0" eaLnBrk="1" fontAlgn="auto" latinLnBrk="0" hangingPunct="1">
              <a:lnSpc>
                <a:spcPct val="150000"/>
              </a:lnSpc>
              <a:spcBef>
                <a:spcPts val="0"/>
              </a:spcBef>
              <a:spcAft>
                <a:spcPts val="0"/>
              </a:spcAft>
              <a:buClrTx/>
              <a:buSzTx/>
              <a:buFontTx/>
              <a:buNone/>
              <a:tabLst/>
              <a:defRPr/>
            </a:pPr>
            <a:r>
              <a:rPr lang="en-US" sz="1200" noProof="0">
                <a:solidFill>
                  <a:schemeClr val="tx1"/>
                </a:solidFill>
                <a:latin typeface="Montserrat" panose="020B0604020202020204" pitchFamily="2" charset="0"/>
              </a:rPr>
              <a:t>TAREGT MARKET</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28" name="Textbos: Create Your">
            <a:extLst>
              <a:ext uri="{FF2B5EF4-FFF2-40B4-BE49-F238E27FC236}">
                <a16:creationId xmlns:a16="http://schemas.microsoft.com/office/drawing/2014/main" id="{99158E43-B009-8536-485B-A3A9150F0C4A}"/>
              </a:ext>
            </a:extLst>
          </p:cNvPr>
          <p:cNvSpPr txBox="1"/>
          <p:nvPr/>
        </p:nvSpPr>
        <p:spPr>
          <a:xfrm>
            <a:off x="-45674" y="421565"/>
            <a:ext cx="2179398" cy="338106"/>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200" b="1" i="0" u="none" strike="noStrike" kern="1200" cap="none" spc="300" normalizeH="0" baseline="0" noProof="0">
                <a:ln>
                  <a:noFill/>
                </a:ln>
                <a:solidFill>
                  <a:schemeClr val="tx1"/>
                </a:solidFill>
                <a:effectLst/>
                <a:uLnTx/>
                <a:uFillTx/>
                <a:latin typeface="Montserrat" panose="020B0604020202020204" pitchFamily="2" charset="0"/>
              </a:rPr>
              <a:t>MARKET TRENDS</a:t>
            </a:r>
            <a:endParaRPr kumimoji="0" lang="en-US" sz="12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0" name="Textbos: Create Your">
            <a:extLst>
              <a:ext uri="{FF2B5EF4-FFF2-40B4-BE49-F238E27FC236}">
                <a16:creationId xmlns:a16="http://schemas.microsoft.com/office/drawing/2014/main" id="{FC448C89-E64E-A3BE-650B-CCF5209DC40D}"/>
              </a:ext>
            </a:extLst>
          </p:cNvPr>
          <p:cNvSpPr txBox="1"/>
          <p:nvPr/>
        </p:nvSpPr>
        <p:spPr>
          <a:xfrm>
            <a:off x="2601843" y="359045"/>
            <a:ext cx="3392557" cy="419987"/>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300" normalizeH="0" baseline="0" noProof="0">
                <a:ln>
                  <a:noFill/>
                </a:ln>
                <a:solidFill>
                  <a:schemeClr val="tx1"/>
                </a:solidFill>
                <a:effectLst/>
                <a:uLnTx/>
                <a:uFillTx/>
                <a:latin typeface="Montserrat" panose="020B0604020202020204" pitchFamily="2" charset="0"/>
              </a:rPr>
              <a:t>PERCEPTUAL</a:t>
            </a:r>
            <a:r>
              <a:rPr kumimoji="0" lang="en-US" sz="1600" b="1" i="0" u="none" strike="noStrike" kern="1200" cap="none" spc="300" normalizeH="0" noProof="0">
                <a:ln>
                  <a:noFill/>
                </a:ln>
                <a:solidFill>
                  <a:schemeClr val="tx1"/>
                </a:solidFill>
                <a:effectLst/>
                <a:uLnTx/>
                <a:uFillTx/>
                <a:latin typeface="Montserrat" panose="020B0604020202020204" pitchFamily="2" charset="0"/>
              </a:rPr>
              <a:t> MAPPING</a:t>
            </a:r>
            <a:endParaRPr kumimoji="0" lang="en-US" sz="1600" b="1" i="0" u="none" strike="noStrike" kern="1200" cap="none" spc="300" normalizeH="0" baseline="0" noProof="0" dirty="0">
              <a:ln>
                <a:noFill/>
              </a:ln>
              <a:solidFill>
                <a:schemeClr val="tx1"/>
              </a:solidFill>
              <a:effectLst/>
              <a:uLnTx/>
              <a:uFillTx/>
              <a:latin typeface="Montserrat" panose="020B0604020202020204" pitchFamily="2" charset="0"/>
            </a:endParaRPr>
          </a:p>
        </p:txBody>
      </p:sp>
      <p:sp>
        <p:nvSpPr>
          <p:cNvPr id="31" name="Textbos: Create Your">
            <a:extLst>
              <a:ext uri="{FF2B5EF4-FFF2-40B4-BE49-F238E27FC236}">
                <a16:creationId xmlns:a16="http://schemas.microsoft.com/office/drawing/2014/main" id="{E50C2F11-DA7F-4292-0401-338BD3AAD6F3}"/>
              </a:ext>
            </a:extLst>
          </p:cNvPr>
          <p:cNvSpPr txBox="1"/>
          <p:nvPr/>
        </p:nvSpPr>
        <p:spPr>
          <a:xfrm>
            <a:off x="5854700" y="87300"/>
            <a:ext cx="252537"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pic>
        <p:nvPicPr>
          <p:cNvPr id="32" name="!! arrow 3" descr="Caret Right with solid fill">
            <a:extLst>
              <a:ext uri="{FF2B5EF4-FFF2-40B4-BE49-F238E27FC236}">
                <a16:creationId xmlns:a16="http://schemas.microsoft.com/office/drawing/2014/main" id="{3BFF2CB1-56F7-8D30-9230-1AB5AED3C63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86271" y="427576"/>
            <a:ext cx="356101" cy="356101"/>
          </a:xfrm>
          <a:prstGeom prst="rect">
            <a:avLst/>
          </a:prstGeom>
        </p:spPr>
      </p:pic>
      <p:sp>
        <p:nvSpPr>
          <p:cNvPr id="33" name="Textbos: Create Your">
            <a:extLst>
              <a:ext uri="{FF2B5EF4-FFF2-40B4-BE49-F238E27FC236}">
                <a16:creationId xmlns:a16="http://schemas.microsoft.com/office/drawing/2014/main" id="{487C63E0-2633-2DE7-C86A-CE987867295F}"/>
              </a:ext>
            </a:extLst>
          </p:cNvPr>
          <p:cNvSpPr txBox="1"/>
          <p:nvPr/>
        </p:nvSpPr>
        <p:spPr>
          <a:xfrm flipH="1" flipV="1">
            <a:off x="2392990" y="328599"/>
            <a:ext cx="132846" cy="829651"/>
          </a:xfrm>
          <a:prstGeom prst="rect">
            <a:avLst/>
          </a:prstGeom>
          <a:noFill/>
        </p:spPr>
        <p:txBody>
          <a:bodyPr wrap="square" lIns="0" rtlCol="0">
            <a:spAutoFit/>
          </a:bodyPr>
          <a:lstStyle>
            <a:defPPr>
              <a:defRPr lang="lt-LT"/>
            </a:defPPr>
            <a:lvl1pPr lvl="0">
              <a:lnSpc>
                <a:spcPct val="80000"/>
              </a:lnSpc>
              <a:defRPr sz="1100" b="1" spc="300">
                <a:solidFill>
                  <a:prstClr val="white"/>
                </a:solidFill>
                <a:latin typeface="Montserrat" pitchFamily="2" charset="77"/>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sz="3600" b="0">
                <a:solidFill>
                  <a:schemeClr val="tx1"/>
                </a:solidFill>
                <a:latin typeface="Montserrat" panose="020B0604020202020204" pitchFamily="2" charset="0"/>
              </a:rPr>
              <a:t>]</a:t>
            </a:r>
            <a:endParaRPr kumimoji="0" lang="en-US" sz="3600" b="0" i="0" u="none" strike="noStrike" kern="1200" cap="none" spc="300" normalizeH="0" baseline="0" noProof="0" dirty="0">
              <a:ln>
                <a:noFill/>
              </a:ln>
              <a:solidFill>
                <a:schemeClr val="tx1"/>
              </a:solidFill>
              <a:effectLst/>
              <a:uLnTx/>
              <a:uFillTx/>
              <a:latin typeface="Montserrat" panose="020B0604020202020204" pitchFamily="2" charset="0"/>
            </a:endParaRPr>
          </a:p>
        </p:txBody>
      </p:sp>
    </p:spTree>
    <p:extLst>
      <p:ext uri="{BB962C8B-B14F-4D97-AF65-F5344CB8AC3E}">
        <p14:creationId xmlns:p14="http://schemas.microsoft.com/office/powerpoint/2010/main" val="50652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scene, indoor, clothing, boutique&#10;&#10;Description automatically generated">
            <a:extLst>
              <a:ext uri="{FF2B5EF4-FFF2-40B4-BE49-F238E27FC236}">
                <a16:creationId xmlns:a16="http://schemas.microsoft.com/office/drawing/2014/main" id="{32E329A3-1CDD-2768-5A72-C0390823600A}"/>
              </a:ext>
            </a:extLst>
          </p:cNvPr>
          <p:cNvPicPr>
            <a:picLocks noChangeAspect="1"/>
          </p:cNvPicPr>
          <p:nvPr/>
        </p:nvPicPr>
        <p:blipFill rotWithShape="1">
          <a:blip r:embed="rId2">
            <a:extLst>
              <a:ext uri="{28A0092B-C50C-407E-A947-70E740481C1C}">
                <a14:useLocalDpi xmlns:a14="http://schemas.microsoft.com/office/drawing/2010/main" val="0"/>
              </a:ext>
            </a:extLst>
          </a:blip>
          <a:srcRect l="160" t="7812" b="7812"/>
          <a:stretch/>
        </p:blipFill>
        <p:spPr>
          <a:xfrm>
            <a:off x="-1" y="0"/>
            <a:ext cx="12172545" cy="6858000"/>
          </a:xfrm>
          <a:prstGeom prst="rect">
            <a:avLst/>
          </a:prstGeom>
        </p:spPr>
      </p:pic>
      <p:sp>
        <p:nvSpPr>
          <p:cNvPr id="4" name="Rectangle 3">
            <a:extLst>
              <a:ext uri="{FF2B5EF4-FFF2-40B4-BE49-F238E27FC236}">
                <a16:creationId xmlns:a16="http://schemas.microsoft.com/office/drawing/2014/main" id="{CA505218-5900-0972-243F-A9C78CC05E94}"/>
              </a:ext>
            </a:extLst>
          </p:cNvPr>
          <p:cNvSpPr/>
          <p:nvPr/>
        </p:nvSpPr>
        <p:spPr>
          <a:xfrm>
            <a:off x="1" y="0"/>
            <a:ext cx="7315200" cy="6858000"/>
          </a:xfrm>
          <a:prstGeom prst="rect">
            <a:avLst/>
          </a:prstGeom>
          <a:gradFill flip="none" rotWithShape="1">
            <a:gsLst>
              <a:gs pos="33000">
                <a:srgbClr val="000000">
                  <a:alpha val="63000"/>
                </a:srgbClr>
              </a:gs>
              <a:gs pos="14000">
                <a:schemeClr val="tx1">
                  <a:alpha val="83000"/>
                </a:schemeClr>
              </a:gs>
              <a:gs pos="98276">
                <a:srgbClr val="7A6647">
                  <a:lumMod val="99000"/>
                  <a:alpha val="9000"/>
                </a:srgbClr>
              </a:gs>
              <a:gs pos="62000">
                <a:schemeClr val="tx1">
                  <a:alpha val="1500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D6B898-D4BA-5C0E-6B94-004DE623F0FB}"/>
              </a:ext>
            </a:extLst>
          </p:cNvPr>
          <p:cNvSpPr txBox="1"/>
          <p:nvPr/>
        </p:nvSpPr>
        <p:spPr>
          <a:xfrm>
            <a:off x="152958" y="2979533"/>
            <a:ext cx="3611646" cy="1015663"/>
          </a:xfrm>
          <a:prstGeom prst="rect">
            <a:avLst/>
          </a:prstGeom>
          <a:noFill/>
        </p:spPr>
        <p:txBody>
          <a:bodyPr wrap="square" rtlCol="0">
            <a:spAutoFit/>
          </a:bodyPr>
          <a:lstStyle/>
          <a:p>
            <a:r>
              <a:rPr lang="en-US" sz="6000" i="1" spc="300">
                <a:solidFill>
                  <a:schemeClr val="bg1"/>
                </a:solidFill>
                <a:effectLst>
                  <a:outerShdw blurRad="38100" dist="38100" dir="2700000" algn="tl">
                    <a:srgbClr val="000000">
                      <a:alpha val="43137"/>
                    </a:srgbClr>
                  </a:outerShdw>
                </a:effectLst>
              </a:rPr>
              <a:t>PRODUCT</a:t>
            </a:r>
          </a:p>
        </p:txBody>
      </p:sp>
      <p:cxnSp>
        <p:nvCxnSpPr>
          <p:cNvPr id="10" name="Straight Connector 9">
            <a:extLst>
              <a:ext uri="{FF2B5EF4-FFF2-40B4-BE49-F238E27FC236}">
                <a16:creationId xmlns:a16="http://schemas.microsoft.com/office/drawing/2014/main" id="{0557AABB-9EE9-6FCB-827F-0E72A7914515}"/>
              </a:ext>
            </a:extLst>
          </p:cNvPr>
          <p:cNvCxnSpPr>
            <a:cxnSpLocks/>
          </p:cNvCxnSpPr>
          <p:nvPr/>
        </p:nvCxnSpPr>
        <p:spPr>
          <a:xfrm flipH="1">
            <a:off x="0" y="3971959"/>
            <a:ext cx="225681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6361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BEA7"/>
        </a:solidFill>
        <a:effectLst/>
      </p:bgPr>
    </p:bg>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8" name="Freeform: Shape 7">
            <a:extLst>
              <a:ext uri="{FF2B5EF4-FFF2-40B4-BE49-F238E27FC236}">
                <a16:creationId xmlns:a16="http://schemas.microsoft.com/office/drawing/2014/main" id="{D9E02117-7C3E-4E79-BD90-380EDCF22FDA}"/>
              </a:ext>
            </a:extLst>
          </p:cNvPr>
          <p:cNvSpPr/>
          <p:nvPr/>
        </p:nvSpPr>
        <p:spPr>
          <a:xfrm>
            <a:off x="7154946" y="390507"/>
            <a:ext cx="5009241" cy="6076981"/>
          </a:xfrm>
          <a:custGeom>
            <a:avLst/>
            <a:gdLst>
              <a:gd name="connsiteX0" fmla="*/ 2910434 w 5583895"/>
              <a:gd name="connsiteY0" fmla="*/ 0 h 6858000"/>
              <a:gd name="connsiteX1" fmla="*/ 5583895 w 5583895"/>
              <a:gd name="connsiteY1" fmla="*/ 0 h 6858000"/>
              <a:gd name="connsiteX2" fmla="*/ 5583895 w 5583895"/>
              <a:gd name="connsiteY2" fmla="*/ 6858000 h 6858000"/>
              <a:gd name="connsiteX3" fmla="*/ 3665082 w 5583895"/>
              <a:gd name="connsiteY3" fmla="*/ 6858000 h 6858000"/>
              <a:gd name="connsiteX4" fmla="*/ 0 w 5583895"/>
              <a:gd name="connsiteY4" fmla="*/ 238446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895" h="6858000">
                <a:moveTo>
                  <a:pt x="2910434" y="0"/>
                </a:moveTo>
                <a:lnTo>
                  <a:pt x="5583895" y="0"/>
                </a:lnTo>
                <a:lnTo>
                  <a:pt x="5583895" y="6858000"/>
                </a:lnTo>
                <a:lnTo>
                  <a:pt x="3665082" y="6858000"/>
                </a:lnTo>
                <a:lnTo>
                  <a:pt x="0" y="2384463"/>
                </a:lnTo>
                <a:close/>
              </a:path>
            </a:pathLst>
          </a:custGeom>
          <a:pattFill prst="ltDnDiag">
            <a:fgClr>
              <a:schemeClr val="bg1">
                <a:lumMod val="85000"/>
              </a:schemeClr>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10340" y="-28450"/>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2" name="TextBox 21">
            <a:extLst>
              <a:ext uri="{FF2B5EF4-FFF2-40B4-BE49-F238E27FC236}">
                <a16:creationId xmlns:a16="http://schemas.microsoft.com/office/drawing/2014/main" id="{58DB926B-5844-7826-04D7-127B962468A9}"/>
              </a:ext>
            </a:extLst>
          </p:cNvPr>
          <p:cNvSpPr txBox="1"/>
          <p:nvPr/>
        </p:nvSpPr>
        <p:spPr>
          <a:xfrm>
            <a:off x="3139038" y="267083"/>
            <a:ext cx="4684591" cy="584776"/>
          </a:xfrm>
          <a:prstGeom prst="rect">
            <a:avLst/>
          </a:prstGeom>
          <a:noFill/>
        </p:spPr>
        <p:txBody>
          <a:bodyPr wrap="square">
            <a:spAutoFit/>
          </a:bodyPr>
          <a:lstStyle/>
          <a:p>
            <a:endParaRPr lang="en-US" sz="3200">
              <a:solidFill>
                <a:schemeClr val="tx2">
                  <a:lumMod val="50000"/>
                </a:schemeClr>
              </a:solidFill>
            </a:endParaRPr>
          </a:p>
        </p:txBody>
      </p:sp>
      <p:sp>
        <p:nvSpPr>
          <p:cNvPr id="25" name="TextBox 24">
            <a:extLst>
              <a:ext uri="{FF2B5EF4-FFF2-40B4-BE49-F238E27FC236}">
                <a16:creationId xmlns:a16="http://schemas.microsoft.com/office/drawing/2014/main" id="{19137DE1-4C1C-F539-D51A-32490CC203C1}"/>
              </a:ext>
            </a:extLst>
          </p:cNvPr>
          <p:cNvSpPr txBox="1"/>
          <p:nvPr/>
        </p:nvSpPr>
        <p:spPr>
          <a:xfrm>
            <a:off x="1230725" y="1797709"/>
            <a:ext cx="8320779" cy="584775"/>
          </a:xfrm>
          <a:prstGeom prst="rect">
            <a:avLst/>
          </a:prstGeom>
          <a:noFill/>
        </p:spPr>
        <p:txBody>
          <a:bodyPr wrap="square">
            <a:spAutoFit/>
          </a:bodyPr>
          <a:lstStyle/>
          <a:p>
            <a:pPr marL="457200" indent="-457200">
              <a:buFont typeface="Arial" panose="020B0604020202020204" pitchFamily="34" charset="0"/>
              <a:buChar char="•"/>
            </a:pPr>
            <a:r>
              <a:rPr lang="en-US" sz="3200">
                <a:solidFill>
                  <a:schemeClr val="tx2">
                    <a:lumMod val="50000"/>
                  </a:schemeClr>
                </a:solidFill>
              </a:rPr>
              <a:t>Worried about your financial flexibility?</a:t>
            </a:r>
          </a:p>
        </p:txBody>
      </p:sp>
      <p:sp>
        <p:nvSpPr>
          <p:cNvPr id="41" name="TextBox 40">
            <a:extLst>
              <a:ext uri="{FF2B5EF4-FFF2-40B4-BE49-F238E27FC236}">
                <a16:creationId xmlns:a16="http://schemas.microsoft.com/office/drawing/2014/main" id="{C6C231E4-3094-7D29-68F5-AD107AE4D65E}"/>
              </a:ext>
            </a:extLst>
          </p:cNvPr>
          <p:cNvSpPr txBox="1"/>
          <p:nvPr/>
        </p:nvSpPr>
        <p:spPr>
          <a:xfrm>
            <a:off x="4686096" y="472611"/>
            <a:ext cx="3634563" cy="646331"/>
          </a:xfrm>
          <a:prstGeom prst="rect">
            <a:avLst/>
          </a:prstGeom>
          <a:noFill/>
        </p:spPr>
        <p:txBody>
          <a:bodyPr wrap="square" rtlCol="0">
            <a:spAutoFit/>
          </a:bodyPr>
          <a:lstStyle/>
          <a:p>
            <a:r>
              <a:rPr lang="en-US" sz="3600"/>
              <a:t>Have you ever…</a:t>
            </a:r>
          </a:p>
        </p:txBody>
      </p:sp>
      <p:sp>
        <p:nvSpPr>
          <p:cNvPr id="42" name="TextBox 41">
            <a:extLst>
              <a:ext uri="{FF2B5EF4-FFF2-40B4-BE49-F238E27FC236}">
                <a16:creationId xmlns:a16="http://schemas.microsoft.com/office/drawing/2014/main" id="{2CD6D2E1-2AFD-C1B0-D28B-888A2AB0DBEB}"/>
              </a:ext>
            </a:extLst>
          </p:cNvPr>
          <p:cNvSpPr txBox="1"/>
          <p:nvPr/>
        </p:nvSpPr>
        <p:spPr>
          <a:xfrm>
            <a:off x="1234039" y="2983779"/>
            <a:ext cx="8320779" cy="1077218"/>
          </a:xfrm>
          <a:prstGeom prst="rect">
            <a:avLst/>
          </a:prstGeom>
          <a:noFill/>
        </p:spPr>
        <p:txBody>
          <a:bodyPr wrap="square">
            <a:spAutoFit/>
          </a:bodyPr>
          <a:lstStyle/>
          <a:p>
            <a:pPr marL="457200" indent="-457200">
              <a:buFont typeface="Arial" panose="020B0604020202020204" pitchFamily="34" charset="0"/>
              <a:buChar char="•"/>
            </a:pPr>
            <a:r>
              <a:rPr lang="en-US" sz="3200">
                <a:solidFill>
                  <a:schemeClr val="tx2">
                    <a:lumMod val="50000"/>
                  </a:schemeClr>
                </a:solidFill>
              </a:rPr>
              <a:t>Want to buy a Taaga product but your pocket seems empty?</a:t>
            </a:r>
          </a:p>
        </p:txBody>
      </p:sp>
      <p:sp>
        <p:nvSpPr>
          <p:cNvPr id="43" name="TextBox 42">
            <a:extLst>
              <a:ext uri="{FF2B5EF4-FFF2-40B4-BE49-F238E27FC236}">
                <a16:creationId xmlns:a16="http://schemas.microsoft.com/office/drawing/2014/main" id="{A0331FCC-4378-1ECB-0654-962E9B918E68}"/>
              </a:ext>
            </a:extLst>
          </p:cNvPr>
          <p:cNvSpPr txBox="1"/>
          <p:nvPr/>
        </p:nvSpPr>
        <p:spPr>
          <a:xfrm>
            <a:off x="1237353" y="4269239"/>
            <a:ext cx="8320779" cy="1077218"/>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2">
                    <a:lumMod val="50000"/>
                  </a:schemeClr>
                </a:solidFill>
              </a:rPr>
              <a:t>Wish you could own fashion without paying for it instantly?</a:t>
            </a:r>
          </a:p>
        </p:txBody>
      </p:sp>
      <p:pic>
        <p:nvPicPr>
          <p:cNvPr id="45" name="Picture 44">
            <a:extLst>
              <a:ext uri="{FF2B5EF4-FFF2-40B4-BE49-F238E27FC236}">
                <a16:creationId xmlns:a16="http://schemas.microsoft.com/office/drawing/2014/main" id="{816EDC76-CBDE-6A03-CC7C-34B16D03C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52962" y="1154065"/>
            <a:ext cx="3053462" cy="3053462"/>
          </a:xfrm>
          <a:prstGeom prst="rect">
            <a:avLst/>
          </a:prstGeom>
        </p:spPr>
      </p:pic>
    </p:spTree>
    <p:extLst>
      <p:ext uri="{BB962C8B-B14F-4D97-AF65-F5344CB8AC3E}">
        <p14:creationId xmlns:p14="http://schemas.microsoft.com/office/powerpoint/2010/main" val="1345693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2" grpId="0"/>
      <p:bldP spid="4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BEA7"/>
        </a:solidFill>
        <a:effectLst/>
      </p:bgPr>
    </p:bg>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10340" y="-28450"/>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extBox 1">
            <a:extLst>
              <a:ext uri="{FF2B5EF4-FFF2-40B4-BE49-F238E27FC236}">
                <a16:creationId xmlns:a16="http://schemas.microsoft.com/office/drawing/2014/main" id="{613A9250-210A-68BF-5E87-59CA1B9BD945}"/>
              </a:ext>
            </a:extLst>
          </p:cNvPr>
          <p:cNvSpPr txBox="1"/>
          <p:nvPr/>
        </p:nvSpPr>
        <p:spPr>
          <a:xfrm>
            <a:off x="4027416" y="667026"/>
            <a:ext cx="4665588" cy="769441"/>
          </a:xfrm>
          <a:prstGeom prst="rect">
            <a:avLst/>
          </a:prstGeom>
          <a:noFill/>
        </p:spPr>
        <p:txBody>
          <a:bodyPr wrap="square" rtlCol="0">
            <a:spAutoFit/>
          </a:bodyPr>
          <a:lstStyle/>
          <a:p>
            <a:pPr algn="ctr"/>
            <a:r>
              <a:rPr lang="en-US" sz="4400" spc="300"/>
              <a:t>INTRODUCING</a:t>
            </a:r>
          </a:p>
        </p:txBody>
      </p:sp>
      <p:sp>
        <p:nvSpPr>
          <p:cNvPr id="3" name="Rectangle: Diagonal Corners Rounded 2">
            <a:extLst>
              <a:ext uri="{FF2B5EF4-FFF2-40B4-BE49-F238E27FC236}">
                <a16:creationId xmlns:a16="http://schemas.microsoft.com/office/drawing/2014/main" id="{2BFD09E6-C720-722A-3954-E68DBDA799A2}"/>
              </a:ext>
            </a:extLst>
          </p:cNvPr>
          <p:cNvSpPr/>
          <p:nvPr/>
        </p:nvSpPr>
        <p:spPr>
          <a:xfrm>
            <a:off x="4203419" y="2103493"/>
            <a:ext cx="4313582" cy="2136913"/>
          </a:xfrm>
          <a:prstGeom prst="round2DiagRect">
            <a:avLst>
              <a:gd name="adj1" fmla="val 16667"/>
              <a:gd name="adj2" fmla="val 3744"/>
            </a:avLst>
          </a:prstGeom>
          <a:blipFill>
            <a:blip r:embed="rId2"/>
            <a:stretch>
              <a:fillRect l="-29347" t="-43176" r="-29347" b="-127787"/>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6C493D-92AF-F924-5DE6-EEA6D7075ED0}"/>
              </a:ext>
            </a:extLst>
          </p:cNvPr>
          <p:cNvSpPr txBox="1"/>
          <p:nvPr/>
        </p:nvSpPr>
        <p:spPr>
          <a:xfrm>
            <a:off x="4027416" y="4676599"/>
            <a:ext cx="4937705" cy="461665"/>
          </a:xfrm>
          <a:prstGeom prst="rect">
            <a:avLst/>
          </a:prstGeom>
          <a:noFill/>
        </p:spPr>
        <p:txBody>
          <a:bodyPr wrap="square" rtlCol="0">
            <a:spAutoFit/>
          </a:bodyPr>
          <a:lstStyle/>
          <a:p>
            <a:r>
              <a:rPr lang="en-US" sz="2400" b="0" i="1" dirty="0">
                <a:effectLst/>
              </a:rPr>
              <a:t>"Shop now, PayLater, Smile forever"</a:t>
            </a:r>
          </a:p>
        </p:txBody>
      </p:sp>
    </p:spTree>
    <p:extLst>
      <p:ext uri="{BB962C8B-B14F-4D97-AF65-F5344CB8AC3E}">
        <p14:creationId xmlns:p14="http://schemas.microsoft.com/office/powerpoint/2010/main" val="2823033076"/>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BEA7"/>
        </a:solidFill>
        <a:effectLst/>
      </p:bgPr>
    </p:bg>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10340" y="-28450"/>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TextBox 1">
            <a:extLst>
              <a:ext uri="{FF2B5EF4-FFF2-40B4-BE49-F238E27FC236}">
                <a16:creationId xmlns:a16="http://schemas.microsoft.com/office/drawing/2014/main" id="{613A9250-210A-68BF-5E87-59CA1B9BD945}"/>
              </a:ext>
            </a:extLst>
          </p:cNvPr>
          <p:cNvSpPr txBox="1"/>
          <p:nvPr/>
        </p:nvSpPr>
        <p:spPr>
          <a:xfrm>
            <a:off x="4027416" y="667026"/>
            <a:ext cx="4665588" cy="769441"/>
          </a:xfrm>
          <a:prstGeom prst="rect">
            <a:avLst/>
          </a:prstGeom>
          <a:noFill/>
        </p:spPr>
        <p:txBody>
          <a:bodyPr wrap="square" rtlCol="0">
            <a:spAutoFit/>
          </a:bodyPr>
          <a:lstStyle/>
          <a:p>
            <a:pPr algn="ctr"/>
            <a:r>
              <a:rPr lang="en-US" sz="4400" spc="300" dirty="0"/>
              <a:t>What is this?</a:t>
            </a:r>
          </a:p>
        </p:txBody>
      </p:sp>
      <p:sp>
        <p:nvSpPr>
          <p:cNvPr id="3" name="Rectangle: Diagonal Corners Rounded 2">
            <a:extLst>
              <a:ext uri="{FF2B5EF4-FFF2-40B4-BE49-F238E27FC236}">
                <a16:creationId xmlns:a16="http://schemas.microsoft.com/office/drawing/2014/main" id="{2BFD09E6-C720-722A-3954-E68DBDA799A2}"/>
              </a:ext>
            </a:extLst>
          </p:cNvPr>
          <p:cNvSpPr/>
          <p:nvPr/>
        </p:nvSpPr>
        <p:spPr>
          <a:xfrm>
            <a:off x="7412825" y="3429000"/>
            <a:ext cx="4313582" cy="2136913"/>
          </a:xfrm>
          <a:prstGeom prst="round2DiagRect">
            <a:avLst>
              <a:gd name="adj1" fmla="val 16667"/>
              <a:gd name="adj2" fmla="val 3744"/>
            </a:avLst>
          </a:prstGeom>
          <a:blipFill>
            <a:blip r:embed="rId2"/>
            <a:stretch>
              <a:fillRect l="-29347" t="-43176" r="-29347" b="-127787"/>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6C493D-92AF-F924-5DE6-EEA6D7075ED0}"/>
              </a:ext>
            </a:extLst>
          </p:cNvPr>
          <p:cNvSpPr txBox="1"/>
          <p:nvPr/>
        </p:nvSpPr>
        <p:spPr>
          <a:xfrm>
            <a:off x="7236822" y="6002106"/>
            <a:ext cx="4937705" cy="461665"/>
          </a:xfrm>
          <a:prstGeom prst="rect">
            <a:avLst/>
          </a:prstGeom>
          <a:noFill/>
        </p:spPr>
        <p:txBody>
          <a:bodyPr wrap="square" rtlCol="0">
            <a:spAutoFit/>
          </a:bodyPr>
          <a:lstStyle/>
          <a:p>
            <a:r>
              <a:rPr lang="en-US" sz="2400" b="0" i="1" dirty="0">
                <a:effectLst/>
              </a:rPr>
              <a:t>"Shop now, PayLater, Smile forever"</a:t>
            </a:r>
          </a:p>
        </p:txBody>
      </p:sp>
      <p:sp>
        <p:nvSpPr>
          <p:cNvPr id="5" name="TextBox 4">
            <a:extLst>
              <a:ext uri="{FF2B5EF4-FFF2-40B4-BE49-F238E27FC236}">
                <a16:creationId xmlns:a16="http://schemas.microsoft.com/office/drawing/2014/main" id="{78F95563-3A49-48A6-A269-21C45B3DA2D7}"/>
              </a:ext>
            </a:extLst>
          </p:cNvPr>
          <p:cNvSpPr txBox="1"/>
          <p:nvPr/>
        </p:nvSpPr>
        <p:spPr>
          <a:xfrm>
            <a:off x="959434" y="2195792"/>
            <a:ext cx="5644280" cy="3785652"/>
          </a:xfrm>
          <a:prstGeom prst="rect">
            <a:avLst/>
          </a:prstGeom>
          <a:noFill/>
        </p:spPr>
        <p:txBody>
          <a:bodyPr wrap="square" rtlCol="0">
            <a:spAutoFit/>
          </a:bodyPr>
          <a:lstStyle/>
          <a:p>
            <a:pPr algn="l"/>
            <a:r>
              <a:rPr lang="en-US" sz="2400" dirty="0">
                <a:effectLst/>
                <a:ea typeface="Times New Roman" panose="02020603050405020304" pitchFamily="18" charset="0"/>
              </a:rPr>
              <a:t>A </a:t>
            </a:r>
            <a:r>
              <a:rPr lang="en-US" sz="3000" b="1" dirty="0">
                <a:latin typeface="Berlin Sans FB Demi" panose="020F0502020204030204" pitchFamily="34" charset="0"/>
                <a:ea typeface="Times New Roman" panose="02020603050405020304" pitchFamily="18" charset="0"/>
                <a:cs typeface="Berlin Sans FB Demi" panose="020F0502020204030204" pitchFamily="34" charset="0"/>
              </a:rPr>
              <a:t>CREDIT</a:t>
            </a:r>
            <a:r>
              <a:rPr lang="en-US" sz="2400" dirty="0">
                <a:effectLst/>
                <a:ea typeface="Times New Roman" panose="02020603050405020304" pitchFamily="18" charset="0"/>
              </a:rPr>
              <a:t> system which </a:t>
            </a:r>
            <a:r>
              <a:rPr lang="en-US" sz="3000" b="1" dirty="0">
                <a:effectLst/>
                <a:latin typeface="Berlin Sans FB Demi" panose="020F0502020204030204" pitchFamily="34" charset="0"/>
                <a:ea typeface="Times New Roman" panose="02020603050405020304" pitchFamily="18" charset="0"/>
                <a:cs typeface="Berlin Sans FB Demi" panose="020F0502020204030204" pitchFamily="34" charset="0"/>
              </a:rPr>
              <a:t>ENABLES</a:t>
            </a:r>
            <a:r>
              <a:rPr lang="en-US" sz="2400" dirty="0">
                <a:effectLst/>
                <a:ea typeface="Times New Roman" panose="02020603050405020304" pitchFamily="18" charset="0"/>
              </a:rPr>
              <a:t> our customers to purchase their desired products without having to pay for them </a:t>
            </a:r>
            <a:r>
              <a:rPr lang="en-US" sz="3000" b="1" dirty="0">
                <a:effectLst/>
                <a:latin typeface="Berlin Sans FB Demi" panose="020F0502020204030204" pitchFamily="34" charset="0"/>
                <a:ea typeface="Times New Roman" panose="02020603050405020304" pitchFamily="18" charset="0"/>
                <a:cs typeface="Berlin Sans FB Demi" panose="020F0502020204030204" pitchFamily="34" charset="0"/>
              </a:rPr>
              <a:t>IMMEDIATELY</a:t>
            </a:r>
            <a:r>
              <a:rPr lang="en-US" sz="2400" dirty="0">
                <a:effectLst/>
                <a:ea typeface="Times New Roman" panose="02020603050405020304" pitchFamily="18" charset="0"/>
              </a:rPr>
              <a:t>. </a:t>
            </a:r>
          </a:p>
          <a:p>
            <a:pPr algn="l"/>
            <a:endParaRPr lang="en-US" sz="2400" dirty="0">
              <a:ea typeface="Times New Roman" panose="02020603050405020304" pitchFamily="18" charset="0"/>
            </a:endParaRPr>
          </a:p>
          <a:p>
            <a:pPr algn="l"/>
            <a:r>
              <a:rPr lang="en-US" sz="2400" dirty="0">
                <a:effectLst/>
                <a:ea typeface="Times New Roman" panose="02020603050405020304" pitchFamily="18" charset="0"/>
              </a:rPr>
              <a:t>Customers can choose this payment method for selected products, and pay for them at a </a:t>
            </a:r>
            <a:r>
              <a:rPr lang="en-US" sz="3000" b="1" dirty="0">
                <a:effectLst/>
                <a:latin typeface="Berlin Sans FB Demi" panose="020F0502020204030204" pitchFamily="34" charset="0"/>
                <a:ea typeface="Times New Roman" panose="02020603050405020304" pitchFamily="18" charset="0"/>
                <a:cs typeface="Berlin Sans FB Demi" panose="020F0502020204030204" pitchFamily="34" charset="0"/>
              </a:rPr>
              <a:t>LATER DATE</a:t>
            </a:r>
            <a:r>
              <a:rPr lang="en-US" sz="2400" dirty="0">
                <a:effectLst/>
                <a:latin typeface="Berlin Sans FB Demi" panose="020F0502020204030204" pitchFamily="34" charset="0"/>
                <a:ea typeface="Times New Roman" panose="02020603050405020304" pitchFamily="18" charset="0"/>
                <a:cs typeface="Berlin Sans FB Demi" panose="020F0502020204030204" pitchFamily="34" charset="0"/>
              </a:rPr>
              <a:t> </a:t>
            </a:r>
            <a:r>
              <a:rPr lang="en-US" sz="2400" dirty="0">
                <a:effectLst/>
                <a:ea typeface="Times New Roman" panose="02020603050405020304" pitchFamily="18" charset="0"/>
              </a:rPr>
              <a:t>of their </a:t>
            </a:r>
            <a:r>
              <a:rPr lang="en-US" sz="3000" b="1" dirty="0">
                <a:effectLst/>
                <a:latin typeface="Berlin Sans FB Demi" panose="020F0502020204030204" pitchFamily="34" charset="0"/>
                <a:ea typeface="Times New Roman" panose="02020603050405020304" pitchFamily="18" charset="0"/>
                <a:cs typeface="Berlin Sans FB Demi" panose="020F0502020204030204" pitchFamily="34" charset="0"/>
              </a:rPr>
              <a:t>CHOICE</a:t>
            </a:r>
            <a:r>
              <a:rPr lang="en-US" sz="2400" dirty="0">
                <a:effectLst/>
                <a:ea typeface="Times New Roman" panose="02020603050405020304" pitchFamily="18" charset="0"/>
              </a:rPr>
              <a:t>. </a:t>
            </a:r>
            <a:endParaRPr lang="en-US" sz="2400" dirty="0"/>
          </a:p>
        </p:txBody>
      </p:sp>
    </p:spTree>
    <p:extLst>
      <p:ext uri="{BB962C8B-B14F-4D97-AF65-F5344CB8AC3E}">
        <p14:creationId xmlns:p14="http://schemas.microsoft.com/office/powerpoint/2010/main" val="3537970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472F42-1210-D70D-5901-54877B1EE534}"/>
              </a:ext>
            </a:extLst>
          </p:cNvPr>
          <p:cNvSpPr txBox="1"/>
          <p:nvPr/>
        </p:nvSpPr>
        <p:spPr>
          <a:xfrm>
            <a:off x="4529723" y="602904"/>
            <a:ext cx="3132553" cy="646331"/>
          </a:xfrm>
          <a:prstGeom prst="rect">
            <a:avLst/>
          </a:prstGeom>
          <a:noFill/>
        </p:spPr>
        <p:txBody>
          <a:bodyPr wrap="square">
            <a:spAutoFit/>
          </a:bodyPr>
          <a:lstStyle/>
          <a:p>
            <a:r>
              <a:rPr lang="en-US" sz="3600" dirty="0">
                <a:solidFill>
                  <a:schemeClr val="tx2">
                    <a:lumMod val="50000"/>
                  </a:schemeClr>
                </a:solidFill>
              </a:rPr>
              <a:t>Satisfied Needs</a:t>
            </a:r>
          </a:p>
        </p:txBody>
      </p:sp>
      <p:sp>
        <p:nvSpPr>
          <p:cNvPr id="5" name="TextBox 4">
            <a:extLst>
              <a:ext uri="{FF2B5EF4-FFF2-40B4-BE49-F238E27FC236}">
                <a16:creationId xmlns:a16="http://schemas.microsoft.com/office/drawing/2014/main" id="{85E77BC4-A075-E8C0-EF01-60F6E2BADC23}"/>
              </a:ext>
            </a:extLst>
          </p:cNvPr>
          <p:cNvSpPr txBox="1"/>
          <p:nvPr/>
        </p:nvSpPr>
        <p:spPr>
          <a:xfrm>
            <a:off x="630822" y="5541998"/>
            <a:ext cx="4144377" cy="584775"/>
          </a:xfrm>
          <a:prstGeom prst="rect">
            <a:avLst/>
          </a:prstGeom>
          <a:noFill/>
        </p:spPr>
        <p:txBody>
          <a:bodyPr wrap="square">
            <a:spAutoFit/>
          </a:bodyPr>
          <a:lstStyle/>
          <a:p>
            <a:pPr algn="ctr"/>
            <a:r>
              <a:rPr lang="en-US" sz="3200" dirty="0">
                <a:solidFill>
                  <a:schemeClr val="tx2">
                    <a:lumMod val="50000"/>
                  </a:schemeClr>
                </a:solidFill>
              </a:rPr>
              <a:t>Financial Flexibility</a:t>
            </a:r>
          </a:p>
        </p:txBody>
      </p:sp>
      <p:sp>
        <p:nvSpPr>
          <p:cNvPr id="6" name="TextBox 5">
            <a:extLst>
              <a:ext uri="{FF2B5EF4-FFF2-40B4-BE49-F238E27FC236}">
                <a16:creationId xmlns:a16="http://schemas.microsoft.com/office/drawing/2014/main" id="{2A738F18-74F0-6CE7-321F-F2E27AFB5512}"/>
              </a:ext>
            </a:extLst>
          </p:cNvPr>
          <p:cNvSpPr txBox="1"/>
          <p:nvPr/>
        </p:nvSpPr>
        <p:spPr>
          <a:xfrm>
            <a:off x="6030411" y="5541999"/>
            <a:ext cx="5490577" cy="584775"/>
          </a:xfrm>
          <a:prstGeom prst="rect">
            <a:avLst/>
          </a:prstGeom>
          <a:noFill/>
        </p:spPr>
        <p:txBody>
          <a:bodyPr wrap="square">
            <a:spAutoFit/>
          </a:bodyPr>
          <a:lstStyle/>
          <a:p>
            <a:pPr algn="ctr"/>
            <a:r>
              <a:rPr lang="en-US" sz="3200" dirty="0">
                <a:solidFill>
                  <a:schemeClr val="tx2">
                    <a:lumMod val="50000"/>
                  </a:schemeClr>
                </a:solidFill>
              </a:rPr>
              <a:t>Convenience of Payment</a:t>
            </a:r>
          </a:p>
        </p:txBody>
      </p:sp>
      <p:pic>
        <p:nvPicPr>
          <p:cNvPr id="10" name="Picture 9" descr="A person holding a card and a computer&#10;&#10;Description automatically generated with low confidence">
            <a:extLst>
              <a:ext uri="{FF2B5EF4-FFF2-40B4-BE49-F238E27FC236}">
                <a16:creationId xmlns:a16="http://schemas.microsoft.com/office/drawing/2014/main" id="{0D580277-E810-E379-0C38-C62B9B179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499" y="1714499"/>
            <a:ext cx="3708402" cy="3708402"/>
          </a:xfrm>
          <a:prstGeom prst="rect">
            <a:avLst/>
          </a:prstGeom>
        </p:spPr>
      </p:pic>
      <p:pic>
        <p:nvPicPr>
          <p:cNvPr id="12" name="Picture 11" descr="A cartoon of a person holding money&#10;&#10;Description automatically generated with medium confidence">
            <a:extLst>
              <a:ext uri="{FF2B5EF4-FFF2-40B4-BE49-F238E27FC236}">
                <a16:creationId xmlns:a16="http://schemas.microsoft.com/office/drawing/2014/main" id="{2705FFFC-797D-A17B-C383-A64CFD3B8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940" y="2105659"/>
            <a:ext cx="3152142" cy="3152142"/>
          </a:xfrm>
          <a:prstGeom prst="rect">
            <a:avLst/>
          </a:prstGeom>
        </p:spPr>
      </p:pic>
    </p:spTree>
    <p:extLst>
      <p:ext uri="{BB962C8B-B14F-4D97-AF65-F5344CB8AC3E}">
        <p14:creationId xmlns:p14="http://schemas.microsoft.com/office/powerpoint/2010/main" val="2890996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4EFFD7-2F29-DF99-66C9-FDC47C8D2672}"/>
              </a:ext>
            </a:extLst>
          </p:cNvPr>
          <p:cNvSpPr txBox="1"/>
          <p:nvPr/>
        </p:nvSpPr>
        <p:spPr>
          <a:xfrm>
            <a:off x="2577508" y="2998113"/>
            <a:ext cx="7843556" cy="861774"/>
          </a:xfrm>
          <a:prstGeom prst="rect">
            <a:avLst/>
          </a:prstGeom>
          <a:noFill/>
        </p:spPr>
        <p:txBody>
          <a:bodyPr wrap="square">
            <a:spAutoFit/>
          </a:bodyPr>
          <a:lstStyle/>
          <a:p>
            <a:pPr algn="ctr"/>
            <a:r>
              <a:rPr lang="en-US" sz="5000" dirty="0">
                <a:solidFill>
                  <a:schemeClr val="tx2">
                    <a:lumMod val="50000"/>
                  </a:schemeClr>
                </a:solidFill>
              </a:rPr>
              <a:t>Do we have competitors?</a:t>
            </a:r>
          </a:p>
        </p:txBody>
      </p:sp>
    </p:spTree>
    <p:extLst>
      <p:ext uri="{BB962C8B-B14F-4D97-AF65-F5344CB8AC3E}">
        <p14:creationId xmlns:p14="http://schemas.microsoft.com/office/powerpoint/2010/main" val="350701926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E58338-AA14-41FD-BF4E-4093FF02C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1163" y="2298700"/>
            <a:ext cx="4685274" cy="3759200"/>
          </a:xfrm>
          <a:prstGeom prst="rect">
            <a:avLst/>
          </a:prstGeom>
          <a:effectLst>
            <a:outerShdw blurRad="50800" dist="38100" dir="16200000" rotWithShape="0">
              <a:prstClr val="black">
                <a:alpha val="40000"/>
              </a:prstClr>
            </a:outerShdw>
          </a:effectLst>
        </p:spPr>
      </p:pic>
      <p:sp>
        <p:nvSpPr>
          <p:cNvPr id="2" name="TextBox 1">
            <a:extLst>
              <a:ext uri="{FF2B5EF4-FFF2-40B4-BE49-F238E27FC236}">
                <a16:creationId xmlns:a16="http://schemas.microsoft.com/office/drawing/2014/main" id="{BBCCD3CA-83F3-4644-9FB3-5BB76735C72B}"/>
              </a:ext>
            </a:extLst>
          </p:cNvPr>
          <p:cNvSpPr txBox="1"/>
          <p:nvPr/>
        </p:nvSpPr>
        <p:spPr>
          <a:xfrm>
            <a:off x="2174222" y="800100"/>
            <a:ext cx="7843556" cy="861774"/>
          </a:xfrm>
          <a:prstGeom prst="rect">
            <a:avLst/>
          </a:prstGeom>
          <a:noFill/>
        </p:spPr>
        <p:txBody>
          <a:bodyPr wrap="square">
            <a:spAutoFit/>
          </a:bodyPr>
          <a:lstStyle/>
          <a:p>
            <a:pPr algn="ctr"/>
            <a:r>
              <a:rPr lang="en-US" sz="5000" dirty="0">
                <a:solidFill>
                  <a:schemeClr val="tx2">
                    <a:lumMod val="50000"/>
                  </a:schemeClr>
                </a:solidFill>
              </a:rPr>
              <a:t>Do we have competitors?</a:t>
            </a:r>
          </a:p>
        </p:txBody>
      </p:sp>
    </p:spTree>
    <p:extLst>
      <p:ext uri="{BB962C8B-B14F-4D97-AF65-F5344CB8AC3E}">
        <p14:creationId xmlns:p14="http://schemas.microsoft.com/office/powerpoint/2010/main" val="3131872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DB98E9-E2B1-9E0C-DCBD-F43CC534EB3F}"/>
              </a:ext>
            </a:extLst>
          </p:cNvPr>
          <p:cNvSpPr txBox="1"/>
          <p:nvPr/>
        </p:nvSpPr>
        <p:spPr>
          <a:xfrm>
            <a:off x="4529296" y="-646331"/>
            <a:ext cx="2031523" cy="646331"/>
          </a:xfrm>
          <a:prstGeom prst="rect">
            <a:avLst/>
          </a:prstGeom>
          <a:noFill/>
        </p:spPr>
        <p:txBody>
          <a:bodyPr wrap="square" rtlCol="0">
            <a:spAutoFit/>
          </a:bodyPr>
          <a:lstStyle/>
          <a:p>
            <a:r>
              <a:rPr lang="en-US" sz="3600">
                <a:latin typeface="Congenial SemiBold" panose="02000503040000020004" pitchFamily="2" charset="0"/>
              </a:rPr>
              <a:t>PRICING</a:t>
            </a:r>
          </a:p>
        </p:txBody>
      </p:sp>
      <p:pic>
        <p:nvPicPr>
          <p:cNvPr id="8" name="Picture 7" descr="A person looking at clothes on a rack&#10;&#10;Description automatically generated with low confidence">
            <a:extLst>
              <a:ext uri="{FF2B5EF4-FFF2-40B4-BE49-F238E27FC236}">
                <a16:creationId xmlns:a16="http://schemas.microsoft.com/office/drawing/2014/main" id="{2E73DCE4-5F45-7946-8E8B-B4F445C1AB6B}"/>
              </a:ext>
            </a:extLst>
          </p:cNvPr>
          <p:cNvPicPr>
            <a:picLocks noChangeAspect="1"/>
          </p:cNvPicPr>
          <p:nvPr/>
        </p:nvPicPr>
        <p:blipFill rotWithShape="1">
          <a:blip r:embed="rId2">
            <a:extLst>
              <a:ext uri="{28A0092B-C50C-407E-A947-70E740481C1C}">
                <a14:useLocalDpi xmlns:a14="http://schemas.microsoft.com/office/drawing/2010/main" val="0"/>
              </a:ext>
            </a:extLst>
          </a:blip>
          <a:srcRect l="15000" t="3980" r="18750" b="11562"/>
          <a:stretch/>
        </p:blipFill>
        <p:spPr>
          <a:xfrm>
            <a:off x="4114800" y="-1"/>
            <a:ext cx="8077200" cy="6858001"/>
          </a:xfrm>
          <a:prstGeom prst="rect">
            <a:avLst/>
          </a:prstGeom>
        </p:spPr>
      </p:pic>
      <p:sp>
        <p:nvSpPr>
          <p:cNvPr id="9" name="TextBox 8">
            <a:extLst>
              <a:ext uri="{FF2B5EF4-FFF2-40B4-BE49-F238E27FC236}">
                <a16:creationId xmlns:a16="http://schemas.microsoft.com/office/drawing/2014/main" id="{E7208F26-3F63-209B-53A5-789FBAB8B8E3}"/>
              </a:ext>
            </a:extLst>
          </p:cNvPr>
          <p:cNvSpPr txBox="1"/>
          <p:nvPr/>
        </p:nvSpPr>
        <p:spPr>
          <a:xfrm>
            <a:off x="505840" y="2986790"/>
            <a:ext cx="3229583" cy="923330"/>
          </a:xfrm>
          <a:prstGeom prst="rect">
            <a:avLst/>
          </a:prstGeom>
          <a:noFill/>
        </p:spPr>
        <p:txBody>
          <a:bodyPr wrap="square" rtlCol="0">
            <a:spAutoFit/>
          </a:bodyPr>
          <a:lstStyle/>
          <a:p>
            <a:r>
              <a:rPr lang="en-US" sz="5400">
                <a:latin typeface="Congenial SemiBold" panose="02000503040000020004" pitchFamily="2" charset="0"/>
              </a:rPr>
              <a:t>PRICING</a:t>
            </a:r>
          </a:p>
        </p:txBody>
      </p:sp>
      <p:sp>
        <p:nvSpPr>
          <p:cNvPr id="10" name="Rectangle 9">
            <a:extLst>
              <a:ext uri="{FF2B5EF4-FFF2-40B4-BE49-F238E27FC236}">
                <a16:creationId xmlns:a16="http://schemas.microsoft.com/office/drawing/2014/main" id="{62D05C3C-2CD7-636E-D43C-3701A97D3C9B}"/>
              </a:ext>
            </a:extLst>
          </p:cNvPr>
          <p:cNvSpPr/>
          <p:nvPr/>
        </p:nvSpPr>
        <p:spPr>
          <a:xfrm>
            <a:off x="4114798" y="-1"/>
            <a:ext cx="8077201" cy="6858001"/>
          </a:xfrm>
          <a:prstGeom prst="rect">
            <a:avLst/>
          </a:prstGeom>
          <a:solidFill>
            <a:schemeClr val="tx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6BCB0A84-CB60-DA03-92EE-E1C397F16578}"/>
              </a:ext>
            </a:extLst>
          </p:cNvPr>
          <p:cNvCxnSpPr>
            <a:cxnSpLocks/>
          </p:cNvCxnSpPr>
          <p:nvPr/>
        </p:nvCxnSpPr>
        <p:spPr>
          <a:xfrm>
            <a:off x="226280" y="3426864"/>
            <a:ext cx="32271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07DB325-43E4-EEE7-C01D-B5B0EC52CF24}"/>
              </a:ext>
            </a:extLst>
          </p:cNvPr>
          <p:cNvCxnSpPr>
            <a:cxnSpLocks/>
          </p:cNvCxnSpPr>
          <p:nvPr/>
        </p:nvCxnSpPr>
        <p:spPr>
          <a:xfrm>
            <a:off x="3410737" y="3407409"/>
            <a:ext cx="32271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356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21F936-F0CA-468D-9E09-FEEB6A5EBB61}"/>
              </a:ext>
            </a:extLst>
          </p:cNvPr>
          <p:cNvSpPr/>
          <p:nvPr/>
        </p:nvSpPr>
        <p:spPr>
          <a:xfrm>
            <a:off x="0" y="-2"/>
            <a:ext cx="12192000" cy="6858001"/>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Parallelogram 9">
            <a:extLst>
              <a:ext uri="{FF2B5EF4-FFF2-40B4-BE49-F238E27FC236}">
                <a16:creationId xmlns:a16="http://schemas.microsoft.com/office/drawing/2014/main" id="{721E618F-AA44-4D22-8CD5-2A4423329BB5}"/>
              </a:ext>
            </a:extLst>
          </p:cNvPr>
          <p:cNvSpPr/>
          <p:nvPr/>
        </p:nvSpPr>
        <p:spPr>
          <a:xfrm>
            <a:off x="0" y="0"/>
            <a:ext cx="9420684" cy="6857999"/>
          </a:xfrm>
          <a:prstGeom prst="parallelogram">
            <a:avLst>
              <a:gd name="adj" fmla="val 74524"/>
            </a:avLst>
          </a:prstGeom>
          <a:gradFill>
            <a:gsLst>
              <a:gs pos="0">
                <a:schemeClr val="bg1">
                  <a:lumMod val="85000"/>
                  <a:alpha val="72000"/>
                </a:schemeClr>
              </a:gs>
              <a:gs pos="100000">
                <a:schemeClr val="bg1">
                  <a:lumMod val="95000"/>
                  <a:alpha val="7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8" name="Freeform: Shape 7">
            <a:extLst>
              <a:ext uri="{FF2B5EF4-FFF2-40B4-BE49-F238E27FC236}">
                <a16:creationId xmlns:a16="http://schemas.microsoft.com/office/drawing/2014/main" id="{D9E02117-7C3E-4E79-BD90-380EDCF22FDA}"/>
              </a:ext>
            </a:extLst>
          </p:cNvPr>
          <p:cNvSpPr/>
          <p:nvPr/>
        </p:nvSpPr>
        <p:spPr>
          <a:xfrm>
            <a:off x="7154946" y="380690"/>
            <a:ext cx="5009241" cy="6076981"/>
          </a:xfrm>
          <a:custGeom>
            <a:avLst/>
            <a:gdLst>
              <a:gd name="connsiteX0" fmla="*/ 2910434 w 5583895"/>
              <a:gd name="connsiteY0" fmla="*/ 0 h 6858000"/>
              <a:gd name="connsiteX1" fmla="*/ 5583895 w 5583895"/>
              <a:gd name="connsiteY1" fmla="*/ 0 h 6858000"/>
              <a:gd name="connsiteX2" fmla="*/ 5583895 w 5583895"/>
              <a:gd name="connsiteY2" fmla="*/ 6858000 h 6858000"/>
              <a:gd name="connsiteX3" fmla="*/ 3665082 w 5583895"/>
              <a:gd name="connsiteY3" fmla="*/ 6858000 h 6858000"/>
              <a:gd name="connsiteX4" fmla="*/ 0 w 5583895"/>
              <a:gd name="connsiteY4" fmla="*/ 238446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3895" h="6858000">
                <a:moveTo>
                  <a:pt x="2910434" y="0"/>
                </a:moveTo>
                <a:lnTo>
                  <a:pt x="5583895" y="0"/>
                </a:lnTo>
                <a:lnTo>
                  <a:pt x="5583895" y="6858000"/>
                </a:lnTo>
                <a:lnTo>
                  <a:pt x="3665082" y="6858000"/>
                </a:lnTo>
                <a:lnTo>
                  <a:pt x="0" y="2384463"/>
                </a:lnTo>
                <a:close/>
              </a:path>
            </a:pathLst>
          </a:custGeom>
          <a:pattFill prst="ltDnDiag">
            <a:fgClr>
              <a:schemeClr val="bg1">
                <a:lumMod val="85000"/>
              </a:schemeClr>
            </a:fgClr>
            <a:bgClr>
              <a:schemeClr val="bg1">
                <a:lumMod val="9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3E7D2590-E071-4109-A4CF-ECAF6EFFCB6A}"/>
              </a:ext>
            </a:extLst>
          </p:cNvPr>
          <p:cNvSpPr/>
          <p:nvPr/>
        </p:nvSpPr>
        <p:spPr>
          <a:xfrm>
            <a:off x="27813" y="-1"/>
            <a:ext cx="9392872" cy="6858001"/>
          </a:xfrm>
          <a:custGeom>
            <a:avLst/>
            <a:gdLst>
              <a:gd name="connsiteX0" fmla="*/ 0 w 4773183"/>
              <a:gd name="connsiteY0" fmla="*/ 0 h 2339952"/>
              <a:gd name="connsiteX1" fmla="*/ 4773183 w 4773183"/>
              <a:gd name="connsiteY1" fmla="*/ 0 h 2339952"/>
              <a:gd name="connsiteX2" fmla="*/ 1917078 w 4773183"/>
              <a:gd name="connsiteY2" fmla="*/ 2339952 h 2339952"/>
            </a:gdLst>
            <a:ahLst/>
            <a:cxnLst>
              <a:cxn ang="0">
                <a:pos x="connsiteX0" y="connsiteY0"/>
              </a:cxn>
              <a:cxn ang="0">
                <a:pos x="connsiteX1" y="connsiteY1"/>
              </a:cxn>
              <a:cxn ang="0">
                <a:pos x="connsiteX2" y="connsiteY2"/>
              </a:cxn>
            </a:cxnLst>
            <a:rect l="l" t="t" r="r" b="b"/>
            <a:pathLst>
              <a:path w="4773183" h="2339952">
                <a:moveTo>
                  <a:pt x="0" y="0"/>
                </a:moveTo>
                <a:lnTo>
                  <a:pt x="4773183" y="0"/>
                </a:lnTo>
                <a:lnTo>
                  <a:pt x="1917078" y="2339952"/>
                </a:lnTo>
                <a:close/>
              </a:path>
            </a:pathLst>
          </a:custGeom>
          <a:solidFill>
            <a:schemeClr val="tx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id="{531567C2-0402-481A-8EDD-DFDED88833E4}"/>
              </a:ext>
            </a:extLst>
          </p:cNvPr>
          <p:cNvSpPr/>
          <p:nvPr/>
        </p:nvSpPr>
        <p:spPr>
          <a:xfrm>
            <a:off x="0" y="0"/>
            <a:ext cx="12164187" cy="6858000"/>
          </a:xfrm>
          <a:prstGeom prst="rtTriangle">
            <a:avLst/>
          </a:prstGeom>
          <a:solidFill>
            <a:schemeClr val="bg2">
              <a:lumMod val="50000"/>
              <a:alpha val="1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15" name="Freeform: Shape 14">
            <a:extLst>
              <a:ext uri="{FF2B5EF4-FFF2-40B4-BE49-F238E27FC236}">
                <a16:creationId xmlns:a16="http://schemas.microsoft.com/office/drawing/2014/main" id="{598F0B94-7028-4C7E-B7CA-30BB73E4FAA7}"/>
              </a:ext>
            </a:extLst>
          </p:cNvPr>
          <p:cNvSpPr/>
          <p:nvPr/>
        </p:nvSpPr>
        <p:spPr>
          <a:xfrm>
            <a:off x="0" y="-2"/>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pattFill prst="dkUpDiag">
            <a:fgClr>
              <a:schemeClr val="tx1">
                <a:lumMod val="75000"/>
                <a:lumOff val="25000"/>
              </a:schemeClr>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Freeform: Shape 15">
            <a:extLst>
              <a:ext uri="{FF2B5EF4-FFF2-40B4-BE49-F238E27FC236}">
                <a16:creationId xmlns:a16="http://schemas.microsoft.com/office/drawing/2014/main" id="{D404DC97-3ABF-4A98-8335-BB8A53BE236E}"/>
              </a:ext>
            </a:extLst>
          </p:cNvPr>
          <p:cNvSpPr/>
          <p:nvPr/>
        </p:nvSpPr>
        <p:spPr>
          <a:xfrm flipH="1">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138806 h 6858000"/>
              <a:gd name="connsiteX3" fmla="*/ 138806 w 6096000"/>
              <a:gd name="connsiteY3" fmla="*/ 138806 h 6858000"/>
              <a:gd name="connsiteX4" fmla="*/ 138806 w 6096000"/>
              <a:gd name="connsiteY4" fmla="*/ 6719194 h 6858000"/>
              <a:gd name="connsiteX5" fmla="*/ 6096000 w 6096000"/>
              <a:gd name="connsiteY5" fmla="*/ 6719194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138806"/>
                </a:lnTo>
                <a:lnTo>
                  <a:pt x="138806" y="138806"/>
                </a:lnTo>
                <a:lnTo>
                  <a:pt x="138806" y="6719194"/>
                </a:lnTo>
                <a:lnTo>
                  <a:pt x="6096000" y="6719194"/>
                </a:lnTo>
                <a:lnTo>
                  <a:pt x="609600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44" name="Straight Connector 43">
            <a:extLst>
              <a:ext uri="{FF2B5EF4-FFF2-40B4-BE49-F238E27FC236}">
                <a16:creationId xmlns:a16="http://schemas.microsoft.com/office/drawing/2014/main" id="{7954C86F-2CE6-403B-98E7-39ED56B91575}"/>
              </a:ext>
            </a:extLst>
          </p:cNvPr>
          <p:cNvCxnSpPr>
            <a:cxnSpLocks/>
          </p:cNvCxnSpPr>
          <p:nvPr/>
        </p:nvCxnSpPr>
        <p:spPr>
          <a:xfrm>
            <a:off x="6261100" y="6758980"/>
            <a:ext cx="5930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C84922F-7353-8A63-4CBF-CAF9BFEE42BF}"/>
              </a:ext>
            </a:extLst>
          </p:cNvPr>
          <p:cNvSpPr txBox="1"/>
          <p:nvPr/>
        </p:nvSpPr>
        <p:spPr>
          <a:xfrm>
            <a:off x="674607" y="1490694"/>
            <a:ext cx="3937204" cy="646331"/>
          </a:xfrm>
          <a:prstGeom prst="rect">
            <a:avLst/>
          </a:prstGeom>
          <a:noFill/>
        </p:spPr>
        <p:txBody>
          <a:bodyPr wrap="square" rtlCol="0">
            <a:spAutoFit/>
          </a:bodyPr>
          <a:lstStyle/>
          <a:p>
            <a:r>
              <a:rPr lang="en-US" sz="3600"/>
              <a:t>Value Proposition </a:t>
            </a:r>
          </a:p>
        </p:txBody>
      </p:sp>
      <p:sp>
        <p:nvSpPr>
          <p:cNvPr id="4" name="TextBox 3">
            <a:extLst>
              <a:ext uri="{FF2B5EF4-FFF2-40B4-BE49-F238E27FC236}">
                <a16:creationId xmlns:a16="http://schemas.microsoft.com/office/drawing/2014/main" id="{230CB2F7-6E11-A5C5-422E-CD6397403227}"/>
              </a:ext>
            </a:extLst>
          </p:cNvPr>
          <p:cNvSpPr txBox="1"/>
          <p:nvPr/>
        </p:nvSpPr>
        <p:spPr>
          <a:xfrm>
            <a:off x="649207" y="2492051"/>
            <a:ext cx="6779288"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t>Enables the opportunity for the customers to purchase without paying upfront.</a:t>
            </a:r>
          </a:p>
        </p:txBody>
      </p:sp>
      <p:sp>
        <p:nvSpPr>
          <p:cNvPr id="5" name="TextBox 4">
            <a:extLst>
              <a:ext uri="{FF2B5EF4-FFF2-40B4-BE49-F238E27FC236}">
                <a16:creationId xmlns:a16="http://schemas.microsoft.com/office/drawing/2014/main" id="{02958EE1-F60E-C377-7AAA-851053348929}"/>
              </a:ext>
            </a:extLst>
          </p:cNvPr>
          <p:cNvSpPr txBox="1"/>
          <p:nvPr/>
        </p:nvSpPr>
        <p:spPr>
          <a:xfrm>
            <a:off x="666140" y="3342952"/>
            <a:ext cx="6779288" cy="707886"/>
          </a:xfrm>
          <a:prstGeom prst="rect">
            <a:avLst/>
          </a:prstGeom>
          <a:noFill/>
        </p:spPr>
        <p:txBody>
          <a:bodyPr wrap="square" rtlCol="0">
            <a:spAutoFit/>
          </a:bodyPr>
          <a:lstStyle/>
          <a:p>
            <a:pPr marL="285750" indent="-285750">
              <a:buFont typeface="Arial" panose="020B0604020202020204" pitchFamily="34" charset="0"/>
              <a:buChar char="•"/>
            </a:pPr>
            <a:r>
              <a:rPr lang="en-US" sz="2000"/>
              <a:t>It creates a strong sense of financial flexibility in its customers. </a:t>
            </a:r>
          </a:p>
        </p:txBody>
      </p:sp>
      <p:sp>
        <p:nvSpPr>
          <p:cNvPr id="7" name="TextBox 6">
            <a:extLst>
              <a:ext uri="{FF2B5EF4-FFF2-40B4-BE49-F238E27FC236}">
                <a16:creationId xmlns:a16="http://schemas.microsoft.com/office/drawing/2014/main" id="{95A98C85-CC99-3634-3111-CAB0F5D49611}"/>
              </a:ext>
            </a:extLst>
          </p:cNvPr>
          <p:cNvSpPr txBox="1"/>
          <p:nvPr/>
        </p:nvSpPr>
        <p:spPr>
          <a:xfrm>
            <a:off x="670373" y="4143053"/>
            <a:ext cx="6779288" cy="707886"/>
          </a:xfrm>
          <a:prstGeom prst="rect">
            <a:avLst/>
          </a:prstGeom>
          <a:noFill/>
        </p:spPr>
        <p:txBody>
          <a:bodyPr wrap="square" rtlCol="0">
            <a:spAutoFit/>
          </a:bodyPr>
          <a:lstStyle/>
          <a:p>
            <a:pPr marL="285750" indent="-285750">
              <a:buFont typeface="Arial" panose="020B0604020202020204" pitchFamily="34" charset="0"/>
              <a:buChar char="•"/>
            </a:pPr>
            <a:r>
              <a:rPr lang="en-US" sz="2000"/>
              <a:t>Students, who has limited financial freedom, will be the most benefitted from this service.</a:t>
            </a:r>
          </a:p>
        </p:txBody>
      </p:sp>
      <p:pic>
        <p:nvPicPr>
          <p:cNvPr id="13" name="Picture 12" descr="A person holding shopping bags&#10;&#10;Description automatically generated with low confidence">
            <a:extLst>
              <a:ext uri="{FF2B5EF4-FFF2-40B4-BE49-F238E27FC236}">
                <a16:creationId xmlns:a16="http://schemas.microsoft.com/office/drawing/2014/main" id="{BE4DA662-F83D-DEFB-6325-AD6EDCED7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8613" y="998536"/>
            <a:ext cx="4761905" cy="4761905"/>
          </a:xfrm>
          <a:prstGeom prst="rect">
            <a:avLst/>
          </a:prstGeom>
        </p:spPr>
      </p:pic>
    </p:spTree>
    <p:extLst>
      <p:ext uri="{BB962C8B-B14F-4D97-AF65-F5344CB8AC3E}">
        <p14:creationId xmlns:p14="http://schemas.microsoft.com/office/powerpoint/2010/main" val="460669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2071F14-079D-E365-84A2-2FBEB8A68D2D}"/>
              </a:ext>
            </a:extLst>
          </p:cNvPr>
          <p:cNvCxnSpPr>
            <a:cxnSpLocks/>
          </p:cNvCxnSpPr>
          <p:nvPr/>
        </p:nvCxnSpPr>
        <p:spPr>
          <a:xfrm>
            <a:off x="872810" y="5302482"/>
            <a:ext cx="297672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EFBE19A-8C8D-63AC-2795-37F0357CA8F0}"/>
              </a:ext>
            </a:extLst>
          </p:cNvPr>
          <p:cNvSpPr txBox="1"/>
          <p:nvPr/>
        </p:nvSpPr>
        <p:spPr>
          <a:xfrm>
            <a:off x="6072637" y="1018711"/>
            <a:ext cx="3937204" cy="646331"/>
          </a:xfrm>
          <a:prstGeom prst="rect">
            <a:avLst/>
          </a:prstGeom>
          <a:noFill/>
        </p:spPr>
        <p:txBody>
          <a:bodyPr wrap="square" rtlCol="0">
            <a:spAutoFit/>
          </a:bodyPr>
          <a:lstStyle/>
          <a:p>
            <a:r>
              <a:rPr lang="en-US" sz="3600"/>
              <a:t>Price sensitivity</a:t>
            </a:r>
          </a:p>
        </p:txBody>
      </p:sp>
      <p:sp>
        <p:nvSpPr>
          <p:cNvPr id="4" name="TextBox 3">
            <a:extLst>
              <a:ext uri="{FF2B5EF4-FFF2-40B4-BE49-F238E27FC236}">
                <a16:creationId xmlns:a16="http://schemas.microsoft.com/office/drawing/2014/main" id="{F2F8D9BF-524D-3E35-508D-6A3B00F15967}"/>
              </a:ext>
            </a:extLst>
          </p:cNvPr>
          <p:cNvSpPr txBox="1"/>
          <p:nvPr/>
        </p:nvSpPr>
        <p:spPr>
          <a:xfrm>
            <a:off x="4539902" y="2196428"/>
            <a:ext cx="6779288" cy="584775"/>
          </a:xfrm>
          <a:prstGeom prst="rect">
            <a:avLst/>
          </a:prstGeom>
          <a:noFill/>
        </p:spPr>
        <p:txBody>
          <a:bodyPr wrap="square" rtlCol="0">
            <a:spAutoFit/>
          </a:bodyPr>
          <a:lstStyle/>
          <a:p>
            <a:pPr marL="285750" indent="-285750">
              <a:buFont typeface="Arial" panose="020B0604020202020204" pitchFamily="34" charset="0"/>
              <a:buChar char="•"/>
            </a:pPr>
            <a:r>
              <a:rPr lang="en-US" sz="1600"/>
              <a:t>No pre-established price points. As a result, Taaga has the liberty of setting the price to both their and their customers’ liking.</a:t>
            </a:r>
          </a:p>
        </p:txBody>
      </p:sp>
      <p:sp>
        <p:nvSpPr>
          <p:cNvPr id="7" name="TextBox 6">
            <a:extLst>
              <a:ext uri="{FF2B5EF4-FFF2-40B4-BE49-F238E27FC236}">
                <a16:creationId xmlns:a16="http://schemas.microsoft.com/office/drawing/2014/main" id="{60BC53F5-EC23-7548-AE5B-EB9E7A818AFB}"/>
              </a:ext>
            </a:extLst>
          </p:cNvPr>
          <p:cNvSpPr txBox="1"/>
          <p:nvPr/>
        </p:nvSpPr>
        <p:spPr>
          <a:xfrm>
            <a:off x="4539902" y="3006107"/>
            <a:ext cx="6779288" cy="830997"/>
          </a:xfrm>
          <a:prstGeom prst="rect">
            <a:avLst/>
          </a:prstGeom>
          <a:noFill/>
        </p:spPr>
        <p:txBody>
          <a:bodyPr wrap="square" rtlCol="0">
            <a:spAutoFit/>
          </a:bodyPr>
          <a:lstStyle/>
          <a:p>
            <a:pPr marL="285750" indent="-285750">
              <a:buFont typeface="Arial" panose="020B0604020202020204" pitchFamily="34" charset="0"/>
              <a:buChar char="•"/>
            </a:pPr>
            <a:r>
              <a:rPr lang="en-US" sz="1600"/>
              <a:t>Target customers for this service mainly consists of students and young professionals with limited financial freedom and they exhibit a very strong sense of price sensitivity</a:t>
            </a:r>
          </a:p>
        </p:txBody>
      </p:sp>
      <p:sp>
        <p:nvSpPr>
          <p:cNvPr id="8" name="TextBox 7">
            <a:extLst>
              <a:ext uri="{FF2B5EF4-FFF2-40B4-BE49-F238E27FC236}">
                <a16:creationId xmlns:a16="http://schemas.microsoft.com/office/drawing/2014/main" id="{D5168519-FB7D-548C-CB29-42495738C71A}"/>
              </a:ext>
            </a:extLst>
          </p:cNvPr>
          <p:cNvSpPr txBox="1"/>
          <p:nvPr/>
        </p:nvSpPr>
        <p:spPr>
          <a:xfrm>
            <a:off x="4539902" y="3965786"/>
            <a:ext cx="6779288"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Customers should be able to perceive the how this service will enable them to afford Taaga products without having to worry about immediate financial burdens.</a:t>
            </a:r>
          </a:p>
        </p:txBody>
      </p:sp>
      <p:sp>
        <p:nvSpPr>
          <p:cNvPr id="9" name="TextBox 8">
            <a:extLst>
              <a:ext uri="{FF2B5EF4-FFF2-40B4-BE49-F238E27FC236}">
                <a16:creationId xmlns:a16="http://schemas.microsoft.com/office/drawing/2014/main" id="{C145F91A-EE6B-70F9-A36D-F4F47AD2C9C1}"/>
              </a:ext>
            </a:extLst>
          </p:cNvPr>
          <p:cNvSpPr txBox="1"/>
          <p:nvPr/>
        </p:nvSpPr>
        <p:spPr>
          <a:xfrm>
            <a:off x="4539902" y="4911083"/>
            <a:ext cx="6779288" cy="584775"/>
          </a:xfrm>
          <a:prstGeom prst="rect">
            <a:avLst/>
          </a:prstGeom>
          <a:noFill/>
        </p:spPr>
        <p:txBody>
          <a:bodyPr wrap="square" rtlCol="0">
            <a:spAutoFit/>
          </a:bodyPr>
          <a:lstStyle/>
          <a:p>
            <a:pPr marL="285750" indent="-285750">
              <a:buFont typeface="Arial" panose="020B0604020202020204" pitchFamily="34" charset="0"/>
              <a:buChar char="•"/>
            </a:pPr>
            <a:r>
              <a:rPr lang="en-US" sz="1600"/>
              <a:t>This service needs to be positioned as a cost-effective and advantageous option for the customers to attract their interest and participation.</a:t>
            </a:r>
          </a:p>
        </p:txBody>
      </p:sp>
      <p:pic>
        <p:nvPicPr>
          <p:cNvPr id="6" name="Picture 5" descr="A person with her hand on her chin&#10;&#10;Description automatically generated with medium confidence">
            <a:extLst>
              <a:ext uri="{FF2B5EF4-FFF2-40B4-BE49-F238E27FC236}">
                <a16:creationId xmlns:a16="http://schemas.microsoft.com/office/drawing/2014/main" id="{92D488C0-A1C3-6E1C-2125-0237E6C31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72810" y="2023986"/>
            <a:ext cx="3422353" cy="3422353"/>
          </a:xfrm>
          <a:prstGeom prst="rect">
            <a:avLst/>
          </a:prstGeom>
        </p:spPr>
      </p:pic>
    </p:spTree>
    <p:extLst>
      <p:ext uri="{BB962C8B-B14F-4D97-AF65-F5344CB8AC3E}">
        <p14:creationId xmlns:p14="http://schemas.microsoft.com/office/powerpoint/2010/main" val="2470909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D474"/>
        </a:solidFill>
        <a:effectLst/>
      </p:bgPr>
    </p:bg>
    <p:spTree>
      <p:nvGrpSpPr>
        <p:cNvPr id="1" name=""/>
        <p:cNvGrpSpPr/>
        <p:nvPr/>
      </p:nvGrpSpPr>
      <p:grpSpPr>
        <a:xfrm>
          <a:off x="0" y="0"/>
          <a:ext cx="0" cy="0"/>
          <a:chOff x="0" y="0"/>
          <a:chExt cx="0" cy="0"/>
        </a:xfrm>
      </p:grpSpPr>
      <p:pic>
        <p:nvPicPr>
          <p:cNvPr id="7" name="Picture 6" descr="A person carrying a shopping cart&#10;&#10;Description automatically generated with medium confidence">
            <a:extLst>
              <a:ext uri="{FF2B5EF4-FFF2-40B4-BE49-F238E27FC236}">
                <a16:creationId xmlns:a16="http://schemas.microsoft.com/office/drawing/2014/main" id="{6B4B3322-CA81-8552-9C64-803DB402CE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8044" y="1423622"/>
            <a:ext cx="4349213" cy="4349213"/>
          </a:xfrm>
          <a:prstGeom prst="rect">
            <a:avLst/>
          </a:prstGeom>
        </p:spPr>
      </p:pic>
      <p:sp>
        <p:nvSpPr>
          <p:cNvPr id="3" name="TextBox 2">
            <a:extLst>
              <a:ext uri="{FF2B5EF4-FFF2-40B4-BE49-F238E27FC236}">
                <a16:creationId xmlns:a16="http://schemas.microsoft.com/office/drawing/2014/main" id="{C17DCAB3-76D6-255A-4506-CA6F5BF86609}"/>
              </a:ext>
            </a:extLst>
          </p:cNvPr>
          <p:cNvSpPr txBox="1"/>
          <p:nvPr/>
        </p:nvSpPr>
        <p:spPr>
          <a:xfrm>
            <a:off x="640388" y="2422026"/>
            <a:ext cx="6097656" cy="830997"/>
          </a:xfrm>
          <a:prstGeom prst="rect">
            <a:avLst/>
          </a:prstGeom>
          <a:noFill/>
        </p:spPr>
        <p:txBody>
          <a:bodyPr wrap="square">
            <a:spAutoFit/>
          </a:bodyPr>
          <a:lstStyle/>
          <a:p>
            <a:pPr marL="342900" indent="-342900" rtl="0">
              <a:spcBef>
                <a:spcPts val="1200"/>
              </a:spcBef>
              <a:spcAft>
                <a:spcPts val="1200"/>
              </a:spcAft>
              <a:buFont typeface="Arial" panose="020B0604020202020204" pitchFamily="34" charset="0"/>
              <a:buChar char="•"/>
            </a:pPr>
            <a:r>
              <a:rPr lang="en-US" sz="2400" b="0" i="0" u="none" strike="noStrike" dirty="0">
                <a:solidFill>
                  <a:srgbClr val="000000"/>
                </a:solidFill>
                <a:effectLst/>
              </a:rPr>
              <a:t>Market penetration pricing strategy needs to be deployed. </a:t>
            </a:r>
            <a:endParaRPr lang="en-US" sz="2400" dirty="0"/>
          </a:p>
        </p:txBody>
      </p:sp>
      <p:sp>
        <p:nvSpPr>
          <p:cNvPr id="4" name="TextBox 3">
            <a:extLst>
              <a:ext uri="{FF2B5EF4-FFF2-40B4-BE49-F238E27FC236}">
                <a16:creationId xmlns:a16="http://schemas.microsoft.com/office/drawing/2014/main" id="{099AE819-63CB-A7DA-7513-6F757565E0C9}"/>
              </a:ext>
            </a:extLst>
          </p:cNvPr>
          <p:cNvSpPr txBox="1"/>
          <p:nvPr/>
        </p:nvSpPr>
        <p:spPr>
          <a:xfrm>
            <a:off x="640388" y="3457832"/>
            <a:ext cx="6097656" cy="1200329"/>
          </a:xfrm>
          <a:prstGeom prst="rect">
            <a:avLst/>
          </a:prstGeom>
          <a:noFill/>
        </p:spPr>
        <p:txBody>
          <a:bodyPr wrap="square">
            <a:spAutoFit/>
          </a:bodyPr>
          <a:lstStyle/>
          <a:p>
            <a:pPr marL="342900" indent="-342900" rtl="0">
              <a:spcBef>
                <a:spcPts val="1200"/>
              </a:spcBef>
              <a:spcAft>
                <a:spcPts val="1200"/>
              </a:spcAft>
              <a:buFont typeface="Arial" panose="020B0604020202020204" pitchFamily="34" charset="0"/>
              <a:buChar char="•"/>
            </a:pPr>
            <a:r>
              <a:rPr lang="en-US" sz="2400" b="0" i="0" u="none" strike="noStrike" dirty="0">
                <a:solidFill>
                  <a:srgbClr val="000000"/>
                </a:solidFill>
                <a:effectLst/>
              </a:rPr>
              <a:t>It is crucial to keep a balance between generating demand and maintaining profitability. </a:t>
            </a:r>
            <a:endParaRPr lang="en-US" sz="2400" b="0" dirty="0">
              <a:effectLst/>
            </a:endParaRPr>
          </a:p>
        </p:txBody>
      </p:sp>
      <p:sp>
        <p:nvSpPr>
          <p:cNvPr id="5" name="TextBox 4">
            <a:extLst>
              <a:ext uri="{FF2B5EF4-FFF2-40B4-BE49-F238E27FC236}">
                <a16:creationId xmlns:a16="http://schemas.microsoft.com/office/drawing/2014/main" id="{1AA16638-B913-7E44-DDF4-7B94307104E3}"/>
              </a:ext>
            </a:extLst>
          </p:cNvPr>
          <p:cNvSpPr txBox="1"/>
          <p:nvPr/>
        </p:nvSpPr>
        <p:spPr>
          <a:xfrm>
            <a:off x="640388" y="4874635"/>
            <a:ext cx="6097656" cy="1200329"/>
          </a:xfrm>
          <a:prstGeom prst="rect">
            <a:avLst/>
          </a:prstGeom>
          <a:noFill/>
        </p:spPr>
        <p:txBody>
          <a:bodyPr wrap="square">
            <a:spAutoFit/>
          </a:bodyPr>
          <a:lstStyle/>
          <a:p>
            <a:pPr marL="342900" indent="-342900" rtl="0">
              <a:spcBef>
                <a:spcPts val="1200"/>
              </a:spcBef>
              <a:spcAft>
                <a:spcPts val="1200"/>
              </a:spcAft>
              <a:buFont typeface="Arial" panose="020B0604020202020204" pitchFamily="34" charset="0"/>
              <a:buChar char="•"/>
            </a:pPr>
            <a:r>
              <a:rPr lang="en-US" sz="2400" b="0" i="0" u="none" strike="noStrike" dirty="0">
                <a:solidFill>
                  <a:srgbClr val="111111"/>
                </a:solidFill>
                <a:effectLst/>
              </a:rPr>
              <a:t>Offer the pay-later service for free for the first three months, and then </a:t>
            </a:r>
            <a:r>
              <a:rPr lang="en-US" sz="2400" b="0" i="0" u="none" strike="noStrike" dirty="0">
                <a:solidFill>
                  <a:srgbClr val="000000"/>
                </a:solidFill>
                <a:effectLst/>
              </a:rPr>
              <a:t>charge a flat fee.</a:t>
            </a:r>
            <a:endParaRPr lang="en-US" sz="2400" dirty="0"/>
          </a:p>
        </p:txBody>
      </p:sp>
      <p:sp>
        <p:nvSpPr>
          <p:cNvPr id="6" name="TextBox 5">
            <a:extLst>
              <a:ext uri="{FF2B5EF4-FFF2-40B4-BE49-F238E27FC236}">
                <a16:creationId xmlns:a16="http://schemas.microsoft.com/office/drawing/2014/main" id="{60BD1D54-6915-7DC1-E879-70E15C21D39C}"/>
              </a:ext>
            </a:extLst>
          </p:cNvPr>
          <p:cNvSpPr txBox="1"/>
          <p:nvPr/>
        </p:nvSpPr>
        <p:spPr>
          <a:xfrm>
            <a:off x="313591" y="1423622"/>
            <a:ext cx="4398109" cy="646331"/>
          </a:xfrm>
          <a:prstGeom prst="rect">
            <a:avLst/>
          </a:prstGeom>
          <a:noFill/>
        </p:spPr>
        <p:txBody>
          <a:bodyPr wrap="square">
            <a:spAutoFit/>
          </a:bodyPr>
          <a:lstStyle/>
          <a:p>
            <a:r>
              <a:rPr lang="en-US" sz="3600">
                <a:solidFill>
                  <a:schemeClr val="tx2">
                    <a:lumMod val="50000"/>
                  </a:schemeClr>
                </a:solidFill>
              </a:rPr>
              <a:t>Pricing Strategy -</a:t>
            </a:r>
          </a:p>
        </p:txBody>
      </p:sp>
      <p:cxnSp>
        <p:nvCxnSpPr>
          <p:cNvPr id="2" name="Straight Connector 1">
            <a:extLst>
              <a:ext uri="{FF2B5EF4-FFF2-40B4-BE49-F238E27FC236}">
                <a16:creationId xmlns:a16="http://schemas.microsoft.com/office/drawing/2014/main" id="{A4B75682-2494-4453-A0B8-ED6579355177}"/>
              </a:ext>
            </a:extLst>
          </p:cNvPr>
          <p:cNvCxnSpPr>
            <a:cxnSpLocks/>
          </p:cNvCxnSpPr>
          <p:nvPr/>
        </p:nvCxnSpPr>
        <p:spPr>
          <a:xfrm flipV="1">
            <a:off x="11087257" y="1423622"/>
            <a:ext cx="0" cy="42820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3172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scene, outlet store, boutique, retail&#10;&#10;Description automatically generated">
            <a:extLst>
              <a:ext uri="{FF2B5EF4-FFF2-40B4-BE49-F238E27FC236}">
                <a16:creationId xmlns:a16="http://schemas.microsoft.com/office/drawing/2014/main" id="{EF3ED6B7-4CDE-3558-2B16-FAC2B9DBA2C5}"/>
              </a:ext>
            </a:extLst>
          </p:cNvPr>
          <p:cNvPicPr>
            <a:picLocks noChangeAspect="1"/>
          </p:cNvPicPr>
          <p:nvPr/>
        </p:nvPicPr>
        <p:blipFill rotWithShape="1">
          <a:blip r:embed="rId2">
            <a:extLst>
              <a:ext uri="{28A0092B-C50C-407E-A947-70E740481C1C}">
                <a14:useLocalDpi xmlns:a14="http://schemas.microsoft.com/office/drawing/2010/main" val="0"/>
              </a:ext>
            </a:extLst>
          </a:blip>
          <a:srcRect b="15625"/>
          <a:stretch/>
        </p:blipFill>
        <p:spPr>
          <a:xfrm>
            <a:off x="0" y="0"/>
            <a:ext cx="12192000" cy="6858000"/>
          </a:xfrm>
          <a:prstGeom prst="rect">
            <a:avLst/>
          </a:prstGeom>
        </p:spPr>
      </p:pic>
      <p:sp>
        <p:nvSpPr>
          <p:cNvPr id="11" name="Right Triangle 10">
            <a:extLst>
              <a:ext uri="{FF2B5EF4-FFF2-40B4-BE49-F238E27FC236}">
                <a16:creationId xmlns:a16="http://schemas.microsoft.com/office/drawing/2014/main" id="{2663E7D2-0FF5-58D7-1BFD-D7E77F51D129}"/>
              </a:ext>
            </a:extLst>
          </p:cNvPr>
          <p:cNvSpPr/>
          <p:nvPr/>
        </p:nvSpPr>
        <p:spPr>
          <a:xfrm flipH="1">
            <a:off x="2311400" y="87549"/>
            <a:ext cx="9880600" cy="6858000"/>
          </a:xfrm>
          <a:prstGeom prst="rtTriangle">
            <a:avLst/>
          </a:prstGeom>
          <a:solidFill>
            <a:schemeClr val="tx1">
              <a:alpha val="8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B9D8A3B-9AEC-2FEB-2E12-77C983614C02}"/>
              </a:ext>
            </a:extLst>
          </p:cNvPr>
          <p:cNvSpPr txBox="1"/>
          <p:nvPr/>
        </p:nvSpPr>
        <p:spPr>
          <a:xfrm>
            <a:off x="7490297" y="4882062"/>
            <a:ext cx="4923276" cy="923330"/>
          </a:xfrm>
          <a:prstGeom prst="rect">
            <a:avLst/>
          </a:prstGeom>
          <a:noFill/>
        </p:spPr>
        <p:txBody>
          <a:bodyPr wrap="square">
            <a:spAutoFit/>
          </a:bodyPr>
          <a:lstStyle/>
          <a:p>
            <a:r>
              <a:rPr lang="en-US" sz="5400">
                <a:solidFill>
                  <a:schemeClr val="bg2"/>
                </a:solidFill>
                <a:latin typeface="Book Antiqua" panose="02040602050305030304" pitchFamily="18" charset="0"/>
              </a:rPr>
              <a:t>PLACEMENT</a:t>
            </a:r>
          </a:p>
        </p:txBody>
      </p:sp>
      <p:cxnSp>
        <p:nvCxnSpPr>
          <p:cNvPr id="12" name="Straight Connector 11">
            <a:extLst>
              <a:ext uri="{FF2B5EF4-FFF2-40B4-BE49-F238E27FC236}">
                <a16:creationId xmlns:a16="http://schemas.microsoft.com/office/drawing/2014/main" id="{070B2FE7-8F93-9139-70C4-68E82227930D}"/>
              </a:ext>
            </a:extLst>
          </p:cNvPr>
          <p:cNvCxnSpPr>
            <a:cxnSpLocks/>
          </p:cNvCxnSpPr>
          <p:nvPr/>
        </p:nvCxnSpPr>
        <p:spPr>
          <a:xfrm>
            <a:off x="8852170" y="5791094"/>
            <a:ext cx="332037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1770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83946E-52D2-3381-DFAE-612656955FB1}"/>
              </a:ext>
            </a:extLst>
          </p:cNvPr>
          <p:cNvSpPr txBox="1"/>
          <p:nvPr/>
        </p:nvSpPr>
        <p:spPr>
          <a:xfrm>
            <a:off x="203202" y="936385"/>
            <a:ext cx="4165359" cy="584775"/>
          </a:xfrm>
          <a:prstGeom prst="rect">
            <a:avLst/>
          </a:prstGeom>
          <a:noFill/>
        </p:spPr>
        <p:txBody>
          <a:bodyPr wrap="square">
            <a:spAutoFit/>
          </a:bodyPr>
          <a:lstStyle/>
          <a:p>
            <a:r>
              <a:rPr lang="en-US" sz="3200" dirty="0">
                <a:solidFill>
                  <a:schemeClr val="tx2">
                    <a:lumMod val="50000"/>
                  </a:schemeClr>
                </a:solidFill>
              </a:rPr>
              <a:t>Service Availability-</a:t>
            </a:r>
          </a:p>
        </p:txBody>
      </p:sp>
      <p:sp>
        <p:nvSpPr>
          <p:cNvPr id="3" name="TextBox 2">
            <a:extLst>
              <a:ext uri="{FF2B5EF4-FFF2-40B4-BE49-F238E27FC236}">
                <a16:creationId xmlns:a16="http://schemas.microsoft.com/office/drawing/2014/main" id="{69AC01E7-8FAC-9B8E-0C6A-05D6D391A134}"/>
              </a:ext>
            </a:extLst>
          </p:cNvPr>
          <p:cNvSpPr txBox="1"/>
          <p:nvPr/>
        </p:nvSpPr>
        <p:spPr>
          <a:xfrm>
            <a:off x="203202" y="2322427"/>
            <a:ext cx="7834818" cy="769441"/>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rPr>
              <a:t>Customers will most likely look for this service </a:t>
            </a:r>
          </a:p>
          <a:p>
            <a:r>
              <a:rPr lang="en-US" sz="2200">
                <a:solidFill>
                  <a:schemeClr val="tx2">
                    <a:lumMod val="50000"/>
                  </a:schemeClr>
                </a:solidFill>
              </a:rPr>
              <a:t>     specifically at existing outlets.</a:t>
            </a:r>
          </a:p>
        </p:txBody>
      </p:sp>
      <p:sp>
        <p:nvSpPr>
          <p:cNvPr id="4" name="TextBox 3">
            <a:extLst>
              <a:ext uri="{FF2B5EF4-FFF2-40B4-BE49-F238E27FC236}">
                <a16:creationId xmlns:a16="http://schemas.microsoft.com/office/drawing/2014/main" id="{43F08B34-CA80-0C49-F978-A1AF7A369932}"/>
              </a:ext>
            </a:extLst>
          </p:cNvPr>
          <p:cNvSpPr txBox="1"/>
          <p:nvPr/>
        </p:nvSpPr>
        <p:spPr>
          <a:xfrm>
            <a:off x="203202" y="3583648"/>
            <a:ext cx="7834818" cy="769441"/>
          </a:xfrm>
          <a:prstGeom prst="rect">
            <a:avLst/>
          </a:prstGeom>
          <a:noFill/>
        </p:spPr>
        <p:txBody>
          <a:bodyPr wrap="square">
            <a:spAutoFit/>
          </a:bodyPr>
          <a:lstStyle/>
          <a:p>
            <a:pPr marL="342900" indent="-342900">
              <a:buFont typeface="Arial" panose="020B0604020202020204" pitchFamily="34" charset="0"/>
              <a:buChar char="•"/>
            </a:pPr>
            <a:r>
              <a:rPr lang="en-US" sz="2200" dirty="0">
                <a:solidFill>
                  <a:schemeClr val="tx2">
                    <a:lumMod val="50000"/>
                  </a:schemeClr>
                </a:solidFill>
              </a:rPr>
              <a:t>Only available in Taaga outlets. Customers need to verify their identity using NID and institutional ID card first.</a:t>
            </a:r>
          </a:p>
        </p:txBody>
      </p:sp>
      <p:sp>
        <p:nvSpPr>
          <p:cNvPr id="5" name="TextBox 4">
            <a:extLst>
              <a:ext uri="{FF2B5EF4-FFF2-40B4-BE49-F238E27FC236}">
                <a16:creationId xmlns:a16="http://schemas.microsoft.com/office/drawing/2014/main" id="{3B6902EF-B05B-A2C7-E098-20C7C0D4248C}"/>
              </a:ext>
            </a:extLst>
          </p:cNvPr>
          <p:cNvSpPr txBox="1"/>
          <p:nvPr/>
        </p:nvSpPr>
        <p:spPr>
          <a:xfrm>
            <a:off x="203202" y="4567567"/>
            <a:ext cx="7834818" cy="1107996"/>
          </a:xfrm>
          <a:prstGeom prst="rect">
            <a:avLst/>
          </a:prstGeom>
          <a:noFill/>
        </p:spPr>
        <p:txBody>
          <a:bodyPr wrap="square">
            <a:spAutoFit/>
          </a:bodyPr>
          <a:lstStyle/>
          <a:p>
            <a:pPr marL="342900" indent="-342900">
              <a:buFont typeface="Arial" panose="020B0604020202020204" pitchFamily="34" charset="0"/>
              <a:buChar char="•"/>
            </a:pPr>
            <a:r>
              <a:rPr lang="en-US" sz="2200" dirty="0">
                <a:solidFill>
                  <a:schemeClr val="tx2">
                    <a:lumMod val="50000"/>
                  </a:schemeClr>
                </a:solidFill>
              </a:rPr>
              <a:t>Will not be available for everyone online because of security issues, but can only use this service online after buying Taaga products worth at least 15,000 BDT through PayLater.</a:t>
            </a:r>
          </a:p>
        </p:txBody>
      </p:sp>
      <p:pic>
        <p:nvPicPr>
          <p:cNvPr id="7" name="Picture 6" descr="A person holding shopping bags&#10;&#10;Description automatically generated with medium confidence">
            <a:extLst>
              <a:ext uri="{FF2B5EF4-FFF2-40B4-BE49-F238E27FC236}">
                <a16:creationId xmlns:a16="http://schemas.microsoft.com/office/drawing/2014/main" id="{CED95BDC-C2D9-5299-855D-1BE8974F2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7018" y="1108462"/>
            <a:ext cx="4331780" cy="4331780"/>
          </a:xfrm>
          <a:prstGeom prst="rect">
            <a:avLst/>
          </a:prstGeom>
          <a:effectLst>
            <a:outerShdw blurRad="88900" dist="38100" dir="2700000" algn="tl" rotWithShape="0">
              <a:prstClr val="black">
                <a:alpha val="40000"/>
              </a:prstClr>
            </a:outerShdw>
          </a:effectLst>
        </p:spPr>
      </p:pic>
      <p:cxnSp>
        <p:nvCxnSpPr>
          <p:cNvPr id="6" name="Straight Connector 5">
            <a:extLst>
              <a:ext uri="{FF2B5EF4-FFF2-40B4-BE49-F238E27FC236}">
                <a16:creationId xmlns:a16="http://schemas.microsoft.com/office/drawing/2014/main" id="{94EAA218-16B0-4B4D-8406-5BE578C43451}"/>
              </a:ext>
            </a:extLst>
          </p:cNvPr>
          <p:cNvCxnSpPr>
            <a:cxnSpLocks/>
          </p:cNvCxnSpPr>
          <p:nvPr/>
        </p:nvCxnSpPr>
        <p:spPr>
          <a:xfrm>
            <a:off x="203202" y="1521160"/>
            <a:ext cx="3841661"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455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BC43EF-3244-4CA4-5850-CB80996DC161}"/>
              </a:ext>
            </a:extLst>
          </p:cNvPr>
          <p:cNvSpPr txBox="1"/>
          <p:nvPr/>
        </p:nvSpPr>
        <p:spPr>
          <a:xfrm>
            <a:off x="5451537" y="656284"/>
            <a:ext cx="3133665" cy="707886"/>
          </a:xfrm>
          <a:prstGeom prst="rect">
            <a:avLst/>
          </a:prstGeom>
          <a:noFill/>
        </p:spPr>
        <p:txBody>
          <a:bodyPr wrap="square">
            <a:spAutoFit/>
          </a:bodyPr>
          <a:lstStyle/>
          <a:p>
            <a:r>
              <a:rPr lang="en-US" sz="4000" dirty="0">
                <a:solidFill>
                  <a:schemeClr val="tx2">
                    <a:lumMod val="50000"/>
                  </a:schemeClr>
                </a:solidFill>
              </a:rPr>
              <a:t>Distribution-</a:t>
            </a:r>
          </a:p>
        </p:txBody>
      </p:sp>
      <p:grpSp>
        <p:nvGrpSpPr>
          <p:cNvPr id="6" name="Group 5">
            <a:extLst>
              <a:ext uri="{FF2B5EF4-FFF2-40B4-BE49-F238E27FC236}">
                <a16:creationId xmlns:a16="http://schemas.microsoft.com/office/drawing/2014/main" id="{12834CFD-F060-B04B-AD72-7BDE8DDFE475}"/>
              </a:ext>
            </a:extLst>
          </p:cNvPr>
          <p:cNvGrpSpPr/>
          <p:nvPr/>
        </p:nvGrpSpPr>
        <p:grpSpPr>
          <a:xfrm>
            <a:off x="5270502" y="1993901"/>
            <a:ext cx="6565898" cy="3330408"/>
            <a:chOff x="1562102" y="2800253"/>
            <a:chExt cx="6502398" cy="3311455"/>
          </a:xfrm>
        </p:grpSpPr>
        <p:sp>
          <p:nvSpPr>
            <p:cNvPr id="3" name="TextBox 2">
              <a:extLst>
                <a:ext uri="{FF2B5EF4-FFF2-40B4-BE49-F238E27FC236}">
                  <a16:creationId xmlns:a16="http://schemas.microsoft.com/office/drawing/2014/main" id="{126E322E-D76F-3336-FCCF-72235CABD21A}"/>
                </a:ext>
              </a:extLst>
            </p:cNvPr>
            <p:cNvSpPr txBox="1"/>
            <p:nvPr/>
          </p:nvSpPr>
          <p:spPr>
            <a:xfrm>
              <a:off x="1562102" y="2800253"/>
              <a:ext cx="6502398" cy="769441"/>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rPr>
                <a:t>Pursue a direct sales distribution channel, or a Zero Level distribution channel</a:t>
              </a:r>
            </a:p>
          </p:txBody>
        </p:sp>
        <p:sp>
          <p:nvSpPr>
            <p:cNvPr id="4" name="TextBox 3">
              <a:extLst>
                <a:ext uri="{FF2B5EF4-FFF2-40B4-BE49-F238E27FC236}">
                  <a16:creationId xmlns:a16="http://schemas.microsoft.com/office/drawing/2014/main" id="{0108E87D-F17E-FBF5-6C80-54F8F4A30854}"/>
                </a:ext>
              </a:extLst>
            </p:cNvPr>
            <p:cNvSpPr txBox="1"/>
            <p:nvPr/>
          </p:nvSpPr>
          <p:spPr>
            <a:xfrm>
              <a:off x="1562102" y="4118132"/>
              <a:ext cx="6502398" cy="769441"/>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rPr>
                <a:t>Using other intermediaries is unnecessary for this service		</a:t>
              </a:r>
            </a:p>
          </p:txBody>
        </p:sp>
        <p:sp>
          <p:nvSpPr>
            <p:cNvPr id="5" name="TextBox 4">
              <a:extLst>
                <a:ext uri="{FF2B5EF4-FFF2-40B4-BE49-F238E27FC236}">
                  <a16:creationId xmlns:a16="http://schemas.microsoft.com/office/drawing/2014/main" id="{515AE272-227F-2906-2E01-B2F6F579FA97}"/>
                </a:ext>
              </a:extLst>
            </p:cNvPr>
            <p:cNvSpPr txBox="1"/>
            <p:nvPr/>
          </p:nvSpPr>
          <p:spPr>
            <a:xfrm>
              <a:off x="1562102" y="5342267"/>
              <a:ext cx="6502398" cy="769441"/>
            </a:xfrm>
            <a:prstGeom prst="rect">
              <a:avLst/>
            </a:prstGeom>
            <a:noFill/>
          </p:spPr>
          <p:txBody>
            <a:bodyPr wrap="square">
              <a:spAutoFit/>
            </a:bodyPr>
            <a:lstStyle/>
            <a:p>
              <a:pPr marL="342900" indent="-342900">
                <a:buFont typeface="Arial" panose="020B0604020202020204" pitchFamily="34" charset="0"/>
                <a:buChar char="•"/>
              </a:pPr>
              <a:r>
                <a:rPr lang="en-US" sz="2200" dirty="0">
                  <a:solidFill>
                    <a:schemeClr val="tx2">
                      <a:lumMod val="50000"/>
                    </a:schemeClr>
                  </a:solidFill>
                </a:rPr>
                <a:t>Enables us to enhance customer experience and build strong relationships with customers</a:t>
              </a:r>
            </a:p>
          </p:txBody>
        </p:sp>
      </p:grpSp>
      <p:pic>
        <p:nvPicPr>
          <p:cNvPr id="8" name="Picture 7" descr="A picture containing graphic design, cartoon, illustration&#10;&#10;Description automatically generated with medium confidence">
            <a:extLst>
              <a:ext uri="{FF2B5EF4-FFF2-40B4-BE49-F238E27FC236}">
                <a16:creationId xmlns:a16="http://schemas.microsoft.com/office/drawing/2014/main" id="{C66080CF-353F-DB11-BFF8-72873C4DB4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895" y="1454447"/>
            <a:ext cx="3949105" cy="3949105"/>
          </a:xfrm>
          <a:prstGeom prst="rect">
            <a:avLst/>
          </a:prstGeom>
        </p:spPr>
      </p:pic>
      <p:cxnSp>
        <p:nvCxnSpPr>
          <p:cNvPr id="7" name="Straight Connector 6">
            <a:extLst>
              <a:ext uri="{FF2B5EF4-FFF2-40B4-BE49-F238E27FC236}">
                <a16:creationId xmlns:a16="http://schemas.microsoft.com/office/drawing/2014/main" id="{1B77D20B-0A28-4C49-83E6-9104BCFCC2A9}"/>
              </a:ext>
            </a:extLst>
          </p:cNvPr>
          <p:cNvCxnSpPr>
            <a:cxnSpLocks/>
          </p:cNvCxnSpPr>
          <p:nvPr/>
        </p:nvCxnSpPr>
        <p:spPr>
          <a:xfrm>
            <a:off x="2589656" y="3319323"/>
            <a:ext cx="1898837"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000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83946E-52D2-3381-DFAE-612656955FB1}"/>
              </a:ext>
            </a:extLst>
          </p:cNvPr>
          <p:cNvSpPr txBox="1"/>
          <p:nvPr/>
        </p:nvSpPr>
        <p:spPr>
          <a:xfrm>
            <a:off x="292101" y="408174"/>
            <a:ext cx="5219699" cy="646331"/>
          </a:xfrm>
          <a:prstGeom prst="rect">
            <a:avLst/>
          </a:prstGeom>
          <a:noFill/>
        </p:spPr>
        <p:txBody>
          <a:bodyPr wrap="square">
            <a:spAutoFit/>
          </a:bodyPr>
          <a:lstStyle/>
          <a:p>
            <a:r>
              <a:rPr lang="en-US" sz="3600">
                <a:solidFill>
                  <a:schemeClr val="tx2">
                    <a:lumMod val="50000"/>
                  </a:schemeClr>
                </a:solidFill>
                <a:latin typeface="Book Antiqua" panose="02040602050305030304" pitchFamily="18" charset="0"/>
              </a:rPr>
              <a:t>Sales Force Structure-</a:t>
            </a:r>
          </a:p>
        </p:txBody>
      </p:sp>
      <p:sp>
        <p:nvSpPr>
          <p:cNvPr id="3" name="TextBox 2">
            <a:extLst>
              <a:ext uri="{FF2B5EF4-FFF2-40B4-BE49-F238E27FC236}">
                <a16:creationId xmlns:a16="http://schemas.microsoft.com/office/drawing/2014/main" id="{69AC01E7-8FAC-9B8E-0C6A-05D6D391A134}"/>
              </a:ext>
            </a:extLst>
          </p:cNvPr>
          <p:cNvSpPr txBox="1"/>
          <p:nvPr/>
        </p:nvSpPr>
        <p:spPr>
          <a:xfrm>
            <a:off x="292101" y="1473033"/>
            <a:ext cx="9410699" cy="769441"/>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latin typeface="Book Antiqua" panose="02040602050305030304" pitchFamily="18" charset="0"/>
              </a:rPr>
              <a:t>The customer sales force structure is best suited to promote </a:t>
            </a:r>
          </a:p>
          <a:p>
            <a:r>
              <a:rPr lang="en-US" sz="2200">
                <a:solidFill>
                  <a:schemeClr val="tx2">
                    <a:lumMod val="50000"/>
                  </a:schemeClr>
                </a:solidFill>
                <a:latin typeface="Book Antiqua" panose="02040602050305030304" pitchFamily="18" charset="0"/>
              </a:rPr>
              <a:t>     this product.		</a:t>
            </a:r>
          </a:p>
        </p:txBody>
      </p:sp>
      <p:sp>
        <p:nvSpPr>
          <p:cNvPr id="4" name="TextBox 3">
            <a:extLst>
              <a:ext uri="{FF2B5EF4-FFF2-40B4-BE49-F238E27FC236}">
                <a16:creationId xmlns:a16="http://schemas.microsoft.com/office/drawing/2014/main" id="{43F08B34-CA80-0C49-F978-A1AF7A369932}"/>
              </a:ext>
            </a:extLst>
          </p:cNvPr>
          <p:cNvSpPr txBox="1"/>
          <p:nvPr/>
        </p:nvSpPr>
        <p:spPr>
          <a:xfrm>
            <a:off x="292101" y="2683454"/>
            <a:ext cx="9410699" cy="430887"/>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latin typeface="Book Antiqua" panose="02040602050305030304" pitchFamily="18" charset="0"/>
              </a:rPr>
              <a:t>They can be sent to various marketing campaigns.</a:t>
            </a:r>
          </a:p>
        </p:txBody>
      </p:sp>
      <p:sp>
        <p:nvSpPr>
          <p:cNvPr id="5" name="TextBox 4">
            <a:extLst>
              <a:ext uri="{FF2B5EF4-FFF2-40B4-BE49-F238E27FC236}">
                <a16:creationId xmlns:a16="http://schemas.microsoft.com/office/drawing/2014/main" id="{3B6902EF-B05B-A2C7-E098-20C7C0D4248C}"/>
              </a:ext>
            </a:extLst>
          </p:cNvPr>
          <p:cNvSpPr txBox="1"/>
          <p:nvPr/>
        </p:nvSpPr>
        <p:spPr>
          <a:xfrm>
            <a:off x="292101" y="3718173"/>
            <a:ext cx="9410699" cy="430887"/>
          </a:xfrm>
          <a:prstGeom prst="rect">
            <a:avLst/>
          </a:prstGeom>
          <a:noFill/>
        </p:spPr>
        <p:txBody>
          <a:bodyPr wrap="square">
            <a:spAutoFit/>
          </a:bodyPr>
          <a:lstStyle/>
          <a:p>
            <a:pPr marL="342900" indent="-342900">
              <a:buFont typeface="Arial" panose="020B0604020202020204" pitchFamily="34" charset="0"/>
              <a:buChar char="•"/>
            </a:pPr>
            <a:r>
              <a:rPr lang="en-US" sz="2200">
                <a:solidFill>
                  <a:schemeClr val="tx2">
                    <a:lumMod val="50000"/>
                  </a:schemeClr>
                </a:solidFill>
                <a:latin typeface="Book Antiqua" panose="02040602050305030304" pitchFamily="18" charset="0"/>
              </a:rPr>
              <a:t>Enable us to use the push marketing strategy.</a:t>
            </a:r>
          </a:p>
        </p:txBody>
      </p:sp>
      <p:pic>
        <p:nvPicPr>
          <p:cNvPr id="7" name="Picture 6" descr="A group of women holding shopping bags&#10;&#10;Description automatically generated with medium confidence">
            <a:extLst>
              <a:ext uri="{FF2B5EF4-FFF2-40B4-BE49-F238E27FC236}">
                <a16:creationId xmlns:a16="http://schemas.microsoft.com/office/drawing/2014/main" id="{9175B0B0-B4F9-0B2F-896B-37C8D3658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547" y="2169368"/>
            <a:ext cx="4761905" cy="4761905"/>
          </a:xfrm>
          <a:prstGeom prst="rect">
            <a:avLst/>
          </a:prstGeom>
        </p:spPr>
      </p:pic>
      <p:cxnSp>
        <p:nvCxnSpPr>
          <p:cNvPr id="6" name="Straight Connector 5">
            <a:extLst>
              <a:ext uri="{FF2B5EF4-FFF2-40B4-BE49-F238E27FC236}">
                <a16:creationId xmlns:a16="http://schemas.microsoft.com/office/drawing/2014/main" id="{1109BDF6-0FB9-4562-9D9D-DDE8764C1AE5}"/>
              </a:ext>
            </a:extLst>
          </p:cNvPr>
          <p:cNvCxnSpPr>
            <a:cxnSpLocks/>
          </p:cNvCxnSpPr>
          <p:nvPr/>
        </p:nvCxnSpPr>
        <p:spPr>
          <a:xfrm>
            <a:off x="6409412" y="6427187"/>
            <a:ext cx="5342174"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515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137AE7-D8C6-E166-B726-7A8EB3692A05}"/>
              </a:ext>
            </a:extLst>
          </p:cNvPr>
          <p:cNvSpPr/>
          <p:nvPr/>
        </p:nvSpPr>
        <p:spPr>
          <a:xfrm>
            <a:off x="2590846" y="1269999"/>
            <a:ext cx="6946900" cy="4330700"/>
          </a:xfrm>
          <a:prstGeom prst="rect">
            <a:avLst/>
          </a:prstGeom>
          <a:solidFill>
            <a:schemeClr val="bg1"/>
          </a:solidFill>
          <a:ln>
            <a:noFill/>
          </a:ln>
          <a:effectLst>
            <a:outerShdw blurRad="7747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03D1385-EE60-B604-9BFE-F71594392C3E}"/>
              </a:ext>
            </a:extLst>
          </p:cNvPr>
          <p:cNvSpPr txBox="1"/>
          <p:nvPr/>
        </p:nvSpPr>
        <p:spPr>
          <a:xfrm>
            <a:off x="5809265" y="3190961"/>
            <a:ext cx="3140182" cy="584775"/>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r>
              <a:rPr lang="en-US" sz="3200" spc="300">
                <a:latin typeface="Segoe UI Semibold" panose="020B0702040204020203" pitchFamily="34" charset="0"/>
                <a:ea typeface="Gadugi" panose="020B0502040204020203" pitchFamily="34" charset="0"/>
                <a:cs typeface="Segoe UI Semibold" panose="020B0702040204020203" pitchFamily="34" charset="0"/>
              </a:rPr>
              <a:t>PROMOTION</a:t>
            </a:r>
          </a:p>
        </p:txBody>
      </p:sp>
      <p:sp>
        <p:nvSpPr>
          <p:cNvPr id="5" name="Rectangle 4">
            <a:extLst>
              <a:ext uri="{FF2B5EF4-FFF2-40B4-BE49-F238E27FC236}">
                <a16:creationId xmlns:a16="http://schemas.microsoft.com/office/drawing/2014/main" id="{4B22D5EB-83DE-484A-1F5E-42BF01E1FF38}"/>
              </a:ext>
            </a:extLst>
          </p:cNvPr>
          <p:cNvSpPr/>
          <p:nvPr/>
        </p:nvSpPr>
        <p:spPr>
          <a:xfrm>
            <a:off x="3155242" y="1256030"/>
            <a:ext cx="1331270" cy="4330700"/>
          </a:xfrm>
          <a:prstGeom prst="rect">
            <a:avLst/>
          </a:prstGeom>
          <a:solidFill>
            <a:schemeClr val="bg1"/>
          </a:solidFill>
          <a:ln>
            <a:noFill/>
          </a:ln>
          <a:effectLst>
            <a:outerShdw blurRad="6223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DC6088F-4058-C5B6-3B52-341398ECC4B7}"/>
              </a:ext>
            </a:extLst>
          </p:cNvPr>
          <p:cNvSpPr/>
          <p:nvPr/>
        </p:nvSpPr>
        <p:spPr>
          <a:xfrm>
            <a:off x="4376504" y="2832099"/>
            <a:ext cx="774699" cy="1231900"/>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alf Frame 6">
            <a:extLst>
              <a:ext uri="{FF2B5EF4-FFF2-40B4-BE49-F238E27FC236}">
                <a16:creationId xmlns:a16="http://schemas.microsoft.com/office/drawing/2014/main" id="{36621BF9-9154-C8AB-0358-4A3F6A009D18}"/>
              </a:ext>
            </a:extLst>
          </p:cNvPr>
          <p:cNvSpPr/>
          <p:nvPr/>
        </p:nvSpPr>
        <p:spPr>
          <a:xfrm rot="8117073">
            <a:off x="3813471" y="2771058"/>
            <a:ext cx="1358900" cy="1374914"/>
          </a:xfrm>
          <a:prstGeom prst="halfFrame">
            <a:avLst>
              <a:gd name="adj1" fmla="val 19866"/>
              <a:gd name="adj2" fmla="val 19643"/>
            </a:avLst>
          </a:prstGeom>
          <a:solidFill>
            <a:srgbClr val="C08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 name="Straight Connector 7">
            <a:extLst>
              <a:ext uri="{FF2B5EF4-FFF2-40B4-BE49-F238E27FC236}">
                <a16:creationId xmlns:a16="http://schemas.microsoft.com/office/drawing/2014/main" id="{5931B346-426F-479B-35D2-CF471BE24098}"/>
              </a:ext>
            </a:extLst>
          </p:cNvPr>
          <p:cNvCxnSpPr>
            <a:cxnSpLocks/>
          </p:cNvCxnSpPr>
          <p:nvPr/>
        </p:nvCxnSpPr>
        <p:spPr>
          <a:xfrm>
            <a:off x="3155143" y="1244600"/>
            <a:ext cx="0" cy="4356100"/>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FC04D93-3738-7FF4-CE2E-5D1265D7C017}"/>
              </a:ext>
            </a:extLst>
          </p:cNvPr>
          <p:cNvCxnSpPr>
            <a:cxnSpLocks/>
          </p:cNvCxnSpPr>
          <p:nvPr/>
        </p:nvCxnSpPr>
        <p:spPr>
          <a:xfrm>
            <a:off x="4488643" y="1231900"/>
            <a:ext cx="0" cy="1655230"/>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2D2CBF-C0EC-7D43-5F83-B0646C8028AF}"/>
              </a:ext>
            </a:extLst>
          </p:cNvPr>
          <p:cNvCxnSpPr>
            <a:cxnSpLocks/>
          </p:cNvCxnSpPr>
          <p:nvPr/>
        </p:nvCxnSpPr>
        <p:spPr>
          <a:xfrm>
            <a:off x="4488687" y="2887130"/>
            <a:ext cx="569897" cy="571385"/>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21123C3-C7AE-00BE-2516-9497CBE13AC1}"/>
              </a:ext>
            </a:extLst>
          </p:cNvPr>
          <p:cNvCxnSpPr>
            <a:cxnSpLocks/>
          </p:cNvCxnSpPr>
          <p:nvPr/>
        </p:nvCxnSpPr>
        <p:spPr>
          <a:xfrm rot="5400000">
            <a:off x="4497153" y="3454393"/>
            <a:ext cx="569897" cy="571385"/>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34CCEBC-4D86-33E5-3210-4B5A3F1CA810}"/>
              </a:ext>
            </a:extLst>
          </p:cNvPr>
          <p:cNvCxnSpPr>
            <a:cxnSpLocks/>
          </p:cNvCxnSpPr>
          <p:nvPr/>
        </p:nvCxnSpPr>
        <p:spPr>
          <a:xfrm>
            <a:off x="4497109" y="4000505"/>
            <a:ext cx="0" cy="1600194"/>
          </a:xfrm>
          <a:prstGeom prst="line">
            <a:avLst/>
          </a:prstGeom>
          <a:ln w="31750">
            <a:solidFill>
              <a:schemeClr val="tx1"/>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064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72F84C-2B1E-5F83-3D16-36A300F41EF7}"/>
              </a:ext>
            </a:extLst>
          </p:cNvPr>
          <p:cNvSpPr txBox="1"/>
          <p:nvPr/>
        </p:nvSpPr>
        <p:spPr>
          <a:xfrm>
            <a:off x="2813050" y="376141"/>
            <a:ext cx="6565899" cy="646331"/>
          </a:xfrm>
          <a:prstGeom prst="rect">
            <a:avLst/>
          </a:prstGeom>
          <a:noFill/>
        </p:spPr>
        <p:txBody>
          <a:bodyPr wrap="square">
            <a:spAutoFit/>
          </a:bodyPr>
          <a:lstStyle/>
          <a:p>
            <a:r>
              <a:rPr lang="en-US" sz="3600" dirty="0">
                <a:solidFill>
                  <a:schemeClr val="tx2">
                    <a:lumMod val="50000"/>
                  </a:schemeClr>
                </a:solidFill>
              </a:rPr>
              <a:t>Location of Target Customers</a:t>
            </a:r>
          </a:p>
        </p:txBody>
      </p:sp>
      <p:sp>
        <p:nvSpPr>
          <p:cNvPr id="3" name="TextBox 2">
            <a:extLst>
              <a:ext uri="{FF2B5EF4-FFF2-40B4-BE49-F238E27FC236}">
                <a16:creationId xmlns:a16="http://schemas.microsoft.com/office/drawing/2014/main" id="{56CEF35E-D1BE-3125-8476-A2CCF64225F0}"/>
              </a:ext>
            </a:extLst>
          </p:cNvPr>
          <p:cNvSpPr txBox="1"/>
          <p:nvPr/>
        </p:nvSpPr>
        <p:spPr>
          <a:xfrm>
            <a:off x="126996" y="4846487"/>
            <a:ext cx="3619500" cy="707886"/>
          </a:xfrm>
          <a:prstGeom prst="rect">
            <a:avLst/>
          </a:prstGeom>
          <a:noFill/>
        </p:spPr>
        <p:txBody>
          <a:bodyPr wrap="square">
            <a:spAutoFit/>
          </a:bodyPr>
          <a:lstStyle/>
          <a:p>
            <a:pPr algn="ctr"/>
            <a:r>
              <a:rPr lang="en-US" sz="2000">
                <a:solidFill>
                  <a:schemeClr val="tx2">
                    <a:lumMod val="50000"/>
                  </a:schemeClr>
                </a:solidFill>
              </a:rPr>
              <a:t>Can be found near the existing outlets of Aarong Taaga. 	</a:t>
            </a:r>
          </a:p>
        </p:txBody>
      </p:sp>
      <p:sp>
        <p:nvSpPr>
          <p:cNvPr id="6" name="TextBox 5">
            <a:extLst>
              <a:ext uri="{FF2B5EF4-FFF2-40B4-BE49-F238E27FC236}">
                <a16:creationId xmlns:a16="http://schemas.microsoft.com/office/drawing/2014/main" id="{CA41D4BC-8B93-1F0E-FE57-C12B07B8CA0F}"/>
              </a:ext>
            </a:extLst>
          </p:cNvPr>
          <p:cNvSpPr txBox="1"/>
          <p:nvPr/>
        </p:nvSpPr>
        <p:spPr>
          <a:xfrm>
            <a:off x="4286249" y="4762811"/>
            <a:ext cx="3619500" cy="1015663"/>
          </a:xfrm>
          <a:prstGeom prst="rect">
            <a:avLst/>
          </a:prstGeom>
          <a:noFill/>
        </p:spPr>
        <p:txBody>
          <a:bodyPr wrap="square">
            <a:spAutoFit/>
          </a:bodyPr>
          <a:lstStyle/>
          <a:p>
            <a:pPr algn="ctr"/>
            <a:r>
              <a:rPr lang="en-US" sz="2000">
                <a:solidFill>
                  <a:schemeClr val="tx2">
                    <a:lumMod val="50000"/>
                  </a:schemeClr>
                </a:solidFill>
              </a:rPr>
              <a:t>These customers prefer to buy their products from a physical shop.	</a:t>
            </a:r>
          </a:p>
        </p:txBody>
      </p:sp>
      <p:sp>
        <p:nvSpPr>
          <p:cNvPr id="7" name="TextBox 6">
            <a:extLst>
              <a:ext uri="{FF2B5EF4-FFF2-40B4-BE49-F238E27FC236}">
                <a16:creationId xmlns:a16="http://schemas.microsoft.com/office/drawing/2014/main" id="{77EEBAED-EA00-4456-C435-8924F821A409}"/>
              </a:ext>
            </a:extLst>
          </p:cNvPr>
          <p:cNvSpPr txBox="1"/>
          <p:nvPr/>
        </p:nvSpPr>
        <p:spPr>
          <a:xfrm>
            <a:off x="8597904" y="4762812"/>
            <a:ext cx="3492499" cy="1015663"/>
          </a:xfrm>
          <a:prstGeom prst="rect">
            <a:avLst/>
          </a:prstGeom>
          <a:noFill/>
        </p:spPr>
        <p:txBody>
          <a:bodyPr wrap="square">
            <a:spAutoFit/>
          </a:bodyPr>
          <a:lstStyle/>
          <a:p>
            <a:pPr algn="ctr"/>
            <a:r>
              <a:rPr lang="en-US" sz="2000">
                <a:solidFill>
                  <a:schemeClr val="tx2">
                    <a:lumMod val="50000"/>
                  </a:schemeClr>
                </a:solidFill>
              </a:rPr>
              <a:t>Majority of the customers of Aarong Taaga prefer window shopping.</a:t>
            </a:r>
          </a:p>
        </p:txBody>
      </p:sp>
      <p:cxnSp>
        <p:nvCxnSpPr>
          <p:cNvPr id="8" name="Straight Connector 7">
            <a:extLst>
              <a:ext uri="{FF2B5EF4-FFF2-40B4-BE49-F238E27FC236}">
                <a16:creationId xmlns:a16="http://schemas.microsoft.com/office/drawing/2014/main" id="{7652B12C-5738-3EF1-4CAD-F9D099E75141}"/>
              </a:ext>
            </a:extLst>
          </p:cNvPr>
          <p:cNvCxnSpPr>
            <a:cxnSpLocks/>
          </p:cNvCxnSpPr>
          <p:nvPr/>
        </p:nvCxnSpPr>
        <p:spPr>
          <a:xfrm>
            <a:off x="2946400" y="1043980"/>
            <a:ext cx="59309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A person in a pink dress&#10;&#10;Description automatically generated with medium confidence">
            <a:extLst>
              <a:ext uri="{FF2B5EF4-FFF2-40B4-BE49-F238E27FC236}">
                <a16:creationId xmlns:a16="http://schemas.microsoft.com/office/drawing/2014/main" id="{6BB3DE30-BB11-253E-247F-025BDB027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9348" y="2533948"/>
            <a:ext cx="2266652" cy="2266652"/>
          </a:xfrm>
          <a:prstGeom prst="rect">
            <a:avLst/>
          </a:prstGeom>
        </p:spPr>
      </p:pic>
      <p:pic>
        <p:nvPicPr>
          <p:cNvPr id="12" name="Picture 11" descr="A person in a pink dress holding shopping bags&#10;&#10;Description automatically generated with medium confidence">
            <a:extLst>
              <a:ext uri="{FF2B5EF4-FFF2-40B4-BE49-F238E27FC236}">
                <a16:creationId xmlns:a16="http://schemas.microsoft.com/office/drawing/2014/main" id="{98EDE583-8A59-86A3-88AD-7351927E4E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7300" y="2480449"/>
            <a:ext cx="2366038" cy="2366038"/>
          </a:xfrm>
          <a:prstGeom prst="rect">
            <a:avLst/>
          </a:prstGeom>
        </p:spPr>
      </p:pic>
      <p:pic>
        <p:nvPicPr>
          <p:cNvPr id="16" name="Picture 15" descr="A picture containing scene, indoor, clothing, boutique&#10;&#10;Description automatically generated">
            <a:extLst>
              <a:ext uri="{FF2B5EF4-FFF2-40B4-BE49-F238E27FC236}">
                <a16:creationId xmlns:a16="http://schemas.microsoft.com/office/drawing/2014/main" id="{20251BF9-0328-1CE1-2B89-7F197EF783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8" y="2857811"/>
            <a:ext cx="2857500" cy="1905000"/>
          </a:xfrm>
          <a:prstGeom prst="rect">
            <a:avLst/>
          </a:prstGeom>
        </p:spPr>
      </p:pic>
      <p:sp>
        <p:nvSpPr>
          <p:cNvPr id="4" name="Half Frame 3">
            <a:extLst>
              <a:ext uri="{FF2B5EF4-FFF2-40B4-BE49-F238E27FC236}">
                <a16:creationId xmlns:a16="http://schemas.microsoft.com/office/drawing/2014/main" id="{62C40948-D4DE-499D-AFDE-0263ECD6FF0A}"/>
              </a:ext>
            </a:extLst>
          </p:cNvPr>
          <p:cNvSpPr/>
          <p:nvPr/>
        </p:nvSpPr>
        <p:spPr>
          <a:xfrm rot="2836046">
            <a:off x="5811813" y="2648949"/>
            <a:ext cx="296212" cy="622685"/>
          </a:xfrm>
          <a:prstGeom prst="halfFrame">
            <a:avLst>
              <a:gd name="adj1" fmla="val 19866"/>
              <a:gd name="adj2" fmla="val 19643"/>
            </a:avLst>
          </a:prstGeom>
          <a:solidFill>
            <a:srgbClr val="C08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95745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38" name="Right Triangle 37">
            <a:extLst>
              <a:ext uri="{FF2B5EF4-FFF2-40B4-BE49-F238E27FC236}">
                <a16:creationId xmlns:a16="http://schemas.microsoft.com/office/drawing/2014/main" id="{E686B123-BED0-6A7C-9BC1-2AC90D31F7D9}"/>
              </a:ext>
            </a:extLst>
          </p:cNvPr>
          <p:cNvSpPr/>
          <p:nvPr/>
        </p:nvSpPr>
        <p:spPr>
          <a:xfrm flipH="1" flipV="1">
            <a:off x="1906823" y="3052230"/>
            <a:ext cx="295976" cy="148167"/>
          </a:xfrm>
          <a:prstGeom prst="rtTriangle">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2868746-0EA3-CC86-7981-433A6112B57F}"/>
              </a:ext>
            </a:extLst>
          </p:cNvPr>
          <p:cNvSpPr/>
          <p:nvPr/>
        </p:nvSpPr>
        <p:spPr>
          <a:xfrm>
            <a:off x="2202799" y="2202541"/>
            <a:ext cx="2341371" cy="4240779"/>
          </a:xfrm>
          <a:prstGeom prst="rect">
            <a:avLst/>
          </a:prstGeom>
          <a:gradFill>
            <a:gsLst>
              <a:gs pos="100000">
                <a:srgbClr val="344152"/>
              </a:gs>
              <a:gs pos="55000">
                <a:srgbClr val="15212A"/>
              </a:gs>
              <a:gs pos="32000">
                <a:srgbClr val="09141A"/>
              </a:gs>
            </a:gsLst>
            <a:lin ang="18000000" scaled="0"/>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8195A03-DF66-0930-0A47-1B98EAFD149F}"/>
              </a:ext>
            </a:extLst>
          </p:cNvPr>
          <p:cNvSpPr/>
          <p:nvPr/>
        </p:nvSpPr>
        <p:spPr>
          <a:xfrm>
            <a:off x="1906823" y="2463800"/>
            <a:ext cx="1329872" cy="5943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AC97138-25AC-C82B-AF36-42F1BE301519}"/>
              </a:ext>
            </a:extLst>
          </p:cNvPr>
          <p:cNvSpPr txBox="1"/>
          <p:nvPr/>
        </p:nvSpPr>
        <p:spPr>
          <a:xfrm>
            <a:off x="2356147" y="3289073"/>
            <a:ext cx="1983633" cy="369332"/>
          </a:xfrm>
          <a:prstGeom prst="rect">
            <a:avLst/>
          </a:prstGeom>
          <a:noFill/>
        </p:spPr>
        <p:txBody>
          <a:bodyPr wrap="square" rtlCol="0">
            <a:spAutoFit/>
          </a:bodyPr>
          <a:lstStyle/>
          <a:p>
            <a:pPr algn="ctr"/>
            <a:r>
              <a:rPr lang="en-US" b="1">
                <a:solidFill>
                  <a:schemeClr val="bg1"/>
                </a:solidFill>
                <a:ea typeface="Open Sans" panose="020B0606030504020204" pitchFamily="34" charset="0"/>
                <a:cs typeface="Open Sans" panose="020B0606030504020204" pitchFamily="34" charset="0"/>
              </a:rPr>
              <a:t>SOCIAL MEDIA</a:t>
            </a:r>
            <a:endParaRPr lang="en-US" b="1" dirty="0">
              <a:solidFill>
                <a:schemeClr val="bg1"/>
              </a:solidFill>
              <a:ea typeface="Open Sans" panose="020B0606030504020204" pitchFamily="34" charset="0"/>
              <a:cs typeface="Open Sans" panose="020B0606030504020204" pitchFamily="34" charset="0"/>
            </a:endParaRPr>
          </a:p>
        </p:txBody>
      </p:sp>
      <p:sp>
        <p:nvSpPr>
          <p:cNvPr id="43" name="TextBox 42">
            <a:extLst>
              <a:ext uri="{FF2B5EF4-FFF2-40B4-BE49-F238E27FC236}">
                <a16:creationId xmlns:a16="http://schemas.microsoft.com/office/drawing/2014/main" id="{263E775E-381C-C2C2-84C7-331C6515549F}"/>
              </a:ext>
            </a:extLst>
          </p:cNvPr>
          <p:cNvSpPr txBox="1"/>
          <p:nvPr/>
        </p:nvSpPr>
        <p:spPr>
          <a:xfrm>
            <a:off x="2275320" y="4011889"/>
            <a:ext cx="2166005" cy="830997"/>
          </a:xfrm>
          <a:prstGeom prst="rect">
            <a:avLst/>
          </a:prstGeom>
          <a:noFill/>
        </p:spPr>
        <p:txBody>
          <a:bodyPr wrap="square" rtlCol="0">
            <a:spAutoFit/>
          </a:bodyPr>
          <a:lstStyle/>
          <a:p>
            <a:pPr algn="ctr"/>
            <a:r>
              <a:rPr lang="en-US" sz="1200">
                <a:solidFill>
                  <a:schemeClr val="bg1"/>
                </a:solidFill>
                <a:ea typeface="Open Sans" panose="020B0606030504020204" pitchFamily="34" charset="0"/>
                <a:cs typeface="Open Sans" panose="020B0606030504020204" pitchFamily="34" charset="0"/>
              </a:rPr>
              <a:t>We can create brand awareness and loyalty by posting engaging content and offers about our products and services</a:t>
            </a:r>
            <a:endParaRPr lang="en-US" sz="1200" dirty="0">
              <a:solidFill>
                <a:schemeClr val="bg1"/>
              </a:solidFill>
              <a:ea typeface="Open Sans" panose="020B0606030504020204" pitchFamily="34" charset="0"/>
              <a:cs typeface="Open Sans" panose="020B0606030504020204" pitchFamily="34" charset="0"/>
            </a:endParaRPr>
          </a:p>
        </p:txBody>
      </p:sp>
      <p:sp>
        <p:nvSpPr>
          <p:cNvPr id="45" name="TextBox 44">
            <a:extLst>
              <a:ext uri="{FF2B5EF4-FFF2-40B4-BE49-F238E27FC236}">
                <a16:creationId xmlns:a16="http://schemas.microsoft.com/office/drawing/2014/main" id="{D15C13EB-134E-BD0D-E284-BBADD0E70821}"/>
              </a:ext>
            </a:extLst>
          </p:cNvPr>
          <p:cNvSpPr txBox="1"/>
          <p:nvPr/>
        </p:nvSpPr>
        <p:spPr>
          <a:xfrm>
            <a:off x="2130228" y="2464296"/>
            <a:ext cx="1092213" cy="584775"/>
          </a:xfrm>
          <a:prstGeom prst="rect">
            <a:avLst/>
          </a:prstGeom>
          <a:noFill/>
        </p:spPr>
        <p:txBody>
          <a:bodyPr wrap="square" rtlCol="0">
            <a:spAutoFit/>
          </a:bodyPr>
          <a:lstStyle/>
          <a:p>
            <a:pPr algn="ctr"/>
            <a:r>
              <a:rPr lang="en-US" sz="3200" b="1" dirty="0">
                <a:solidFill>
                  <a:schemeClr val="bg1"/>
                </a:solidFill>
                <a:ea typeface="Open Sans" panose="020B0606030504020204" pitchFamily="34" charset="0"/>
                <a:cs typeface="Open Sans" panose="020B0606030504020204" pitchFamily="34" charset="0"/>
              </a:rPr>
              <a:t>01</a:t>
            </a:r>
          </a:p>
        </p:txBody>
      </p:sp>
      <p:sp>
        <p:nvSpPr>
          <p:cNvPr id="47" name="Right Triangle 46">
            <a:extLst>
              <a:ext uri="{FF2B5EF4-FFF2-40B4-BE49-F238E27FC236}">
                <a16:creationId xmlns:a16="http://schemas.microsoft.com/office/drawing/2014/main" id="{3B097A37-2F76-7E70-0572-5216D8CC9B87}"/>
              </a:ext>
            </a:extLst>
          </p:cNvPr>
          <p:cNvSpPr/>
          <p:nvPr/>
        </p:nvSpPr>
        <p:spPr>
          <a:xfrm flipH="1" flipV="1">
            <a:off x="4727425" y="3052230"/>
            <a:ext cx="295976" cy="148167"/>
          </a:xfrm>
          <a:prstGeom prst="rtTriangle">
            <a:avLst/>
          </a:prstGeom>
          <a:solidFill>
            <a:srgbClr val="004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5A5AD21-DEAE-C9ED-F4DC-229C79AD7CC6}"/>
              </a:ext>
            </a:extLst>
          </p:cNvPr>
          <p:cNvSpPr/>
          <p:nvPr/>
        </p:nvSpPr>
        <p:spPr>
          <a:xfrm>
            <a:off x="5023401" y="2202541"/>
            <a:ext cx="2341371" cy="4240779"/>
          </a:xfrm>
          <a:prstGeom prst="rect">
            <a:avLst/>
          </a:prstGeom>
          <a:gradFill>
            <a:gsLst>
              <a:gs pos="100000">
                <a:srgbClr val="344152"/>
              </a:gs>
              <a:gs pos="55000">
                <a:srgbClr val="15212A"/>
              </a:gs>
              <a:gs pos="32000">
                <a:srgbClr val="09141A"/>
              </a:gs>
            </a:gsLst>
            <a:lin ang="18000000" scaled="0"/>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FAD7701-D7B4-284C-FD1E-1469438DDB4B}"/>
              </a:ext>
            </a:extLst>
          </p:cNvPr>
          <p:cNvSpPr/>
          <p:nvPr/>
        </p:nvSpPr>
        <p:spPr>
          <a:xfrm>
            <a:off x="4727425" y="2463800"/>
            <a:ext cx="1329872" cy="5943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DC66578D-282C-A787-7B2A-9DD3AB5B2F81}"/>
              </a:ext>
            </a:extLst>
          </p:cNvPr>
          <p:cNvSpPr txBox="1"/>
          <p:nvPr/>
        </p:nvSpPr>
        <p:spPr>
          <a:xfrm>
            <a:off x="4934548" y="3289073"/>
            <a:ext cx="2549460" cy="338554"/>
          </a:xfrm>
          <a:prstGeom prst="rect">
            <a:avLst/>
          </a:prstGeom>
          <a:noFill/>
        </p:spPr>
        <p:txBody>
          <a:bodyPr wrap="square" rtlCol="0">
            <a:spAutoFit/>
          </a:bodyPr>
          <a:lstStyle/>
          <a:p>
            <a:pPr algn="ctr"/>
            <a:r>
              <a:rPr lang="en-US" sz="1600" b="1">
                <a:solidFill>
                  <a:schemeClr val="bg1"/>
                </a:solidFill>
                <a:ea typeface="Open Sans" panose="020B0606030504020204" pitchFamily="34" charset="0"/>
                <a:cs typeface="Open Sans" panose="020B0606030504020204" pitchFamily="34" charset="0"/>
              </a:rPr>
              <a:t> WORD-OF-MOUTH</a:t>
            </a:r>
            <a:endParaRPr lang="en-US" sz="1600" b="1" dirty="0">
              <a:solidFill>
                <a:schemeClr val="bg1"/>
              </a:solidFill>
              <a:ea typeface="Open Sans" panose="020B0606030504020204" pitchFamily="34" charset="0"/>
              <a:cs typeface="Open Sans" panose="020B0606030504020204" pitchFamily="34" charset="0"/>
            </a:endParaRPr>
          </a:p>
        </p:txBody>
      </p:sp>
      <p:sp>
        <p:nvSpPr>
          <p:cNvPr id="60" name="TextBox 59">
            <a:extLst>
              <a:ext uri="{FF2B5EF4-FFF2-40B4-BE49-F238E27FC236}">
                <a16:creationId xmlns:a16="http://schemas.microsoft.com/office/drawing/2014/main" id="{CF2A5FB1-9454-BCAD-B19A-075DCDA2F252}"/>
              </a:ext>
            </a:extLst>
          </p:cNvPr>
          <p:cNvSpPr txBox="1"/>
          <p:nvPr/>
        </p:nvSpPr>
        <p:spPr>
          <a:xfrm>
            <a:off x="5135043" y="3844741"/>
            <a:ext cx="2200702" cy="1200329"/>
          </a:xfrm>
          <a:prstGeom prst="rect">
            <a:avLst/>
          </a:prstGeom>
          <a:noFill/>
        </p:spPr>
        <p:txBody>
          <a:bodyPr wrap="square" rtlCol="0">
            <a:spAutoFit/>
          </a:bodyPr>
          <a:lstStyle/>
          <a:p>
            <a:pPr algn="ctr"/>
            <a:r>
              <a:rPr lang="en-US" sz="1200">
                <a:solidFill>
                  <a:schemeClr val="bg1"/>
                </a:solidFill>
                <a:ea typeface="Open Sans" panose="020B0606030504020204" pitchFamily="34" charset="0"/>
                <a:cs typeface="Open Sans" panose="020B0606030504020204" pitchFamily="34" charset="0"/>
              </a:rPr>
              <a:t> Positive word-of-mouth can create buzz and viral effects among our target customers, build trust and reputation, and increase customer retention and loyalty</a:t>
            </a:r>
            <a:endParaRPr lang="en-US" sz="1200" dirty="0">
              <a:solidFill>
                <a:schemeClr val="bg1"/>
              </a:solidFill>
              <a:ea typeface="Open Sans" panose="020B0606030504020204" pitchFamily="34" charset="0"/>
              <a:cs typeface="Open Sans" panose="020B0606030504020204" pitchFamily="34" charset="0"/>
            </a:endParaRPr>
          </a:p>
        </p:txBody>
      </p:sp>
      <p:sp>
        <p:nvSpPr>
          <p:cNvPr id="61" name="TextBox 60">
            <a:extLst>
              <a:ext uri="{FF2B5EF4-FFF2-40B4-BE49-F238E27FC236}">
                <a16:creationId xmlns:a16="http://schemas.microsoft.com/office/drawing/2014/main" id="{E2A408C4-3FFE-6684-4D9A-7C542001D587}"/>
              </a:ext>
            </a:extLst>
          </p:cNvPr>
          <p:cNvSpPr txBox="1"/>
          <p:nvPr/>
        </p:nvSpPr>
        <p:spPr>
          <a:xfrm>
            <a:off x="4950830" y="2464296"/>
            <a:ext cx="1092213" cy="584775"/>
          </a:xfrm>
          <a:prstGeom prst="rect">
            <a:avLst/>
          </a:prstGeom>
          <a:noFill/>
        </p:spPr>
        <p:txBody>
          <a:bodyPr wrap="square" rtlCol="0">
            <a:spAutoFit/>
          </a:bodyPr>
          <a:lstStyle/>
          <a:p>
            <a:pPr algn="ctr"/>
            <a:r>
              <a:rPr lang="en-US" sz="3200" b="1" dirty="0">
                <a:solidFill>
                  <a:schemeClr val="bg1"/>
                </a:solidFill>
                <a:ea typeface="Open Sans" panose="020B0606030504020204" pitchFamily="34" charset="0"/>
                <a:cs typeface="Open Sans" panose="020B0606030504020204" pitchFamily="34" charset="0"/>
              </a:rPr>
              <a:t>02</a:t>
            </a:r>
          </a:p>
        </p:txBody>
      </p:sp>
      <p:sp>
        <p:nvSpPr>
          <p:cNvPr id="62" name="Right Triangle 61">
            <a:extLst>
              <a:ext uri="{FF2B5EF4-FFF2-40B4-BE49-F238E27FC236}">
                <a16:creationId xmlns:a16="http://schemas.microsoft.com/office/drawing/2014/main" id="{4A0488CE-9EF4-EF47-FC7A-7CB0F3F97A35}"/>
              </a:ext>
            </a:extLst>
          </p:cNvPr>
          <p:cNvSpPr/>
          <p:nvPr/>
        </p:nvSpPr>
        <p:spPr>
          <a:xfrm flipH="1" flipV="1">
            <a:off x="7502082" y="3052230"/>
            <a:ext cx="295976" cy="148167"/>
          </a:xfrm>
          <a:prstGeom prst="rtTriangle">
            <a:avLst/>
          </a:prstGeom>
          <a:solidFill>
            <a:srgbClr val="008E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31AC96CC-8DB8-F540-D59B-7C0618690AC6}"/>
              </a:ext>
            </a:extLst>
          </p:cNvPr>
          <p:cNvSpPr/>
          <p:nvPr/>
        </p:nvSpPr>
        <p:spPr>
          <a:xfrm>
            <a:off x="7798058" y="2202541"/>
            <a:ext cx="2341371" cy="4240779"/>
          </a:xfrm>
          <a:prstGeom prst="rect">
            <a:avLst/>
          </a:prstGeom>
          <a:gradFill>
            <a:gsLst>
              <a:gs pos="100000">
                <a:srgbClr val="344152"/>
              </a:gs>
              <a:gs pos="55000">
                <a:srgbClr val="15212A"/>
              </a:gs>
              <a:gs pos="32000">
                <a:srgbClr val="09141A"/>
              </a:gs>
            </a:gsLst>
            <a:lin ang="18000000" scaled="0"/>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38E3C70-8828-38BF-8A80-4C5FE4368528}"/>
              </a:ext>
            </a:extLst>
          </p:cNvPr>
          <p:cNvSpPr/>
          <p:nvPr/>
        </p:nvSpPr>
        <p:spPr>
          <a:xfrm>
            <a:off x="7502082" y="2463800"/>
            <a:ext cx="1329872" cy="59436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F25AFE25-A888-65FA-CB81-E779E32F1753}"/>
              </a:ext>
            </a:extLst>
          </p:cNvPr>
          <p:cNvSpPr txBox="1"/>
          <p:nvPr/>
        </p:nvSpPr>
        <p:spPr>
          <a:xfrm>
            <a:off x="7888485" y="3289073"/>
            <a:ext cx="2232045" cy="338554"/>
          </a:xfrm>
          <a:prstGeom prst="rect">
            <a:avLst/>
          </a:prstGeom>
          <a:noFill/>
        </p:spPr>
        <p:txBody>
          <a:bodyPr wrap="square" rtlCol="0">
            <a:spAutoFit/>
          </a:bodyPr>
          <a:lstStyle/>
          <a:p>
            <a:pPr algn="ctr"/>
            <a:r>
              <a:rPr lang="en-US" sz="1600" b="1">
                <a:solidFill>
                  <a:schemeClr val="bg1"/>
                </a:solidFill>
                <a:ea typeface="Open Sans" panose="020B0606030504020204" pitchFamily="34" charset="0"/>
                <a:cs typeface="Open Sans" panose="020B0606030504020204" pitchFamily="34" charset="0"/>
              </a:rPr>
              <a:t>DIRECT MARKETING</a:t>
            </a:r>
            <a:endParaRPr lang="en-US" sz="1600" b="1" dirty="0">
              <a:solidFill>
                <a:schemeClr val="bg1"/>
              </a:solidFill>
              <a:ea typeface="Open Sans" panose="020B0606030504020204" pitchFamily="34" charset="0"/>
              <a:cs typeface="Open Sans" panose="020B0606030504020204" pitchFamily="34" charset="0"/>
            </a:endParaRPr>
          </a:p>
        </p:txBody>
      </p:sp>
      <p:sp>
        <p:nvSpPr>
          <p:cNvPr id="66" name="TextBox 65">
            <a:extLst>
              <a:ext uri="{FF2B5EF4-FFF2-40B4-BE49-F238E27FC236}">
                <a16:creationId xmlns:a16="http://schemas.microsoft.com/office/drawing/2014/main" id="{C284DDD7-C04E-DCD2-9D3C-D83652384E28}"/>
              </a:ext>
            </a:extLst>
          </p:cNvPr>
          <p:cNvSpPr txBox="1"/>
          <p:nvPr/>
        </p:nvSpPr>
        <p:spPr>
          <a:xfrm>
            <a:off x="7909700" y="4011894"/>
            <a:ext cx="2105761" cy="1200329"/>
          </a:xfrm>
          <a:prstGeom prst="rect">
            <a:avLst/>
          </a:prstGeom>
          <a:noFill/>
        </p:spPr>
        <p:txBody>
          <a:bodyPr wrap="square" rtlCol="0">
            <a:spAutoFit/>
          </a:bodyPr>
          <a:lstStyle/>
          <a:p>
            <a:pPr algn="ctr"/>
            <a:r>
              <a:rPr lang="en-US" sz="1200">
                <a:solidFill>
                  <a:schemeClr val="bg1"/>
                </a:solidFill>
                <a:ea typeface="Open Sans" panose="020B0606030504020204" pitchFamily="34" charset="0"/>
                <a:cs typeface="Open Sans" panose="020B0606030504020204" pitchFamily="34" charset="0"/>
              </a:rPr>
              <a:t>Most straight-forward approach, can engage with customers directly through one-to-one conversations, SMS marketing, catalogs, and coupons</a:t>
            </a:r>
            <a:endParaRPr lang="en-US" sz="1200" dirty="0">
              <a:solidFill>
                <a:schemeClr val="bg1"/>
              </a:solidFill>
              <a:ea typeface="Open Sans" panose="020B0606030504020204" pitchFamily="34" charset="0"/>
              <a:cs typeface="Open Sans" panose="020B0606030504020204" pitchFamily="34" charset="0"/>
            </a:endParaRPr>
          </a:p>
        </p:txBody>
      </p:sp>
      <p:sp>
        <p:nvSpPr>
          <p:cNvPr id="67" name="TextBox 66">
            <a:extLst>
              <a:ext uri="{FF2B5EF4-FFF2-40B4-BE49-F238E27FC236}">
                <a16:creationId xmlns:a16="http://schemas.microsoft.com/office/drawing/2014/main" id="{98F53040-EF3C-8793-FC28-2D82503ADE42}"/>
              </a:ext>
            </a:extLst>
          </p:cNvPr>
          <p:cNvSpPr txBox="1"/>
          <p:nvPr/>
        </p:nvSpPr>
        <p:spPr>
          <a:xfrm>
            <a:off x="7725487" y="2464296"/>
            <a:ext cx="1092213" cy="584775"/>
          </a:xfrm>
          <a:prstGeom prst="rect">
            <a:avLst/>
          </a:prstGeom>
          <a:noFill/>
        </p:spPr>
        <p:txBody>
          <a:bodyPr wrap="square" rtlCol="0">
            <a:spAutoFit/>
          </a:bodyPr>
          <a:lstStyle/>
          <a:p>
            <a:pPr algn="ctr"/>
            <a:r>
              <a:rPr lang="en-US" sz="3200" b="1" dirty="0">
                <a:solidFill>
                  <a:schemeClr val="bg1"/>
                </a:solidFill>
                <a:ea typeface="Open Sans" panose="020B0606030504020204" pitchFamily="34" charset="0"/>
                <a:cs typeface="Open Sans" panose="020B0606030504020204" pitchFamily="34" charset="0"/>
              </a:rPr>
              <a:t>03</a:t>
            </a:r>
          </a:p>
        </p:txBody>
      </p:sp>
      <p:sp>
        <p:nvSpPr>
          <p:cNvPr id="68" name="Right Triangle 67">
            <a:extLst>
              <a:ext uri="{FF2B5EF4-FFF2-40B4-BE49-F238E27FC236}">
                <a16:creationId xmlns:a16="http://schemas.microsoft.com/office/drawing/2014/main" id="{5FF5D773-3A6C-54B2-E0F4-FB9B2A2CE247}"/>
              </a:ext>
            </a:extLst>
          </p:cNvPr>
          <p:cNvSpPr/>
          <p:nvPr/>
        </p:nvSpPr>
        <p:spPr>
          <a:xfrm flipH="1" flipV="1">
            <a:off x="13235186" y="2137830"/>
            <a:ext cx="295976" cy="148167"/>
          </a:xfrm>
          <a:prstGeom prst="rtTriangle">
            <a:avLst/>
          </a:prstGeom>
          <a:solidFill>
            <a:srgbClr val="461E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CCD42A5-AB40-1573-6EC1-CAF1D9B65393}"/>
              </a:ext>
            </a:extLst>
          </p:cNvPr>
          <p:cNvSpPr/>
          <p:nvPr/>
        </p:nvSpPr>
        <p:spPr>
          <a:xfrm>
            <a:off x="13531163" y="1288141"/>
            <a:ext cx="2341371" cy="4240779"/>
          </a:xfrm>
          <a:prstGeom prst="rect">
            <a:avLst/>
          </a:prstGeom>
          <a:gradFill>
            <a:gsLst>
              <a:gs pos="100000">
                <a:srgbClr val="344152"/>
              </a:gs>
              <a:gs pos="55000">
                <a:srgbClr val="15212A"/>
              </a:gs>
              <a:gs pos="32000">
                <a:srgbClr val="09141A"/>
              </a:gs>
            </a:gsLst>
            <a:lin ang="18000000" scaled="0"/>
          </a:gra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2BE35006-1591-C3A6-B01A-9BEE5EECEA2A}"/>
              </a:ext>
            </a:extLst>
          </p:cNvPr>
          <p:cNvSpPr/>
          <p:nvPr/>
        </p:nvSpPr>
        <p:spPr>
          <a:xfrm>
            <a:off x="13235186" y="1549400"/>
            <a:ext cx="1329872" cy="59436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6F5F2125-2E2F-3B87-9CE6-748174272395}"/>
              </a:ext>
            </a:extLst>
          </p:cNvPr>
          <p:cNvSpPr txBox="1"/>
          <p:nvPr/>
        </p:nvSpPr>
        <p:spPr>
          <a:xfrm>
            <a:off x="13535770" y="2374673"/>
            <a:ext cx="2341371" cy="338554"/>
          </a:xfrm>
          <a:prstGeom prst="rect">
            <a:avLst/>
          </a:prstGeom>
          <a:noFill/>
        </p:spPr>
        <p:txBody>
          <a:bodyPr wrap="square" rtlCol="0">
            <a:spAutoFit/>
          </a:bodyPr>
          <a:lstStyle/>
          <a:p>
            <a:pPr algn="ctr"/>
            <a:r>
              <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rPr>
              <a:t>PERSONALIZATION</a:t>
            </a:r>
            <a:endPar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2" name="TextBox 71">
            <a:extLst>
              <a:ext uri="{FF2B5EF4-FFF2-40B4-BE49-F238E27FC236}">
                <a16:creationId xmlns:a16="http://schemas.microsoft.com/office/drawing/2014/main" id="{2E6027C8-8876-3D38-3869-8A0978B02DAE}"/>
              </a:ext>
            </a:extLst>
          </p:cNvPr>
          <p:cNvSpPr txBox="1"/>
          <p:nvPr/>
        </p:nvSpPr>
        <p:spPr>
          <a:xfrm>
            <a:off x="13642804" y="3099131"/>
            <a:ext cx="2105761" cy="577081"/>
          </a:xfrm>
          <a:prstGeom prst="rect">
            <a:avLst/>
          </a:prstGeom>
          <a:noFill/>
        </p:spPr>
        <p:txBody>
          <a:bodyPr wrap="square" rtlCol="0">
            <a:spAutoFit/>
          </a:bodyPr>
          <a:lstStyle/>
          <a:p>
            <a:pPr algn="ctr"/>
            <a:r>
              <a:rPr lang="en-US" sz="1050">
                <a:solidFill>
                  <a:schemeClr val="bg1"/>
                </a:solidFill>
                <a:latin typeface="Open Sans" panose="020B0606030504020204" pitchFamily="34" charset="0"/>
                <a:ea typeface="Open Sans" panose="020B0606030504020204" pitchFamily="34" charset="0"/>
                <a:cs typeface="Open Sans" panose="020B0606030504020204" pitchFamily="34" charset="0"/>
              </a:rPr>
              <a:t>They offer to personalize their items for those who are choosy customers.</a:t>
            </a:r>
            <a:endParaRPr lang="en-US"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3" name="TextBox 72">
            <a:extLst>
              <a:ext uri="{FF2B5EF4-FFF2-40B4-BE49-F238E27FC236}">
                <a16:creationId xmlns:a16="http://schemas.microsoft.com/office/drawing/2014/main" id="{F61A44DD-1BD6-2BA8-A334-A95D21E5B059}"/>
              </a:ext>
            </a:extLst>
          </p:cNvPr>
          <p:cNvSpPr txBox="1"/>
          <p:nvPr/>
        </p:nvSpPr>
        <p:spPr>
          <a:xfrm>
            <a:off x="13458591" y="1549896"/>
            <a:ext cx="1092213" cy="584775"/>
          </a:xfrm>
          <a:prstGeom prst="rect">
            <a:avLst/>
          </a:prstGeom>
          <a:noFill/>
        </p:spPr>
        <p:txBody>
          <a:bodyPr wrap="square" rtlCol="0">
            <a:spAutoFit/>
          </a:bodyPr>
          <a:lstStyle/>
          <a:p>
            <a:pPr algn="ctr"/>
            <a:r>
              <a:rPr lang="en-US" sz="32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04</a:t>
            </a:r>
          </a:p>
        </p:txBody>
      </p:sp>
      <p:sp>
        <p:nvSpPr>
          <p:cNvPr id="78" name="Rectangle 77">
            <a:extLst>
              <a:ext uri="{FF2B5EF4-FFF2-40B4-BE49-F238E27FC236}">
                <a16:creationId xmlns:a16="http://schemas.microsoft.com/office/drawing/2014/main" id="{B2B64BB8-02D7-C908-FEDB-AD1ABFFDCA42}"/>
              </a:ext>
            </a:extLst>
          </p:cNvPr>
          <p:cNvSpPr/>
          <p:nvPr/>
        </p:nvSpPr>
        <p:spPr>
          <a:xfrm>
            <a:off x="2211298" y="6338402"/>
            <a:ext cx="2320544" cy="850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B2516AAC-693D-F90E-28F8-5B6E1783BFBE}"/>
              </a:ext>
            </a:extLst>
          </p:cNvPr>
          <p:cNvSpPr/>
          <p:nvPr/>
        </p:nvSpPr>
        <p:spPr>
          <a:xfrm>
            <a:off x="5038923" y="6334147"/>
            <a:ext cx="2320544" cy="8507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88281B44-9FF0-81FE-8C8F-B4E86D008095}"/>
              </a:ext>
            </a:extLst>
          </p:cNvPr>
          <p:cNvSpPr/>
          <p:nvPr/>
        </p:nvSpPr>
        <p:spPr>
          <a:xfrm>
            <a:off x="7808471" y="6335237"/>
            <a:ext cx="2320544" cy="8507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a:extLst>
              <a:ext uri="{FF2B5EF4-FFF2-40B4-BE49-F238E27FC236}">
                <a16:creationId xmlns:a16="http://schemas.microsoft.com/office/drawing/2014/main" id="{4BE5AC78-CF7B-EB2E-C75A-62ADDEB2E5AB}"/>
              </a:ext>
            </a:extLst>
          </p:cNvPr>
          <p:cNvSpPr/>
          <p:nvPr/>
        </p:nvSpPr>
        <p:spPr>
          <a:xfrm>
            <a:off x="13546824" y="5419747"/>
            <a:ext cx="2320544" cy="85076"/>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2" name="Straight Connector 81">
            <a:extLst>
              <a:ext uri="{FF2B5EF4-FFF2-40B4-BE49-F238E27FC236}">
                <a16:creationId xmlns:a16="http://schemas.microsoft.com/office/drawing/2014/main" id="{145A3A64-291C-B9EA-4AA4-D12D86B17A9C}"/>
              </a:ext>
            </a:extLst>
          </p:cNvPr>
          <p:cNvCxnSpPr>
            <a:cxnSpLocks/>
          </p:cNvCxnSpPr>
          <p:nvPr/>
        </p:nvCxnSpPr>
        <p:spPr>
          <a:xfrm rot="16200000">
            <a:off x="4183077" y="4489306"/>
            <a:ext cx="120074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951EBC6-A6D7-680B-6484-13263195E231}"/>
              </a:ext>
            </a:extLst>
          </p:cNvPr>
          <p:cNvCxnSpPr>
            <a:cxnSpLocks/>
          </p:cNvCxnSpPr>
          <p:nvPr/>
        </p:nvCxnSpPr>
        <p:spPr>
          <a:xfrm rot="16200000">
            <a:off x="6971006" y="4487555"/>
            <a:ext cx="120074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1204BB3-6AA9-3E02-D985-DA48F25BB9C7}"/>
              </a:ext>
            </a:extLst>
          </p:cNvPr>
          <p:cNvCxnSpPr>
            <a:cxnSpLocks/>
          </p:cNvCxnSpPr>
          <p:nvPr/>
        </p:nvCxnSpPr>
        <p:spPr>
          <a:xfrm rot="16200000">
            <a:off x="12683013" y="3556587"/>
            <a:ext cx="120074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DC4C0D4-EE87-3105-553C-7728E4B6A702}"/>
              </a:ext>
            </a:extLst>
          </p:cNvPr>
          <p:cNvSpPr txBox="1"/>
          <p:nvPr/>
        </p:nvSpPr>
        <p:spPr>
          <a:xfrm>
            <a:off x="3773890" y="857710"/>
            <a:ext cx="3735574" cy="646331"/>
          </a:xfrm>
          <a:prstGeom prst="rect">
            <a:avLst/>
          </a:prstGeom>
          <a:noFill/>
          <a:effectLst/>
        </p:spPr>
        <p:txBody>
          <a:bodyPr wrap="none" rtlCol="0">
            <a:spAutoFit/>
          </a:bodyPr>
          <a:lstStyle/>
          <a:p>
            <a:r>
              <a:rPr lang="en-US" sz="3600"/>
              <a:t>Marketing Channel</a:t>
            </a:r>
            <a:endParaRPr lang="en-US" sz="3600" dirty="0"/>
          </a:p>
        </p:txBody>
      </p:sp>
    </p:spTree>
    <p:extLst>
      <p:ext uri="{BB962C8B-B14F-4D97-AF65-F5344CB8AC3E}">
        <p14:creationId xmlns:p14="http://schemas.microsoft.com/office/powerpoint/2010/main" val="604810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E282B8-D507-4D10-FB98-240CB710C6DC}"/>
              </a:ext>
            </a:extLst>
          </p:cNvPr>
          <p:cNvSpPr txBox="1"/>
          <p:nvPr/>
        </p:nvSpPr>
        <p:spPr>
          <a:xfrm>
            <a:off x="247574" y="552607"/>
            <a:ext cx="2517741" cy="646331"/>
          </a:xfrm>
          <a:prstGeom prst="rect">
            <a:avLst/>
          </a:prstGeom>
          <a:noFill/>
          <a:effectLst/>
        </p:spPr>
        <p:txBody>
          <a:bodyPr wrap="none" rtlCol="0">
            <a:spAutoFit/>
          </a:bodyPr>
          <a:lstStyle/>
          <a:p>
            <a:r>
              <a:rPr lang="en-US" sz="3600"/>
              <a:t>Competition</a:t>
            </a:r>
            <a:endParaRPr lang="en-US" sz="3600" dirty="0"/>
          </a:p>
        </p:txBody>
      </p:sp>
      <p:sp>
        <p:nvSpPr>
          <p:cNvPr id="6" name="TextBox 5">
            <a:extLst>
              <a:ext uri="{FF2B5EF4-FFF2-40B4-BE49-F238E27FC236}">
                <a16:creationId xmlns:a16="http://schemas.microsoft.com/office/drawing/2014/main" id="{FCD5837F-2AEC-395E-6FEA-97E3FCB54801}"/>
              </a:ext>
            </a:extLst>
          </p:cNvPr>
          <p:cNvSpPr txBox="1"/>
          <p:nvPr/>
        </p:nvSpPr>
        <p:spPr>
          <a:xfrm>
            <a:off x="7851106" y="613464"/>
            <a:ext cx="3243067" cy="646331"/>
          </a:xfrm>
          <a:prstGeom prst="rect">
            <a:avLst/>
          </a:prstGeom>
          <a:noFill/>
          <a:effectLst/>
        </p:spPr>
        <p:txBody>
          <a:bodyPr wrap="none" rtlCol="0">
            <a:spAutoFit/>
          </a:bodyPr>
          <a:lstStyle/>
          <a:p>
            <a:r>
              <a:rPr lang="en-US" sz="3600"/>
              <a:t>Past Promotions</a:t>
            </a:r>
            <a:endParaRPr lang="en-US" sz="3600" dirty="0"/>
          </a:p>
        </p:txBody>
      </p:sp>
      <p:sp>
        <p:nvSpPr>
          <p:cNvPr id="7" name="TextBox 6">
            <a:extLst>
              <a:ext uri="{FF2B5EF4-FFF2-40B4-BE49-F238E27FC236}">
                <a16:creationId xmlns:a16="http://schemas.microsoft.com/office/drawing/2014/main" id="{4CFFB435-1579-D37B-3D96-3E397F056A74}"/>
              </a:ext>
            </a:extLst>
          </p:cNvPr>
          <p:cNvSpPr txBox="1"/>
          <p:nvPr/>
        </p:nvSpPr>
        <p:spPr>
          <a:xfrm>
            <a:off x="307412" y="5058465"/>
            <a:ext cx="5369485" cy="1200329"/>
          </a:xfrm>
          <a:prstGeom prst="rect">
            <a:avLst/>
          </a:prstGeom>
          <a:noFill/>
          <a:effectLst/>
        </p:spPr>
        <p:txBody>
          <a:bodyPr wrap="square" rtlCol="0">
            <a:spAutoFit/>
          </a:bodyPr>
          <a:lstStyle/>
          <a:p>
            <a:r>
              <a:rPr lang="en-US" sz="2400"/>
              <a:t>Competitors usually use the same channels to promote different products, as it is the most effective for this market</a:t>
            </a:r>
            <a:endParaRPr lang="en-US" sz="2400" dirty="0"/>
          </a:p>
        </p:txBody>
      </p:sp>
      <p:sp>
        <p:nvSpPr>
          <p:cNvPr id="8" name="TextBox 7">
            <a:extLst>
              <a:ext uri="{FF2B5EF4-FFF2-40B4-BE49-F238E27FC236}">
                <a16:creationId xmlns:a16="http://schemas.microsoft.com/office/drawing/2014/main" id="{98A1849A-52B8-DB87-E8C1-E1361F72C826}"/>
              </a:ext>
            </a:extLst>
          </p:cNvPr>
          <p:cNvSpPr txBox="1"/>
          <p:nvPr/>
        </p:nvSpPr>
        <p:spPr>
          <a:xfrm>
            <a:off x="6858009" y="5090206"/>
            <a:ext cx="5057810" cy="1200329"/>
          </a:xfrm>
          <a:prstGeom prst="rect">
            <a:avLst/>
          </a:prstGeom>
          <a:noFill/>
          <a:effectLst/>
        </p:spPr>
        <p:txBody>
          <a:bodyPr wrap="square" rtlCol="0">
            <a:spAutoFit/>
          </a:bodyPr>
          <a:lstStyle/>
          <a:p>
            <a:pPr algn="r"/>
            <a:r>
              <a:rPr lang="en-US" sz="2400"/>
              <a:t>The same marketing channels have also worked for us to promote our products.</a:t>
            </a:r>
            <a:endParaRPr lang="en-US" sz="2400" dirty="0"/>
          </a:p>
        </p:txBody>
      </p:sp>
      <p:pic>
        <p:nvPicPr>
          <p:cNvPr id="14" name="Picture 13" descr="A picture containing graphic design, graphics, art, child art&#10;&#10;Description automatically generated">
            <a:extLst>
              <a:ext uri="{FF2B5EF4-FFF2-40B4-BE49-F238E27FC236}">
                <a16:creationId xmlns:a16="http://schemas.microsoft.com/office/drawing/2014/main" id="{D480B1B7-E0FD-638E-EF53-2A5C7B672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6265" y="1726577"/>
            <a:ext cx="3213722" cy="3213722"/>
          </a:xfrm>
          <a:prstGeom prst="rect">
            <a:avLst/>
          </a:prstGeom>
        </p:spPr>
      </p:pic>
      <p:pic>
        <p:nvPicPr>
          <p:cNvPr id="16" name="Picture 15" descr="A person holding shopping bags&#10;&#10;Description automatically generated with low confidence">
            <a:extLst>
              <a:ext uri="{FF2B5EF4-FFF2-40B4-BE49-F238E27FC236}">
                <a16:creationId xmlns:a16="http://schemas.microsoft.com/office/drawing/2014/main" id="{CA1D6178-DD19-071E-62D5-A55311DD490A}"/>
              </a:ext>
            </a:extLst>
          </p:cNvPr>
          <p:cNvPicPr>
            <a:picLocks noChangeAspect="1"/>
          </p:cNvPicPr>
          <p:nvPr/>
        </p:nvPicPr>
        <p:blipFill rotWithShape="1">
          <a:blip r:embed="rId3">
            <a:extLst>
              <a:ext uri="{28A0092B-C50C-407E-A947-70E740481C1C}">
                <a14:useLocalDpi xmlns:a14="http://schemas.microsoft.com/office/drawing/2010/main" val="0"/>
              </a:ext>
            </a:extLst>
          </a:blip>
          <a:srcRect t="12413" b="12220"/>
          <a:stretch/>
        </p:blipFill>
        <p:spPr>
          <a:xfrm>
            <a:off x="383612" y="2047020"/>
            <a:ext cx="3413688" cy="2572835"/>
          </a:xfrm>
          <a:prstGeom prst="rect">
            <a:avLst/>
          </a:prstGeom>
        </p:spPr>
      </p:pic>
      <p:cxnSp>
        <p:nvCxnSpPr>
          <p:cNvPr id="2" name="Straight Connector 1">
            <a:extLst>
              <a:ext uri="{FF2B5EF4-FFF2-40B4-BE49-F238E27FC236}">
                <a16:creationId xmlns:a16="http://schemas.microsoft.com/office/drawing/2014/main" id="{E5B5543C-D158-4D8D-B5B8-3C4F78AC2DF5}"/>
              </a:ext>
            </a:extLst>
          </p:cNvPr>
          <p:cNvCxnSpPr>
            <a:cxnSpLocks/>
          </p:cNvCxnSpPr>
          <p:nvPr/>
        </p:nvCxnSpPr>
        <p:spPr>
          <a:xfrm flipV="1">
            <a:off x="5775097" y="1259795"/>
            <a:ext cx="0" cy="48596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802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B0C2E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2070DA-661F-4925-8A90-D2B8106242D7}"/>
              </a:ext>
            </a:extLst>
          </p:cNvPr>
          <p:cNvSpPr txBox="1"/>
          <p:nvPr/>
        </p:nvSpPr>
        <p:spPr>
          <a:xfrm>
            <a:off x="5181599" y="755737"/>
            <a:ext cx="2281825" cy="646331"/>
          </a:xfrm>
          <a:prstGeom prst="rect">
            <a:avLst/>
          </a:prstGeom>
          <a:noFill/>
        </p:spPr>
        <p:txBody>
          <a:bodyPr wrap="square" rtlCol="0">
            <a:spAutoFit/>
          </a:bodyPr>
          <a:lstStyle/>
          <a:p>
            <a:pPr algn="ctr"/>
            <a:r>
              <a:rPr lang="en-US" sz="3600" dirty="0"/>
              <a:t>Conclusion</a:t>
            </a:r>
          </a:p>
        </p:txBody>
      </p:sp>
      <p:sp>
        <p:nvSpPr>
          <p:cNvPr id="3" name="TextBox 2">
            <a:extLst>
              <a:ext uri="{FF2B5EF4-FFF2-40B4-BE49-F238E27FC236}">
                <a16:creationId xmlns:a16="http://schemas.microsoft.com/office/drawing/2014/main" id="{DE8C93DC-A902-4927-9809-842F22C84C9C}"/>
              </a:ext>
            </a:extLst>
          </p:cNvPr>
          <p:cNvSpPr txBox="1"/>
          <p:nvPr/>
        </p:nvSpPr>
        <p:spPr>
          <a:xfrm>
            <a:off x="829587" y="2274838"/>
            <a:ext cx="8704023" cy="2308324"/>
          </a:xfrm>
          <a:prstGeom prst="rect">
            <a:avLst/>
          </a:prstGeom>
          <a:noFill/>
        </p:spPr>
        <p:txBody>
          <a:bodyPr wrap="square" rtlCol="0">
            <a:spAutoFit/>
          </a:bodyPr>
          <a:lstStyle/>
          <a:p>
            <a:pPr algn="l"/>
            <a:r>
              <a:rPr lang="en-US" sz="2400" dirty="0"/>
              <a:t>“PayLater” by Aarong Taaga is an innovative approach in the apparel market, which is sure to attract interests from its target customers. By providing the ability to exercise financial flexibility and freedom from its burdens, “PayLater” will surely help Taaga to create a wide base of loyal customers. If positioned correctly, “PayLater” can be the most popular method of transaction for Taaga.</a:t>
            </a:r>
          </a:p>
        </p:txBody>
      </p:sp>
      <p:cxnSp>
        <p:nvCxnSpPr>
          <p:cNvPr id="5" name="Straight Connector 4">
            <a:extLst>
              <a:ext uri="{FF2B5EF4-FFF2-40B4-BE49-F238E27FC236}">
                <a16:creationId xmlns:a16="http://schemas.microsoft.com/office/drawing/2014/main" id="{C1F1A1F5-C566-45FE-8396-59C77B59E9B2}"/>
              </a:ext>
            </a:extLst>
          </p:cNvPr>
          <p:cNvCxnSpPr>
            <a:cxnSpLocks/>
          </p:cNvCxnSpPr>
          <p:nvPr/>
        </p:nvCxnSpPr>
        <p:spPr>
          <a:xfrm flipH="1">
            <a:off x="2035281" y="6499598"/>
            <a:ext cx="857445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87791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TotalTime>
  <Words>1054</Words>
  <Application>Microsoft Office PowerPoint</Application>
  <PresentationFormat>Widescreen</PresentationFormat>
  <Paragraphs>188</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Qfm Waahi</dc:creator>
  <cp:lastModifiedBy>Amit Hossain</cp:lastModifiedBy>
  <cp:revision>46</cp:revision>
  <dcterms:created xsi:type="dcterms:W3CDTF">2023-05-28T09:03:37Z</dcterms:created>
  <dcterms:modified xsi:type="dcterms:W3CDTF">2023-06-09T09:36:32Z</dcterms:modified>
</cp:coreProperties>
</file>